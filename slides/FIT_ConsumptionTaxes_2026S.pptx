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95" r:id="rId2"/>
    <p:sldId id="256" r:id="rId3"/>
    <p:sldId id="296" r:id="rId4"/>
    <p:sldId id="297" r:id="rId5"/>
    <p:sldId id="298" r:id="rId6"/>
    <p:sldId id="299" r:id="rId7"/>
    <p:sldId id="300" r:id="rId8"/>
    <p:sldId id="301" r:id="rId9"/>
    <p:sldId id="303" r:id="rId10"/>
    <p:sldId id="304" r:id="rId11"/>
    <p:sldId id="305" r:id="rId12"/>
    <p:sldId id="306" r:id="rId13"/>
    <p:sldId id="310" r:id="rId14"/>
    <p:sldId id="307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96188"/>
  </p:normalViewPr>
  <p:slideViewPr>
    <p:cSldViewPr snapToGrid="0" snapToObjects="1">
      <p:cViewPr varScale="1">
        <p:scale>
          <a:sx n="100" d="100"/>
          <a:sy n="100" d="100"/>
        </p:scale>
        <p:origin x="176" y="2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addSld modSld">
      <pc:chgData name="Colon, Jeffrey M." userId="615143b1-cdee-493d-9a9d-1565ce8666d9" providerId="ADAL" clId="{DC1DB158-BAB1-5930-B714-AEF472873853}" dt="2026-08-31T14:06:27.593" v="2007" actId="20577"/>
      <pc:docMkLst>
        <pc:docMk/>
      </pc:docMkLst>
      <pc:sldChg chg="modSp mod">
        <pc:chgData name="Colon, Jeffrey M." userId="615143b1-cdee-493d-9a9d-1565ce8666d9" providerId="ADAL" clId="{DC1DB158-BAB1-5930-B714-AEF472873853}" dt="2026-08-31T14:06:27.593" v="2007" actId="20577"/>
        <pc:sldMkLst>
          <pc:docMk/>
          <pc:sldMk cId="123558849" sldId="295"/>
        </pc:sldMkLst>
        <pc:spChg chg="mod">
          <ac:chgData name="Colon, Jeffrey M." userId="615143b1-cdee-493d-9a9d-1565ce8666d9" providerId="ADAL" clId="{DC1DB158-BAB1-5930-B714-AEF472873853}" dt="2026-08-31T14:06:27.593" v="2007" actId="20577"/>
          <ac:spMkLst>
            <pc:docMk/>
            <pc:sldMk cId="123558849" sldId="29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Introduction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Consumption Taxes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FIT_ConsumptionTaxes_2026S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Consumption Taxes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/>
              <a:t>Fall </a:t>
            </a:r>
            <a:r>
              <a:rPr lang="en-US" sz="2100" b="1" dirty="0"/>
              <a:t>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SHS:</a:t>
            </a:r>
          </a:p>
          <a:p>
            <a:pPr lvl="1"/>
            <a:r>
              <a:rPr lang="en-US" dirty="0"/>
              <a:t>Increases in wealth minus decreases in wealth, but not if decreases represent personal consumption.</a:t>
            </a:r>
          </a:p>
          <a:p>
            <a:pPr lvl="1" algn="l"/>
            <a:r>
              <a:rPr lang="en-US" dirty="0"/>
              <a:t>Since neither personal consumption nor savings are deductible, they are included in the tax base. 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Consumption tax base:</a:t>
            </a:r>
          </a:p>
          <a:p>
            <a:pPr lvl="1"/>
            <a:r>
              <a:rPr lang="en-US" dirty="0"/>
              <a:t>Personal consumption (perhaps with an exclusion for subsistence consumption)</a:t>
            </a:r>
          </a:p>
          <a:p>
            <a:pPr lvl="1"/>
            <a:r>
              <a:rPr lang="en-US" dirty="0"/>
              <a:t>Savings are excluded</a:t>
            </a:r>
            <a:endParaRPr lang="en-US" dirty="0">
              <a:latin typeface="+mn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Taxes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CF7F4E-94E2-DC36-EF6E-8855DDDB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U.S. largely relied on consumption taxes to fund the government before the enactment of the 16</a:t>
            </a:r>
            <a:r>
              <a:rPr lang="en-US" baseline="30000" dirty="0"/>
              <a:t>th</a:t>
            </a:r>
            <a:r>
              <a:rPr lang="en-US" dirty="0"/>
              <a:t> Amendment in 1913, and many political candidates have argued for replacing (or </a:t>
            </a:r>
            <a:r>
              <a:rPr lang="en-US" b="1" dirty="0"/>
              <a:t>adding onto</a:t>
            </a:r>
            <a:r>
              <a:rPr lang="en-US" dirty="0"/>
              <a:t>) the current income tax with a consumption tax.</a:t>
            </a:r>
          </a:p>
          <a:p>
            <a:r>
              <a:rPr lang="en-US" b="1" dirty="0">
                <a:solidFill>
                  <a:srgbClr val="FF0000"/>
                </a:solidFill>
              </a:rPr>
              <a:t>The current U.S. tax system is best viewed as a </a:t>
            </a:r>
            <a:r>
              <a:rPr lang="en-US" b="1" i="1" dirty="0">
                <a:solidFill>
                  <a:srgbClr val="FF0000"/>
                </a:solidFill>
              </a:rPr>
              <a:t>hybrid</a:t>
            </a:r>
            <a:r>
              <a:rPr lang="en-US" b="1" dirty="0">
                <a:solidFill>
                  <a:srgbClr val="FF0000"/>
                </a:solidFill>
              </a:rPr>
              <a:t> of an income tax system and a consumption tax system.</a:t>
            </a:r>
          </a:p>
          <a:p>
            <a:r>
              <a:rPr lang="en-US" dirty="0"/>
              <a:t>Help to better understand the serious challenge of </a:t>
            </a:r>
            <a:r>
              <a:rPr lang="en-US" b="1" i="1" dirty="0"/>
              <a:t>tax arbitrage</a:t>
            </a:r>
          </a:p>
          <a:p>
            <a:pPr lvl="1"/>
            <a:r>
              <a:rPr lang="en-US" dirty="0"/>
              <a:t>Applying the rules of one system (income tax) against the rules of another system (consumption tax)</a:t>
            </a:r>
          </a:p>
          <a:p>
            <a:pPr lvl="1"/>
            <a:r>
              <a:rPr lang="en-US" dirty="0"/>
              <a:t>Taxpayer can potentially obtain a better result than if either system applied separately</a:t>
            </a:r>
          </a:p>
          <a:p>
            <a:pPr lvl="1"/>
            <a:r>
              <a:rPr lang="en-US" dirty="0"/>
              <a:t>Example:  purchasing an investment under consumption tax rules (investment made with pre-tax dollars or return is excludable) with borrowed money and deducting the interest on the debt.</a:t>
            </a:r>
          </a:p>
          <a:p>
            <a:pPr lvl="2"/>
            <a:r>
              <a:rPr lang="en-US" dirty="0"/>
              <a:t>Result:  Double tax benefit for the same dollars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CB5B6B-D369-D1D0-10FC-2BA32635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Consumption Taxes?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BF6CA-6F8E-AD6B-5969-F8BE49942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579CA-1C5E-9E95-D98A-3088320F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8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97C4B-7B11-9125-0ED5-AE5DC3D5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Purchases of consumer goods (and sometimes services) subject to flat rate</a:t>
            </a:r>
          </a:p>
          <a:p>
            <a:pPr lvl="1"/>
            <a:r>
              <a:rPr lang="en-US" dirty="0"/>
              <a:t>Imposed at final retail sale to customer for personal consumption</a:t>
            </a:r>
          </a:p>
          <a:p>
            <a:pPr lvl="1"/>
            <a:r>
              <a:rPr lang="en-US" dirty="0"/>
              <a:t>Excludes business purchases and purchases of investment property</a:t>
            </a:r>
          </a:p>
          <a:p>
            <a:pPr lvl="1"/>
            <a:r>
              <a:rPr lang="en-US" dirty="0"/>
              <a:t>NJ: 6.625%; NY: 8.532%</a:t>
            </a:r>
          </a:p>
          <a:p>
            <a:pPr lvl="1"/>
            <a:r>
              <a:rPr lang="en-US" dirty="0"/>
              <a:t>To preserve </a:t>
            </a:r>
            <a:r>
              <a:rPr lang="en-US" i="1" dirty="0"/>
              <a:t>some</a:t>
            </a:r>
            <a:r>
              <a:rPr lang="en-US" dirty="0"/>
              <a:t> progressivity, certain purchases are exempt, </a:t>
            </a:r>
            <a:r>
              <a:rPr lang="en-US" i="1" dirty="0"/>
              <a:t>e.g</a:t>
            </a:r>
            <a:r>
              <a:rPr lang="en-US" dirty="0"/>
              <a:t>., food in NJ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 Maria buys a car for $30,000.  NJ imposes a sales tax of 6.625%.  The final price paid is $31,988.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FF334B-FC11-71C7-3CE0-C144B1BA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Sales Tax (RST)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DD4B4-2D6C-7101-559D-D35491B08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8284A-C403-5C26-5CDF-3EED37F1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0F389F-0CAB-BD40-0960-D91F882FB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646530"/>
              </p:ext>
            </p:extLst>
          </p:nvPr>
        </p:nvGraphicFramePr>
        <p:xfrm>
          <a:off x="3489364" y="3876444"/>
          <a:ext cx="6032500" cy="19096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4446">
                  <a:extLst>
                    <a:ext uri="{9D8B030D-6E8A-4147-A177-3AD203B41FA5}">
                      <a16:colId xmlns:a16="http://schemas.microsoft.com/office/drawing/2014/main" val="3809692368"/>
                    </a:ext>
                  </a:extLst>
                </a:gridCol>
                <a:gridCol w="2360136">
                  <a:extLst>
                    <a:ext uri="{9D8B030D-6E8A-4147-A177-3AD203B41FA5}">
                      <a16:colId xmlns:a16="http://schemas.microsoft.com/office/drawing/2014/main" val="1290123667"/>
                    </a:ext>
                  </a:extLst>
                </a:gridCol>
                <a:gridCol w="1627918">
                  <a:extLst>
                    <a:ext uri="{9D8B030D-6E8A-4147-A177-3AD203B41FA5}">
                      <a16:colId xmlns:a16="http://schemas.microsoft.com/office/drawing/2014/main" val="1029926155"/>
                    </a:ext>
                  </a:extLst>
                </a:gridCol>
              </a:tblGrid>
              <a:tr h="27039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650154"/>
                  </a:ext>
                </a:extLst>
              </a:tr>
              <a:tr h="540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Car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$30,000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799666"/>
                  </a:ext>
                </a:extLst>
              </a:tr>
              <a:tr h="5576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sng" strike="noStrike" dirty="0">
                          <a:effectLst/>
                        </a:rPr>
                        <a:t>Sales Tax</a:t>
                      </a:r>
                      <a:endParaRPr lang="en-US" sz="2600" b="1" i="0" u="sng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sng" strike="noStrike" dirty="0">
                          <a:effectLst/>
                        </a:rPr>
                        <a:t>$1,988</a:t>
                      </a:r>
                      <a:endParaRPr lang="en-US" sz="2600" b="1" i="0" u="sng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u="none" strike="noStrike" dirty="0">
                          <a:effectLst/>
                        </a:rPr>
                        <a:t>@6.625%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9947"/>
                  </a:ext>
                </a:extLst>
              </a:tr>
              <a:tr h="540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Total Price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$31,988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705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39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73C4AC-E815-460A-92ED-0A40009F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Tax collected on the </a:t>
            </a:r>
            <a:r>
              <a:rPr lang="en-US" sz="2800" i="1" dirty="0"/>
              <a:t>value added</a:t>
            </a:r>
            <a:r>
              <a:rPr lang="en-US" sz="2800" dirty="0"/>
              <a:t> at each stage of manufacturing and selling process.</a:t>
            </a:r>
          </a:p>
          <a:p>
            <a:r>
              <a:rPr lang="en-US" sz="2800" dirty="0"/>
              <a:t>To get credit for a VAT imposed on purchases, a seller must collect/remit a VAT on its own sales.</a:t>
            </a:r>
          </a:p>
          <a:p>
            <a:r>
              <a:rPr lang="en-US" sz="2800" dirty="0"/>
              <a:t>Example: Assume a VAT of 10%.  </a:t>
            </a:r>
          </a:p>
          <a:p>
            <a:pPr lvl="1"/>
            <a:r>
              <a:rPr lang="en-US" sz="2800" dirty="0"/>
              <a:t>A logging company sells wood to a paper manufacturer for $200.  </a:t>
            </a:r>
          </a:p>
          <a:p>
            <a:pPr lvl="1"/>
            <a:r>
              <a:rPr lang="en-US" sz="2800" dirty="0"/>
              <a:t>The paper manufacturer sells it to a printing company for $500.  </a:t>
            </a:r>
          </a:p>
          <a:p>
            <a:pPr lvl="1"/>
            <a:r>
              <a:rPr lang="en-US" sz="2800" dirty="0"/>
              <a:t>The printing company prints books and sells them to a publisher for $1,000.</a:t>
            </a:r>
          </a:p>
          <a:p>
            <a:pPr lvl="1"/>
            <a:r>
              <a:rPr lang="en-US" sz="2800" dirty="0"/>
              <a:t>The publisher sells them to a retailer for $2,000.</a:t>
            </a:r>
          </a:p>
          <a:p>
            <a:pPr lvl="1"/>
            <a:r>
              <a:rPr lang="en-US" sz="2800" dirty="0"/>
              <a:t>The retailer sells the books for $3,000.</a:t>
            </a:r>
          </a:p>
          <a:p>
            <a:r>
              <a:rPr lang="en-US" sz="2800" dirty="0"/>
              <a:t>At each step, a VAT of 10% is imposed on the seller, who, in turn, can deduct any VAT it paid the purchase of its inputs.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DC7C8-E6DF-6761-C372-3C9B0DCC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Added Tax (VAT)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9F89-E924-A0B3-80E9-494F1616C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7AA7B-2309-D8AA-6904-70AD520C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3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BBCB67D-2F89-A705-68DC-59D4C8DC5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861220"/>
              </p:ext>
            </p:extLst>
          </p:nvPr>
        </p:nvGraphicFramePr>
        <p:xfrm>
          <a:off x="512065" y="945641"/>
          <a:ext cx="11277602" cy="3901440"/>
        </p:xfrm>
        <a:graphic>
          <a:graphicData uri="http://schemas.openxmlformats.org/drawingml/2006/table">
            <a:tbl>
              <a:tblPr/>
              <a:tblGrid>
                <a:gridCol w="1953549">
                  <a:extLst>
                    <a:ext uri="{9D8B030D-6E8A-4147-A177-3AD203B41FA5}">
                      <a16:colId xmlns:a16="http://schemas.microsoft.com/office/drawing/2014/main" val="2406399900"/>
                    </a:ext>
                  </a:extLst>
                </a:gridCol>
                <a:gridCol w="1268623">
                  <a:extLst>
                    <a:ext uri="{9D8B030D-6E8A-4147-A177-3AD203B41FA5}">
                      <a16:colId xmlns:a16="http://schemas.microsoft.com/office/drawing/2014/main" val="1228848229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044171029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983867435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41581823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988882808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092635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Stage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Sale Price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VAT Charged (10%)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 Price (Including VAT)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3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VAT Paid to Government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VAT Deducted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Net VAT Remitted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097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Logging Company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17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Paper Manufacturer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16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Printing Company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$1,100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60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Book Publisher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$2,200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69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Retailer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026864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253D7508-76E9-EB27-4436-E229EFCE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VAT Collected in 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B50E-B8D0-7372-12BF-2FBE08A1B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6DDFA3-A4A6-EB71-4E13-3A8A2E6A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D45D1-273A-7DA7-1144-F4CA4AADE7DF}"/>
              </a:ext>
            </a:extLst>
          </p:cNvPr>
          <p:cNvSpPr txBox="1"/>
          <p:nvPr/>
        </p:nvSpPr>
        <p:spPr>
          <a:xfrm>
            <a:off x="664461" y="5285585"/>
            <a:ext cx="10790939" cy="83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Note: the total VAT paid is $300, which is the same amount paid under an RST.  The VAT is borne by the final retail customers. </a:t>
            </a:r>
          </a:p>
        </p:txBody>
      </p:sp>
    </p:spTree>
    <p:extLst>
      <p:ext uri="{BB962C8B-B14F-4D97-AF65-F5344CB8AC3E}">
        <p14:creationId xmlns:p14="http://schemas.microsoft.com/office/powerpoint/2010/main" val="3906919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3EA42F-44EE-13AE-4DF9-93D28FE1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Given that RSTs/VATs are imposed on transactions, they can’t take into account any personal characteristics of the purchaser, such as income or wealth.</a:t>
            </a:r>
          </a:p>
          <a:p>
            <a:r>
              <a:rPr lang="en-US" sz="2800" dirty="0"/>
              <a:t>RSTs and VATs must generally use a single rate, so that rich pay the same rate as poor. </a:t>
            </a:r>
          </a:p>
          <a:p>
            <a:r>
              <a:rPr lang="en-US" sz="2800" dirty="0"/>
              <a:t>Various political candidates and politicians have put forth proposals to adopt a federal VAT or RST.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E0704B-99BB-88EE-E595-5BB165FE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RSTs and VATs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C9665-C411-DE23-928B-922983CAC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2E587-7387-5690-FB47-16D84485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35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939CA6-E25F-75EA-5062-FEC68EC86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HS income tax includes </a:t>
            </a:r>
            <a:r>
              <a:rPr lang="en-US" sz="2800" b="1" dirty="0"/>
              <a:t>both</a:t>
            </a:r>
            <a:r>
              <a:rPr lang="en-US" sz="2800" dirty="0"/>
              <a:t> consumption and savings/investments in the tax base.</a:t>
            </a:r>
          </a:p>
          <a:p>
            <a:r>
              <a:rPr lang="en-US" sz="2800" dirty="0"/>
              <a:t> Savings/investments are included in the tax base because capital expenditures are not deductible. </a:t>
            </a:r>
          </a:p>
          <a:p>
            <a:r>
              <a:rPr lang="en-US" sz="2800" dirty="0"/>
              <a:t>Under a CFCT, </a:t>
            </a:r>
            <a:r>
              <a:rPr lang="en-US" sz="2800" b="1" dirty="0"/>
              <a:t>ALL</a:t>
            </a:r>
            <a:r>
              <a:rPr lang="en-US" sz="2800" dirty="0"/>
              <a:t> cash receipts would be included in the tax base, but all outlays that were not personal consumption would be deducted.</a:t>
            </a:r>
          </a:p>
          <a:p>
            <a:pPr lvl="1"/>
            <a:r>
              <a:rPr lang="en-US" sz="2600" dirty="0"/>
              <a:t>Goal is to tax personal consumption but not investment/savings</a:t>
            </a:r>
          </a:p>
          <a:p>
            <a:pPr lvl="1"/>
            <a:r>
              <a:rPr lang="en-US" sz="2400" dirty="0"/>
              <a:t>No concept of basis (previously taxed dollars) since the purchase of all investment or business assets would be deductible in the year of purchase.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0F4F23-0FA4-9C76-44D2-B8F6234E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Consumption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B15CA-1B26-169D-0BEB-7F68CCA1A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0997-0670-FBB2-725F-FDD02F34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9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DFF0D4-FD30-346B-6119-0D6C109EE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Revenue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Business owner sells consulting services for </a:t>
            </a:r>
            <a:r>
              <a:rPr lang="en-US" b="1" dirty="0"/>
              <a:t>$500,000</a:t>
            </a:r>
            <a:r>
              <a:rPr lang="en-US" dirty="0"/>
              <a:t> (cash inflows).</a:t>
            </a:r>
          </a:p>
          <a:p>
            <a:pPr lvl="1"/>
            <a:r>
              <a:rPr lang="en-US" dirty="0"/>
              <a:t>Sells stock for </a:t>
            </a:r>
            <a:r>
              <a:rPr lang="en-US" b="1" dirty="0"/>
              <a:t>$100,000 </a:t>
            </a:r>
            <a:r>
              <a:rPr lang="en-US" dirty="0"/>
              <a:t>that he purchased for $90,000 (cash inflow).</a:t>
            </a:r>
          </a:p>
          <a:p>
            <a:r>
              <a:rPr lang="en-US" b="1" dirty="0"/>
              <a:t>Expenses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Purchases inventory: </a:t>
            </a:r>
            <a:r>
              <a:rPr lang="en-US" b="1" dirty="0"/>
              <a:t>$300,000</a:t>
            </a:r>
            <a:r>
              <a:rPr lang="en-US" dirty="0"/>
              <a:t> (cash outflow).</a:t>
            </a:r>
          </a:p>
          <a:p>
            <a:pPr lvl="1"/>
            <a:r>
              <a:rPr lang="en-US" dirty="0"/>
              <a:t>Pays wages: </a:t>
            </a:r>
            <a:r>
              <a:rPr lang="en-US" b="1" dirty="0"/>
              <a:t>$100,000</a:t>
            </a:r>
            <a:r>
              <a:rPr lang="en-US" dirty="0"/>
              <a:t> (cash outflow).</a:t>
            </a:r>
          </a:p>
          <a:p>
            <a:pPr lvl="1"/>
            <a:r>
              <a:rPr lang="en-US" dirty="0"/>
              <a:t>Pays rent and utilities: </a:t>
            </a:r>
            <a:r>
              <a:rPr lang="en-US" b="1" dirty="0"/>
              <a:t>$50,000</a:t>
            </a:r>
            <a:r>
              <a:rPr lang="en-US" dirty="0"/>
              <a:t> (cash outflow).</a:t>
            </a:r>
          </a:p>
          <a:p>
            <a:pPr lvl="1"/>
            <a:r>
              <a:rPr lang="en-US" dirty="0"/>
              <a:t>Purchases a machine: </a:t>
            </a:r>
            <a:r>
              <a:rPr lang="en-US" b="1" dirty="0"/>
              <a:t>$70,000</a:t>
            </a:r>
            <a:r>
              <a:rPr lang="en-US" dirty="0"/>
              <a:t> (investment, cash outflow).</a:t>
            </a:r>
          </a:p>
          <a:p>
            <a:pPr lvl="1" algn="l"/>
            <a:r>
              <a:rPr lang="en-US" dirty="0"/>
              <a:t>Purchases stock: </a:t>
            </a:r>
            <a:r>
              <a:rPr lang="en-US" b="1" dirty="0"/>
              <a:t>$20,000</a:t>
            </a:r>
            <a:r>
              <a:rPr lang="en-US" dirty="0"/>
              <a:t> (investment, cash outflow).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Total cash inflows = </a:t>
            </a:r>
            <a:r>
              <a:rPr lang="en-US" b="1" dirty="0"/>
              <a:t>$600,000</a:t>
            </a:r>
          </a:p>
          <a:p>
            <a:r>
              <a:rPr lang="en-US" dirty="0"/>
              <a:t>Total cash outflows = </a:t>
            </a:r>
            <a:r>
              <a:rPr lang="en-US" b="1" dirty="0"/>
              <a:t>$300,000 + $100,000 + $50,000 + $70,000 + $20,000 = $540,000</a:t>
            </a:r>
          </a:p>
          <a:p>
            <a:r>
              <a:rPr lang="en-US" b="1" dirty="0"/>
              <a:t>Taxable Amount = $60,000 </a:t>
            </a:r>
            <a:r>
              <a:rPr lang="en-US" dirty="0"/>
              <a:t>(spent on consumption)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1B3EBA-D99C-1A59-7E67-1B9DCEF4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Consumption Tax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0DDF6-387A-1ED9-3D8A-4EB0CF7F2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0407-D6D7-673E-04C7-102FE369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D20CE-3734-6157-A5C8-4CB728AE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Differences between a CFCT and an Income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F0907-4919-0F51-4928-3D46A868B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27466-6811-FC0E-70CA-35B438E0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7C0B4E0-2F59-DD6C-519A-796F173D7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5491"/>
              </p:ext>
            </p:extLst>
          </p:nvPr>
        </p:nvGraphicFramePr>
        <p:xfrm>
          <a:off x="512064" y="631361"/>
          <a:ext cx="11277600" cy="546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540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Amount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Income Tax 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CFCT T</a:t>
                      </a:r>
                      <a:r>
                        <a:rPr sz="1800" dirty="0"/>
                        <a:t>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4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Consulting Revenue</a:t>
                      </a:r>
                      <a:endParaRPr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$500,000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Taxable income.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Included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cash inflow.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Stock Sale</a:t>
                      </a:r>
                      <a:endParaRPr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$100,000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Only gain taxable (10,000)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Entire 100,000 included</a:t>
                      </a:r>
                      <a:endParaRPr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Inventory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Deductible when inventory is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</a:t>
                      </a:r>
                      <a:r>
                        <a:rPr lang="en-US" sz="1800" dirty="0"/>
                        <a:t> when purchased.</a:t>
                      </a:r>
                      <a:endParaRPr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Wages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Fully deductible.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Rent and Utilities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Fully deductible.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4853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Machine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Deductible through depreciation</a:t>
                      </a:r>
                      <a:r>
                        <a:rPr lang="en-US" sz="1800" dirty="0"/>
                        <a:t>; (capital expenditure)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  <a:r>
                        <a:rPr sz="1800" dirty="0"/>
                        <a:t>eductible in the year of purchase.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579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Stock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Not deductible </a:t>
                      </a:r>
                      <a:r>
                        <a:rPr lang="en-US" sz="1800" dirty="0"/>
                        <a:t> (capital expenditure)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744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A0EFE8-0700-0CE1-E980-E8A4B8CEE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For employees, tax base would solely of wages, with possibly an exemption amount</a:t>
            </a:r>
          </a:p>
          <a:p>
            <a:pPr lvl="1"/>
            <a:r>
              <a:rPr lang="en-US" sz="2400" dirty="0"/>
              <a:t>All capital returns, CGs, dividends, interest, &amp; royalties would be exempt</a:t>
            </a:r>
          </a:p>
          <a:p>
            <a:r>
              <a:rPr lang="en-US" sz="2800" dirty="0"/>
              <a:t>For businesses, CFCT—tax base would be cash receipts less all business and investment outlays</a:t>
            </a:r>
          </a:p>
          <a:p>
            <a:r>
              <a:rPr lang="en-US" sz="2800" dirty="0"/>
              <a:t>Wage tax explicitly exempts capital returns</a:t>
            </a:r>
          </a:p>
          <a:p>
            <a:r>
              <a:rPr lang="en-US" sz="2800" dirty="0"/>
              <a:t>A CFCT allows investments to be deducted but taxes all investment returns</a:t>
            </a:r>
          </a:p>
          <a:p>
            <a:r>
              <a:rPr lang="en-US" sz="2800" b="1" dirty="0"/>
              <a:t>Under certain assumptions, a wage tax and a CFCT are equivalent</a:t>
            </a:r>
          </a:p>
          <a:p>
            <a:pPr lvl="1"/>
            <a:r>
              <a:rPr lang="en-US" sz="2400" dirty="0"/>
              <a:t>Constant tax rates over time</a:t>
            </a:r>
          </a:p>
          <a:p>
            <a:pPr lvl="1"/>
            <a:r>
              <a:rPr lang="en-US" sz="2400" dirty="0"/>
              <a:t> Investments yield only the expected (</a:t>
            </a:r>
            <a:r>
              <a:rPr lang="en-US" sz="2400" i="1" dirty="0"/>
              <a:t>norma</a:t>
            </a:r>
            <a:r>
              <a:rPr lang="en-US" sz="2400" dirty="0"/>
              <a:t>l) market return and not </a:t>
            </a:r>
            <a:r>
              <a:rPr lang="en-US" sz="2400" i="1" dirty="0"/>
              <a:t>a supranormal </a:t>
            </a:r>
            <a:r>
              <a:rPr lang="en-US" sz="2400" dirty="0"/>
              <a:t>return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F5619E-1122-4A0F-6406-7F499B14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0B397-79FD-3EDF-1EE8-AC3583B48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EAB5-A272-11B8-6273-03752A5F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92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F9953D-E4D8-AD85-3877-DCD4C296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Tax Rate: 25%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Wages: $120,000 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Investment Return: 6%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Peter will invest all remaining income after any taxes and consume the entire amount, including investment gains, in Year 2.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F7354C-9A6E-9DBA-E086-2853860E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2DBDC-FE55-2B46-0C75-9AE1DCD84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7D33D-E967-9E96-7FA3-A1EE46F9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7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E1F84E-E175-47A6-F9C9-B4B9DA30E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626327"/>
            <a:ext cx="3653535" cy="406576"/>
          </a:xfrm>
        </p:spPr>
        <p:txBody>
          <a:bodyPr/>
          <a:lstStyle/>
          <a:p>
            <a:r>
              <a:rPr lang="en-US" dirty="0"/>
              <a:t>Income 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0B7B7-22F3-78B1-5524-EFA3E514725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61122" y="627898"/>
            <a:ext cx="3665278" cy="380392"/>
          </a:xfrm>
        </p:spPr>
        <p:txBody>
          <a:bodyPr/>
          <a:lstStyle/>
          <a:p>
            <a:r>
              <a:rPr lang="en-US" dirty="0"/>
              <a:t>Wage Tax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15797-45BB-3AF3-D353-E17DB385960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3936" y="1026913"/>
            <a:ext cx="3661663" cy="5124022"/>
          </a:xfrm>
        </p:spPr>
        <p:txBody>
          <a:bodyPr/>
          <a:lstStyle/>
          <a:p>
            <a:r>
              <a:rPr lang="en-US" sz="2000" dirty="0"/>
              <a:t>Year 1</a:t>
            </a:r>
          </a:p>
          <a:p>
            <a:pPr lvl="1"/>
            <a:r>
              <a:rPr lang="en-US" sz="2000" dirty="0"/>
              <a:t>25% tax on wages of $120,000</a:t>
            </a:r>
          </a:p>
          <a:p>
            <a:pPr lvl="1"/>
            <a:r>
              <a:rPr lang="en-US" sz="2000" dirty="0"/>
              <a:t>$30,000 taxes</a:t>
            </a:r>
          </a:p>
          <a:p>
            <a:pPr lvl="1"/>
            <a:r>
              <a:rPr lang="en-US" sz="2000" dirty="0"/>
              <a:t>Invest $90,000 in stock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Year 2</a:t>
            </a:r>
          </a:p>
          <a:p>
            <a:pPr lvl="1"/>
            <a:r>
              <a:rPr lang="en-US" sz="2000" dirty="0"/>
              <a:t>Sell stock for $95,400</a:t>
            </a:r>
          </a:p>
          <a:p>
            <a:pPr lvl="1"/>
            <a:r>
              <a:rPr lang="en-US" sz="2000" dirty="0"/>
              <a:t>Investment return of $5,400</a:t>
            </a:r>
          </a:p>
          <a:p>
            <a:pPr lvl="1"/>
            <a:r>
              <a:rPr lang="en-US" sz="2000" dirty="0"/>
              <a:t>Tax on return of  $1,350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Total ATCF</a:t>
            </a:r>
          </a:p>
          <a:p>
            <a:pPr lvl="1"/>
            <a:r>
              <a:rPr lang="en-US" sz="2000" dirty="0"/>
              <a:t>$95,400 - $1,350 or </a:t>
            </a:r>
            <a:r>
              <a:rPr lang="en-US" sz="2000" b="1" dirty="0"/>
              <a:t>$94,050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B5A6DD-51D3-F004-3D46-0D9D3A78842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361122" y="1026912"/>
            <a:ext cx="3666603" cy="5124022"/>
          </a:xfrm>
        </p:spPr>
        <p:txBody>
          <a:bodyPr/>
          <a:lstStyle/>
          <a:p>
            <a:r>
              <a:rPr lang="en-US" sz="2000" dirty="0"/>
              <a:t>Year 1</a:t>
            </a:r>
          </a:p>
          <a:p>
            <a:pPr lvl="1"/>
            <a:r>
              <a:rPr lang="en-US" sz="2000" dirty="0"/>
              <a:t>25% tax on wages of $120,000</a:t>
            </a:r>
          </a:p>
          <a:p>
            <a:pPr lvl="1"/>
            <a:r>
              <a:rPr lang="en-US" sz="2000" dirty="0"/>
              <a:t>$30,000 taxes</a:t>
            </a:r>
          </a:p>
          <a:p>
            <a:pPr lvl="1"/>
            <a:r>
              <a:rPr lang="en-US" sz="2000" dirty="0"/>
              <a:t>Invest $90,000 in stock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Year 2</a:t>
            </a:r>
          </a:p>
          <a:p>
            <a:pPr lvl="1"/>
            <a:r>
              <a:rPr lang="en-US" sz="2000" dirty="0"/>
              <a:t>Sell stock for $95,400</a:t>
            </a:r>
          </a:p>
          <a:p>
            <a:pPr lvl="1"/>
            <a:r>
              <a:rPr lang="en-US" sz="2000" dirty="0"/>
              <a:t>Investment return of $5,400</a:t>
            </a:r>
          </a:p>
          <a:p>
            <a:pPr lvl="1"/>
            <a:r>
              <a:rPr lang="en-US" sz="2000" dirty="0"/>
              <a:t>$0 tax on return</a:t>
            </a:r>
          </a:p>
          <a:p>
            <a:pPr lvl="1"/>
            <a:endParaRPr lang="en-US" sz="2000" dirty="0"/>
          </a:p>
          <a:p>
            <a:r>
              <a:rPr lang="en-US" sz="2000" dirty="0"/>
              <a:t>Total ATCF</a:t>
            </a:r>
          </a:p>
          <a:p>
            <a:pPr lvl="1"/>
            <a:r>
              <a:rPr lang="en-US" sz="2000" b="1" dirty="0"/>
              <a:t>$95,400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FDFC2-4C0C-DB60-A92A-6E64D67D21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0596CA-42DA-54D3-091A-A282BAE4A1F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D204A2-EAF2-6967-B0F3-2241B9F8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77061D-E898-825D-5487-932845F230AA}"/>
              </a:ext>
            </a:extLst>
          </p:cNvPr>
          <p:cNvSpPr/>
          <p:nvPr/>
        </p:nvSpPr>
        <p:spPr>
          <a:xfrm>
            <a:off x="8221923" y="596481"/>
            <a:ext cx="3653535" cy="406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CFCT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21C1C-1AA2-7A36-E622-2CE875651B30}"/>
              </a:ext>
            </a:extLst>
          </p:cNvPr>
          <p:cNvSpPr txBox="1"/>
          <p:nvPr/>
        </p:nvSpPr>
        <p:spPr>
          <a:xfrm>
            <a:off x="8221923" y="1026912"/>
            <a:ext cx="3666603" cy="52014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 1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Invest $120,000 in stock—no tax: inclusion of $120,000 minus investment of $120,000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 2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Sell stock for $127,200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Cash flow of $127,200; investment return of $7,200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$31,800 tax on CF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ATCF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$127,200 - $31,800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$95,400 </a:t>
            </a:r>
          </a:p>
        </p:txBody>
      </p:sp>
    </p:spTree>
    <p:extLst>
      <p:ext uri="{BB962C8B-B14F-4D97-AF65-F5344CB8AC3E}">
        <p14:creationId xmlns:p14="http://schemas.microsoft.com/office/powerpoint/2010/main" val="27356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uiExpand="1" build="p" animBg="1"/>
      <p:bldP spid="10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F8B8715-E294-FD86-809A-E58E1B423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818803"/>
              </p:ext>
            </p:extLst>
          </p:nvPr>
        </p:nvGraphicFramePr>
        <p:xfrm>
          <a:off x="893763" y="1175657"/>
          <a:ext cx="10515600" cy="428666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4841530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02622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54518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79294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46459846"/>
                    </a:ext>
                  </a:extLst>
                </a:gridCol>
              </a:tblGrid>
              <a:tr h="1008498">
                <a:tc>
                  <a:txBody>
                    <a:bodyPr/>
                    <a:lstStyle/>
                    <a:p>
                      <a:r>
                        <a:rPr lang="en-US" sz="2400" b="1" dirty="0"/>
                        <a:t>Tax System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Tax in Year 1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Tax in Year 2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 Tax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Final Consumption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09865982"/>
                  </a:ext>
                </a:extLst>
              </a:tr>
              <a:tr h="126117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CFCT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$31,800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$31,800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$95,400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652179"/>
                  </a:ext>
                </a:extLst>
              </a:tr>
              <a:tr h="100849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Wage Tax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$95,400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388666"/>
                  </a:ext>
                </a:extLst>
              </a:tr>
              <a:tr h="100849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Income Tax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$1,350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$31,350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$94,050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27753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D55BCA-E5F4-6686-C427-AB8D98C3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42A76-EA38-3A24-B306-AE45FB27C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78C95-EAB5-0B6D-DC0A-EA833472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048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BE3897-C789-CF1B-B00B-90160C6BC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b="1" dirty="0"/>
              <a:t>Equivalence of Cash-Flow and Wage Taxes</a:t>
            </a:r>
            <a:r>
              <a:rPr lang="en-US" sz="2600" dirty="0"/>
              <a:t>:</a:t>
            </a:r>
          </a:p>
          <a:p>
            <a:pPr lvl="1"/>
            <a:r>
              <a:rPr lang="en-US" sz="2600" dirty="0"/>
              <a:t>Both systems result in the same final consumption ($95,400), as neither taxes investment returns.</a:t>
            </a:r>
          </a:p>
          <a:p>
            <a:r>
              <a:rPr lang="en-US" sz="2600" b="1" dirty="0"/>
              <a:t>Income Tax Difference</a:t>
            </a:r>
            <a:r>
              <a:rPr lang="en-US" sz="2600" dirty="0"/>
              <a:t>:</a:t>
            </a:r>
          </a:p>
          <a:p>
            <a:pPr lvl="1"/>
            <a:r>
              <a:rPr lang="en-US" sz="2600" dirty="0"/>
              <a:t>Under an income tax, the investment is made with after-tax dollars, and the investment return is included in the tax base. </a:t>
            </a:r>
          </a:p>
          <a:p>
            <a:r>
              <a:rPr lang="en-US" sz="2600" b="1" dirty="0"/>
              <a:t>Tax Timing</a:t>
            </a:r>
            <a:r>
              <a:rPr lang="en-US" sz="2600" dirty="0"/>
              <a:t>:</a:t>
            </a:r>
          </a:p>
          <a:p>
            <a:pPr lvl="1"/>
            <a:r>
              <a:rPr lang="en-US" sz="2600" b="1" dirty="0"/>
              <a:t>CFCT defers taxation until consumption occurs, while the wage tax applies the tax upfront</a:t>
            </a:r>
            <a:r>
              <a:rPr lang="en-US" sz="2600" dirty="0"/>
              <a:t>.</a:t>
            </a:r>
          </a:p>
          <a:p>
            <a:pPr lvl="1"/>
            <a:r>
              <a:rPr lang="en-US" sz="2600" dirty="0"/>
              <a:t>The income tax spreads the burden across </a:t>
            </a:r>
            <a:r>
              <a:rPr lang="en-US" sz="2600" b="1" dirty="0"/>
              <a:t>both wages and investment return</a:t>
            </a:r>
            <a:r>
              <a:rPr lang="en-US" sz="2600" dirty="0"/>
              <a:t>s.</a:t>
            </a:r>
          </a:p>
          <a:p>
            <a:endParaRPr lang="en-US" dirty="0"/>
          </a:p>
          <a:p>
            <a:r>
              <a:rPr lang="en-US" sz="2600" b="1" dirty="0"/>
              <a:t>E. Cary Brown yield exemption phenomenon</a:t>
            </a:r>
            <a:r>
              <a:rPr lang="en-US" sz="2600" dirty="0"/>
              <a:t>: exempting investment returns (wage tax) produces the same result as a CFCT under which the investment is deducted but 100% of the returns (both the original investment and capital return) are taxed.</a:t>
            </a:r>
          </a:p>
          <a:p>
            <a:endParaRPr lang="en-US" sz="2600" dirty="0"/>
          </a:p>
          <a:p>
            <a:r>
              <a:rPr lang="en-US" sz="2600" b="1" dirty="0"/>
              <a:t>Note</a:t>
            </a:r>
            <a:r>
              <a:rPr lang="en-US" sz="2600" dirty="0"/>
              <a:t>: A CFCT and wage tax don’t produce the same outcome if the investment earns </a:t>
            </a:r>
            <a:r>
              <a:rPr lang="en-US" sz="2600" i="1" dirty="0"/>
              <a:t>supranormal</a:t>
            </a:r>
            <a:r>
              <a:rPr lang="en-US" sz="2600" dirty="0"/>
              <a:t> returns after it is made.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CA6F-A234-98FF-8FAD-70A3073A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6215C-5505-B9BA-8E6A-D16FB1E77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1BF41-464E-DE3F-E747-8398CC9E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CEA62-C015-6D0F-9770-2BF9A5DE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dirty="0"/>
              <a:t>Individual retirement account (IRA)/401(k)/403(b):</a:t>
            </a:r>
            <a:r>
              <a:rPr lang="en-US" dirty="0"/>
              <a:t> deduction of investment when made; full taxation when withdrawn from account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Roth IRA</a:t>
            </a:r>
            <a:r>
              <a:rPr lang="en-US" dirty="0"/>
              <a:t>: No deduction when made; no taxation of investment return when withdrawn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Section 179 Expensing</a:t>
            </a:r>
            <a:r>
              <a:rPr lang="en-US" dirty="0"/>
              <a:t>: purchase of business equipment is immediately deductible instead of being capitalized and depreciated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Exclusion of Personal Residence Gain under §121</a:t>
            </a:r>
            <a:br>
              <a:rPr lang="en-US" b="1" dirty="0"/>
            </a:br>
            <a:endParaRPr lang="en-US" b="1" dirty="0"/>
          </a:p>
          <a:p>
            <a:pPr algn="l"/>
            <a:r>
              <a:rPr lang="en-US" b="1" dirty="0"/>
              <a:t>Forgiveness of unrealized gains at death under §1014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Exclusion of State &amp; Local bond interest under §103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95BD77-2571-C410-3207-1556BA31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Taxes in the IRC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95FB8-C1EA-F24D-1148-CBB0E92BE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F946D-6B44-A153-66BE-7F1933B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57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E5B727-03EB-E7D0-8DC0-29BB8F40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an </a:t>
            </a:r>
            <a:r>
              <a:rPr lang="en-US" b="1" dirty="0"/>
              <a:t>income tax</a:t>
            </a:r>
            <a:r>
              <a:rPr lang="en-US" dirty="0"/>
              <a:t>, borrowed money is neither taxable when received nor deductible when paid.</a:t>
            </a:r>
          </a:p>
          <a:p>
            <a:pPr lvl="1"/>
            <a:r>
              <a:rPr lang="en-US" dirty="0"/>
              <a:t>Borrowing doesn’t represent a change in wealth: $ increases, but so do liabilities</a:t>
            </a:r>
          </a:p>
          <a:p>
            <a:pPr lvl="1"/>
            <a:r>
              <a:rPr lang="en-US" dirty="0"/>
              <a:t>Repayment doesn’t represent a change in wealth: $ decreases, but so do liabilities</a:t>
            </a:r>
          </a:p>
          <a:p>
            <a:pPr lvl="1"/>
            <a:r>
              <a:rPr lang="en-US" dirty="0"/>
              <a:t>Interest is a decrease in wealth and is generally deductible as business interest (§163(a)) or investment interest (§163(d)) </a:t>
            </a:r>
          </a:p>
          <a:p>
            <a:r>
              <a:rPr lang="en-US" dirty="0"/>
              <a:t>Purchases subject to an </a:t>
            </a:r>
            <a:r>
              <a:rPr lang="en-US" b="1" dirty="0"/>
              <a:t>RST</a:t>
            </a:r>
            <a:r>
              <a:rPr lang="en-US" dirty="0"/>
              <a:t> whether made with savings or borrowed money</a:t>
            </a:r>
          </a:p>
          <a:p>
            <a:r>
              <a:rPr lang="en-US" b="1" dirty="0"/>
              <a:t>Wage tax</a:t>
            </a:r>
            <a:r>
              <a:rPr lang="en-US" dirty="0"/>
              <a:t>: borrowed money not included in the tax base (not wages) but interest is not deductible—investment returns are not taxed so investment expenses are not deductible.</a:t>
            </a:r>
          </a:p>
          <a:p>
            <a:r>
              <a:rPr lang="en-US" b="1" dirty="0"/>
              <a:t>CFCT</a:t>
            </a:r>
            <a:r>
              <a:rPr lang="en-US" dirty="0"/>
              <a:t>: Borrowed funds would be includible and repayment of borrowing and interest would be deductible.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8FCC90-0BA7-4CF9-6F48-B7F88A68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474F5-F207-B77C-33F4-3CBBD4667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1C7-28CA-53B5-1344-8D0D583F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3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D7D541-618D-0E5E-9C88-4EBB569F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Applying the rules from one system (income tax) and another (wage tax) to obtain a result that is better than if only one system applied.</a:t>
            </a:r>
          </a:p>
          <a:p>
            <a:r>
              <a:rPr lang="en-US" dirty="0"/>
              <a:t>Raises issues of fairness and economic efficiency</a:t>
            </a:r>
          </a:p>
          <a:p>
            <a:r>
              <a:rPr lang="en-US" dirty="0"/>
              <a:t>Example:  borrow money to purchase an asset that benefits from consumption tax treatment.</a:t>
            </a:r>
          </a:p>
          <a:p>
            <a:pPr lvl="1"/>
            <a:r>
              <a:rPr lang="en-US" dirty="0"/>
              <a:t>Peter borrows $10K to purchase a machine that is eligible for immediate expensing under §179 (CFCT treatment).  Under §163, Peter can also deduct the interest on the borrowing since the machine is a business asset (but subject to certain limits under §163(j)). </a:t>
            </a:r>
          </a:p>
          <a:p>
            <a:pPr lvl="1"/>
            <a:r>
              <a:rPr lang="en-US" dirty="0"/>
              <a:t>Thus, Peter excludes the loan proceeds, deducts the cost of the machine (CFCT), and deducts the interest (not permitted under a CFCT, if debt and interest are excluded).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F2F171-527E-C9F6-9838-DE09B377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B595A-DAC1-D18C-8877-447752775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57FB3-2802-29EC-6B60-5E1EF17A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61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6459F8-AE3C-A5B0-A26E-EE8AC17C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Applying income tax rules for debt (deductible interest) to investments receiving consumption tax treatment (pre-tax investment or excludable returns)</a:t>
            </a:r>
          </a:p>
          <a:p>
            <a:endParaRPr lang="en-US" sz="2800" dirty="0">
              <a:solidFill>
                <a:srgbClr val="1F2937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Double Tax Benefit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Borrow cash: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Excluded from income (no accession to wealth)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Deduct interest: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Under income tax rules as business/investment interest under §163, subject to certain limitations, </a:t>
            </a:r>
            <a:r>
              <a:rPr lang="en-US" sz="2400" i="1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e.g., 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§163(d) and (j)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Investment treatment: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Either immediate deduction (§§168(k) or 179) OR excludable return (§103)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Two tax benefits for the same dollars to the same taxpayer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68C7-452A-6715-7E6B-C32C1C44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B7DD8-BB31-DD01-AE59-2C7828A20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9D612-3493-DCE5-55A0-9920CB87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4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FD760F-6D6A-051D-C13D-11019F3C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1F2937"/>
                </a:solidFill>
                <a:latin typeface="+mn-lt"/>
                <a:cs typeface="Arial" pitchFamily="34" charset="-120"/>
              </a:rPr>
              <a:t>Assume HNW TP (37% MTR) borrows @ 5% to purchase tax-exempt bond yielding 4%.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+mn-lt"/>
                <a:cs typeface="Arial" pitchFamily="34" charset="-120"/>
              </a:rPr>
              <a:t> In the absence of tax, would you do this?</a:t>
            </a:r>
          </a:p>
          <a:p>
            <a:pPr lvl="1"/>
            <a:endParaRPr lang="en-US" sz="2400" dirty="0">
              <a:latin typeface="+mn-lt"/>
            </a:endParaRPr>
          </a:p>
          <a:p>
            <a:r>
              <a:rPr lang="en-US" sz="2800" dirty="0">
                <a:latin typeface="+mn-lt"/>
              </a:rPr>
              <a:t>Tax arbitrage can turn uneconomical investments (pre-tax) into profitable investments (after-tax)</a:t>
            </a:r>
          </a:p>
          <a:p>
            <a:pPr lvl="1"/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Tax-exempt interest received: 			$4,000</a:t>
            </a:r>
            <a:endParaRPr lang="en-US" sz="2800" dirty="0">
              <a:latin typeface="+mn-lt"/>
            </a:endParaRPr>
          </a:p>
          <a:p>
            <a:pPr lvl="1"/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Interest paid: 						-$5,000</a:t>
            </a:r>
            <a:endParaRPr lang="en-US" sz="2800" dirty="0">
              <a:latin typeface="+mn-lt"/>
            </a:endParaRPr>
          </a:p>
          <a:p>
            <a:pPr lvl="1"/>
            <a:r>
              <a:rPr lang="en-US" sz="2800" u="sng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Tax savings from deduction (5,000 × 0.37):	+$1,850</a:t>
            </a:r>
          </a:p>
          <a:p>
            <a:pPr lvl="1"/>
            <a:r>
              <a:rPr lang="en-US" sz="2800" b="1" dirty="0">
                <a:latin typeface="+mn-lt"/>
              </a:rPr>
              <a:t>After Tax Profit						+$850</a:t>
            </a:r>
          </a:p>
          <a:p>
            <a:endParaRPr lang="en-US" sz="2800" dirty="0">
              <a:latin typeface="+mn-lt"/>
            </a:endParaRPr>
          </a:p>
          <a:p>
            <a:r>
              <a:rPr lang="en-US" sz="2800" dirty="0">
                <a:latin typeface="+mn-lt"/>
              </a:rPr>
              <a:t>Read §265(a)(2).  Do you see why it’s needed?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F7D0F-1CE4-6FBB-2536-5F9F57A6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C90C2-41E2-061E-9AB8-2549389FE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F0FBA-BECD-5B3D-180E-7E2F7E75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BEAD3-A41E-924B-54B6-B58EB4CF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 benefit aimed at Taxpayer A on the face of the statute is effectively captured by Person B through the price mechanism</a:t>
            </a:r>
          </a:p>
          <a:p>
            <a:endParaRPr lang="en-US" dirty="0">
              <a:solidFill>
                <a:srgbClr val="1F2937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Example: </a:t>
            </a:r>
            <a:r>
              <a:rPr lang="en-US" dirty="0"/>
              <a:t>§103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r>
              <a:rPr lang="en-US" sz="2400" dirty="0"/>
              <a:t>§103 b</a:t>
            </a: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ondholders exclude SAL bond interest from income</a:t>
            </a:r>
          </a:p>
          <a:p>
            <a:pPr lvl="1"/>
            <a:r>
              <a:rPr lang="en-US" sz="2400" dirty="0"/>
              <a:t>Intended to benefit SAL governments by lowering borrowing costs.  How?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Bondholders accept lower interest rates on tax-exempt bonds because </a:t>
            </a:r>
            <a:r>
              <a:rPr lang="en-US" sz="24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exempt returns </a:t>
            </a: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tax-exempt </a:t>
            </a:r>
            <a:r>
              <a:rPr lang="en-US" sz="24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equal </a:t>
            </a: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after-tax returns of the taxable bonds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MTR TP is indifferent between 5% taxable bond and 3.15% tax-exempt bond (both yield 3.15% after-tax)</a:t>
            </a:r>
          </a:p>
          <a:p>
            <a:pPr lvl="2"/>
            <a:r>
              <a:rPr lang="en-US" sz="2400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3.15% tax-exempt yields 3.15% after-tax (b/c no tax)</a:t>
            </a:r>
          </a:p>
          <a:p>
            <a:pPr lvl="2"/>
            <a:r>
              <a:rPr lang="en-US" sz="2400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5% yields: 5% * (1 – 37%) = 3.15%</a:t>
            </a: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2F48CE-D0B7-117D-79B4-5EA2165C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C4568-9F80-307E-B30F-45AEB7D31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C95FC-CFA3-51F5-B6C4-41E8A027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5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66262-E762-28AC-A0EC-8C906170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School District needs to issue </a:t>
            </a:r>
            <a:r>
              <a:rPr lang="en-US" b="1" dirty="0"/>
              <a:t>$10 million</a:t>
            </a:r>
            <a:r>
              <a:rPr lang="en-US" dirty="0"/>
              <a:t> in bonds to fund new construction.  Assume that there are only two tax brackets, </a:t>
            </a:r>
            <a:r>
              <a:rPr lang="en-US" b="1" dirty="0"/>
              <a:t>40%</a:t>
            </a:r>
            <a:r>
              <a:rPr lang="en-US" dirty="0"/>
              <a:t> and </a:t>
            </a:r>
            <a:r>
              <a:rPr lang="en-US" b="1" dirty="0"/>
              <a:t>20%</a:t>
            </a:r>
            <a:r>
              <a:rPr lang="en-US" dirty="0"/>
              <a:t>, and the interest rate for </a:t>
            </a:r>
            <a:r>
              <a:rPr lang="en-US" b="1" dirty="0"/>
              <a:t>taxable</a:t>
            </a:r>
            <a:r>
              <a:rPr lang="en-US" dirty="0"/>
              <a:t> corporate bonds is </a:t>
            </a:r>
            <a:r>
              <a:rPr lang="en-US" b="1" dirty="0"/>
              <a:t>10%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If only buyers are 40% MTR TPs, what rate must the municipality offer?</a:t>
            </a:r>
          </a:p>
          <a:p>
            <a:pPr lvl="1"/>
            <a:r>
              <a:rPr lang="en-US" dirty="0"/>
              <a:t>How much does the municipality benefit by §103?</a:t>
            </a:r>
          </a:p>
          <a:p>
            <a:pPr lvl="1"/>
            <a:r>
              <a:rPr lang="en-US" dirty="0"/>
              <a:t>How much does the federal gov’t lose in tax revenue?</a:t>
            </a:r>
          </a:p>
          <a:p>
            <a:r>
              <a:rPr lang="en-US" dirty="0"/>
              <a:t>If the 40% buyers are tapped out, what rate must the municipality now offer?</a:t>
            </a:r>
          </a:p>
          <a:p>
            <a:r>
              <a:rPr lang="en-US" dirty="0"/>
              <a:t>You are a new 40% MTR TP, what bond do now buy and why?</a:t>
            </a:r>
          </a:p>
          <a:p>
            <a:pPr lvl="1"/>
            <a:r>
              <a:rPr lang="en-US" dirty="0"/>
              <a:t>What rate would the taxable bond have to offer to be compatible with the tax-exempt bond?</a:t>
            </a:r>
          </a:p>
          <a:p>
            <a:pPr lvl="1"/>
            <a:r>
              <a:rPr lang="en-US" dirty="0"/>
              <a:t>What are the interest savings now to the municipality from §103? </a:t>
            </a:r>
          </a:p>
          <a:p>
            <a:pPr lvl="1"/>
            <a:r>
              <a:rPr lang="en-US" dirty="0"/>
              <a:t>What is the cost to the Treasury if the new buyers are all 40% MTR TPs?</a:t>
            </a:r>
          </a:p>
          <a:p>
            <a:pPr lvl="1"/>
            <a:r>
              <a:rPr lang="en-US" dirty="0"/>
              <a:t>Who gets the difference?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50BB5-6E51-1EB2-A8AD-7F762A8B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Example: §103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F60E6-2A40-3B02-89C4-4CAC86E3B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8213D-AF1D-1B6F-9D60-D581F894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7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19297</TotalTime>
  <Words>2449</Words>
  <Application>Microsoft Macintosh PowerPoint</Application>
  <PresentationFormat>Widescreen</PresentationFormat>
  <Paragraphs>332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NSimSun</vt:lpstr>
      <vt:lpstr>Aptos Narrow</vt:lpstr>
      <vt:lpstr>Arial</vt:lpstr>
      <vt:lpstr>Calibri</vt:lpstr>
      <vt:lpstr>Courier New</vt:lpstr>
      <vt:lpstr>Times New Roman</vt:lpstr>
      <vt:lpstr>Verdana</vt:lpstr>
      <vt:lpstr>Wingdings</vt:lpstr>
      <vt:lpstr>Wingdings 2</vt:lpstr>
      <vt:lpstr>CG Body - Standard</vt:lpstr>
      <vt:lpstr>Federal Income Taxation Consumption Taxes</vt:lpstr>
      <vt:lpstr>Consumption Taxes</vt:lpstr>
      <vt:lpstr>Why Study Consumption Taxes?</vt:lpstr>
      <vt:lpstr>Retail Sales Tax (RST)</vt:lpstr>
      <vt:lpstr>Value Added Tax (VAT)</vt:lpstr>
      <vt:lpstr>Total VAT Collected in Example</vt:lpstr>
      <vt:lpstr>Issues with RSTs and VATs</vt:lpstr>
      <vt:lpstr>Cash Flow Consumption Tax</vt:lpstr>
      <vt:lpstr>Cash Flow Consumption Tax Example</vt:lpstr>
      <vt:lpstr>Example: Differences between a CFCT and an Income Tax</vt:lpstr>
      <vt:lpstr>Wage Tax</vt:lpstr>
      <vt:lpstr>Income, Wage, and CFCT Example</vt:lpstr>
      <vt:lpstr>Income, Wage, and CFCT Example</vt:lpstr>
      <vt:lpstr>Income, Wage, and CFCT Example</vt:lpstr>
      <vt:lpstr>Income, Wage, and CFCT Example</vt:lpstr>
      <vt:lpstr>Consumption Taxes in the IRC</vt:lpstr>
      <vt:lpstr>Debt</vt:lpstr>
      <vt:lpstr>Tax Arbitrage</vt:lpstr>
      <vt:lpstr>Tax Arbitrage</vt:lpstr>
      <vt:lpstr>Tax Arbitrage Example</vt:lpstr>
      <vt:lpstr>Capture</vt:lpstr>
      <vt:lpstr>Capture Example: §103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197</cp:revision>
  <cp:lastPrinted>2020-11-30T15:41:57Z</cp:lastPrinted>
  <dcterms:created xsi:type="dcterms:W3CDTF">2016-08-01T04:04:31Z</dcterms:created>
  <dcterms:modified xsi:type="dcterms:W3CDTF">2026-08-31T14:06:28Z</dcterms:modified>
  <cp:category/>
</cp:coreProperties>
</file>