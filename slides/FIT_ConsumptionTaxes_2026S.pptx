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sldIdLst>
    <p:sldId id="295" r:id="rId2"/>
    <p:sldId id="256" r:id="rId3"/>
    <p:sldId id="296" r:id="rId4"/>
    <p:sldId id="297" r:id="rId5"/>
    <p:sldId id="298" r:id="rId6"/>
    <p:sldId id="299" r:id="rId7"/>
    <p:sldId id="300" r:id="rId8"/>
    <p:sldId id="301" r:id="rId9"/>
    <p:sldId id="303" r:id="rId10"/>
    <p:sldId id="304" r:id="rId11"/>
    <p:sldId id="305" r:id="rId12"/>
    <p:sldId id="306" r:id="rId13"/>
    <p:sldId id="310" r:id="rId14"/>
    <p:sldId id="307" r:id="rId15"/>
    <p:sldId id="311" r:id="rId16"/>
    <p:sldId id="312" r:id="rId17"/>
    <p:sldId id="313" r:id="rId18"/>
    <p:sldId id="314" r:id="rId19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846BE0-A764-1849-B509-5ABE71359BFF}" v="1" dt="2026-01-05T20:13:21.6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8"/>
    <p:restoredTop sz="96190"/>
  </p:normalViewPr>
  <p:slideViewPr>
    <p:cSldViewPr snapToGrid="0" snapToObjects="1">
      <p:cViewPr varScale="1">
        <p:scale>
          <a:sx n="123" d="100"/>
          <a:sy n="123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modSld modMainMaster">
      <pc:chgData name="Colon, Jeffrey M." userId="615143b1-cdee-493d-9a9d-1565ce8666d9" providerId="ADAL" clId="{458F5B4D-4674-51EB-AE0A-4CE030354E61}" dt="2026-01-05T20:13:21.691" v="3" actId="20577"/>
      <pc:docMkLst>
        <pc:docMk/>
      </pc:docMkLst>
      <pc:sldChg chg="modSp">
        <pc:chgData name="Colon, Jeffrey M." userId="615143b1-cdee-493d-9a9d-1565ce8666d9" providerId="ADAL" clId="{458F5B4D-4674-51EB-AE0A-4CE030354E61}" dt="2026-01-05T20:13:21.691" v="3" actId="20577"/>
        <pc:sldMkLst>
          <pc:docMk/>
          <pc:sldMk cId="2657288182" sldId="296"/>
        </pc:sldMkLst>
        <pc:spChg chg="mod">
          <ac:chgData name="Colon, Jeffrey M." userId="615143b1-cdee-493d-9a9d-1565ce8666d9" providerId="ADAL" clId="{458F5B4D-4674-51EB-AE0A-4CE030354E61}" dt="2026-01-05T20:13:21.691" v="3" actId="20577"/>
          <ac:spMkLst>
            <pc:docMk/>
            <pc:sldMk cId="2657288182" sldId="296"/>
            <ac:spMk id="2" creationId="{C8CF7F4E-94E2-DC36-EF6E-8855DDDB7F32}"/>
          </ac:spMkLst>
        </pc:spChg>
      </pc:sldChg>
      <pc:sldMasterChg chg="modSp mod">
        <pc:chgData name="Colon, Jeffrey M." userId="615143b1-cdee-493d-9a9d-1565ce8666d9" providerId="ADAL" clId="{458F5B4D-4674-51EB-AE0A-4CE030354E61}" dt="2026-01-05T20:12:02.243" v="2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458F5B4D-4674-51EB-AE0A-4CE030354E61}" dt="2026-01-05T20:12:02.243" v="2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1/5/26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2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433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 smtClean="0"/>
            </a:lvl1pPr>
          </a:lstStyle>
          <a:p>
            <a:pPr>
              <a:defRPr/>
            </a:pPr>
            <a:r>
              <a:rPr lang="en-US" dirty="0"/>
              <a:t>Introduction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Introduction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22781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1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Consumption Taxes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baseline="0" dirty="0">
                <a:latin typeface="+mn-lt"/>
              </a:rPr>
              <a:t>FIT_ConsumptionTaxes_2026S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Federal Income Taxation</a:t>
            </a:r>
            <a:br>
              <a:rPr lang="en-US" dirty="0"/>
            </a:br>
            <a:r>
              <a:rPr lang="en-US" i="1" dirty="0"/>
              <a:t>Consumption Taxes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58533" y="5013325"/>
            <a:ext cx="6858000" cy="609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en-US" sz="2100" b="1" dirty="0"/>
              <a:t>Prof. Colon</a:t>
            </a:r>
          </a:p>
          <a:p>
            <a:r>
              <a:rPr lang="en-US" sz="2100" b="1" dirty="0"/>
              <a:t>Spring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80FCD-05A6-764D-BFDB-63AA23C9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AF7C4-7F9E-D84A-9606-10CB55E9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SHS:</a:t>
            </a:r>
          </a:p>
          <a:p>
            <a:pPr lvl="1"/>
            <a:r>
              <a:rPr lang="en-US" dirty="0"/>
              <a:t>Increases in wealth minus decreases in wealth, but not if decreases represent personal consumption.</a:t>
            </a:r>
          </a:p>
          <a:p>
            <a:pPr lvl="1" algn="l"/>
            <a:r>
              <a:rPr lang="en-US" dirty="0"/>
              <a:t>Since neither personal consumption nor savings are deductible, they are included in the tax base.  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Consumption tax base:</a:t>
            </a:r>
          </a:p>
          <a:p>
            <a:pPr lvl="1"/>
            <a:r>
              <a:rPr lang="en-US" dirty="0"/>
              <a:t>Personal consumption (perhaps with an exclusion for subsistence consumption)</a:t>
            </a:r>
          </a:p>
          <a:p>
            <a:pPr lvl="1"/>
            <a:r>
              <a:rPr lang="en-US" dirty="0"/>
              <a:t>Savings are excluded</a:t>
            </a:r>
            <a:endParaRPr lang="en-US" dirty="0">
              <a:latin typeface="+mn-lt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Consumption Taxes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122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CF7F4E-94E2-DC36-EF6E-8855DDDB7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U.S. largely relied on consumption taxes to fund the government before the enactment of the 16</a:t>
            </a:r>
            <a:r>
              <a:rPr lang="en-US" baseline="30000" dirty="0"/>
              <a:t>th</a:t>
            </a:r>
            <a:r>
              <a:rPr lang="en-US" dirty="0"/>
              <a:t> Amendment </a:t>
            </a:r>
            <a:r>
              <a:rPr lang="en-US"/>
              <a:t>in 1913, </a:t>
            </a:r>
            <a:r>
              <a:rPr lang="en-US" dirty="0"/>
              <a:t>and many political candidates have argued for replacing (or adding onto) the current income tax with a consumption tax.</a:t>
            </a:r>
          </a:p>
          <a:p>
            <a:r>
              <a:rPr lang="en-US" b="1" dirty="0">
                <a:solidFill>
                  <a:srgbClr val="FF0000"/>
                </a:solidFill>
              </a:rPr>
              <a:t>The current U.S. tax system is best viewed as a </a:t>
            </a:r>
            <a:r>
              <a:rPr lang="en-US" b="1" i="1" dirty="0">
                <a:solidFill>
                  <a:srgbClr val="FF0000"/>
                </a:solidFill>
              </a:rPr>
              <a:t>hybrid</a:t>
            </a:r>
            <a:r>
              <a:rPr lang="en-US" b="1" dirty="0">
                <a:solidFill>
                  <a:srgbClr val="FF0000"/>
                </a:solidFill>
              </a:rPr>
              <a:t> of an income tax system and a consumption tax system.</a:t>
            </a:r>
          </a:p>
          <a:p>
            <a:r>
              <a:rPr lang="en-US" dirty="0"/>
              <a:t>Help to better understand the serious challenge of </a:t>
            </a:r>
            <a:r>
              <a:rPr lang="en-US" b="1" i="1" dirty="0"/>
              <a:t>tax arbitrage</a:t>
            </a:r>
          </a:p>
          <a:p>
            <a:pPr lvl="1"/>
            <a:r>
              <a:rPr lang="en-US" dirty="0"/>
              <a:t>Applying the rules of one system (income tax) against the rules of another system (consumption tax)</a:t>
            </a:r>
          </a:p>
          <a:p>
            <a:pPr lvl="1"/>
            <a:r>
              <a:rPr lang="en-US" dirty="0"/>
              <a:t>Taxpayer can potentially obtain a better result than if either system applied separately</a:t>
            </a:r>
          </a:p>
          <a:p>
            <a:pPr lvl="1"/>
            <a:r>
              <a:rPr lang="en-US" dirty="0"/>
              <a:t>Example:  purchasing an investment under consumption tax rules (investment made with pre-tax dollars or return is excludable) with borrowed money and deducting the interest on the debt.</a:t>
            </a:r>
          </a:p>
          <a:p>
            <a:pPr lvl="2"/>
            <a:r>
              <a:rPr lang="en-US" dirty="0"/>
              <a:t>Result:  Double tax benefit for the same dollars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CB5B6B-D369-D1D0-10FC-2BA326359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Study Consumption Taxes?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BBF6CA-6F8E-AD6B-5969-F8BE49942B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579CA-1C5E-9E95-D98A-3088320F2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72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497C4B-7B11-9125-0ED5-AE5DC3D58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Purchases of consumer goods (and sometimes services) subject to flat rate</a:t>
            </a:r>
          </a:p>
          <a:p>
            <a:pPr lvl="1"/>
            <a:r>
              <a:rPr lang="en-US" dirty="0"/>
              <a:t>Imposed at final retail sale to customer for personal consumption</a:t>
            </a:r>
          </a:p>
          <a:p>
            <a:pPr lvl="1"/>
            <a:r>
              <a:rPr lang="en-US" dirty="0"/>
              <a:t>Excludes business purchases and purchases of investment </a:t>
            </a:r>
            <a:r>
              <a:rPr lang="en-US" dirty="0" err="1"/>
              <a:t>propery</a:t>
            </a:r>
            <a:endParaRPr lang="en-US" dirty="0"/>
          </a:p>
          <a:p>
            <a:pPr lvl="1"/>
            <a:r>
              <a:rPr lang="en-US" dirty="0"/>
              <a:t>NJ: 6.625%; NY: 8.532%</a:t>
            </a:r>
          </a:p>
          <a:p>
            <a:pPr lvl="1"/>
            <a:r>
              <a:rPr lang="en-US" dirty="0"/>
              <a:t>To preserve </a:t>
            </a:r>
            <a:r>
              <a:rPr lang="en-US" i="1" dirty="0"/>
              <a:t>some</a:t>
            </a:r>
            <a:r>
              <a:rPr lang="en-US" dirty="0"/>
              <a:t> progressivity, certain purchases are exempt, </a:t>
            </a:r>
            <a:r>
              <a:rPr lang="en-US" i="1" dirty="0"/>
              <a:t>e.g</a:t>
            </a:r>
            <a:r>
              <a:rPr lang="en-US" dirty="0"/>
              <a:t>., food in NJ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Example: Maria buys a car for $30,000.  NJ imposes a sales tax of 6.625%.  The final price paid is $31,988.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FF334B-FC11-71C7-3CE0-C144B1BAA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Retail Sales Tax (RST)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ADD4B4-2D6C-7101-559D-D35491B08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8284A-C403-5C26-5CDF-3EED37F15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0F389F-0CAB-BD40-0960-D91F882FB5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9699"/>
              </p:ext>
            </p:extLst>
          </p:nvPr>
        </p:nvGraphicFramePr>
        <p:xfrm>
          <a:off x="2937429" y="3332747"/>
          <a:ext cx="6032500" cy="19096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44446">
                  <a:extLst>
                    <a:ext uri="{9D8B030D-6E8A-4147-A177-3AD203B41FA5}">
                      <a16:colId xmlns:a16="http://schemas.microsoft.com/office/drawing/2014/main" val="3809692368"/>
                    </a:ext>
                  </a:extLst>
                </a:gridCol>
                <a:gridCol w="2360136">
                  <a:extLst>
                    <a:ext uri="{9D8B030D-6E8A-4147-A177-3AD203B41FA5}">
                      <a16:colId xmlns:a16="http://schemas.microsoft.com/office/drawing/2014/main" val="1290123667"/>
                    </a:ext>
                  </a:extLst>
                </a:gridCol>
                <a:gridCol w="1627918">
                  <a:extLst>
                    <a:ext uri="{9D8B030D-6E8A-4147-A177-3AD203B41FA5}">
                      <a16:colId xmlns:a16="http://schemas.microsoft.com/office/drawing/2014/main" val="1029926155"/>
                    </a:ext>
                  </a:extLst>
                </a:gridCol>
              </a:tblGrid>
              <a:tr h="27039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650154"/>
                  </a:ext>
                </a:extLst>
              </a:tr>
              <a:tr h="5407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Car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$30,000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799666"/>
                  </a:ext>
                </a:extLst>
              </a:tr>
              <a:tr h="5576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sng" strike="noStrike" dirty="0">
                          <a:effectLst/>
                        </a:rPr>
                        <a:t>Sales Tax</a:t>
                      </a:r>
                      <a:endParaRPr lang="en-US" sz="2600" b="1" i="0" u="sng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sng" strike="noStrike" dirty="0">
                          <a:effectLst/>
                        </a:rPr>
                        <a:t>$1,988</a:t>
                      </a:r>
                      <a:endParaRPr lang="en-US" sz="2600" b="1" i="0" u="sng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600" u="none" strike="noStrike" dirty="0">
                          <a:effectLst/>
                        </a:rPr>
                        <a:t>@6.625%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909947"/>
                  </a:ext>
                </a:extLst>
              </a:tr>
              <a:tr h="5407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Total Price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$31,988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77057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839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73C4AC-E815-460A-92ED-0A40009F5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dirty="0"/>
              <a:t>Tax collected on the </a:t>
            </a:r>
            <a:r>
              <a:rPr lang="en-US" sz="2800" i="1" dirty="0"/>
              <a:t>value added</a:t>
            </a:r>
            <a:r>
              <a:rPr lang="en-US" sz="2800" dirty="0"/>
              <a:t> at each stage of manufacturing and selling process.</a:t>
            </a:r>
          </a:p>
          <a:p>
            <a:r>
              <a:rPr lang="en-US" sz="2800" dirty="0"/>
              <a:t>To get credit for a VAT imposed on purchases, a seller must collect/remit a VAT on its own sales.</a:t>
            </a:r>
          </a:p>
          <a:p>
            <a:r>
              <a:rPr lang="en-US" sz="2800" dirty="0"/>
              <a:t>Example: Assume a VAT of 10%.  </a:t>
            </a:r>
          </a:p>
          <a:p>
            <a:pPr lvl="1"/>
            <a:r>
              <a:rPr lang="en-US" sz="2800" dirty="0"/>
              <a:t>A logging company sells wood to a paper manufacturer for $200.  </a:t>
            </a:r>
          </a:p>
          <a:p>
            <a:pPr lvl="1"/>
            <a:r>
              <a:rPr lang="en-US" sz="2800" dirty="0"/>
              <a:t>The paper manufacturer sells it to a printing company for $500.  </a:t>
            </a:r>
          </a:p>
          <a:p>
            <a:pPr lvl="1"/>
            <a:r>
              <a:rPr lang="en-US" sz="2800" dirty="0"/>
              <a:t>The printing company prints books and sells them to a publisher for $1,000.</a:t>
            </a:r>
          </a:p>
          <a:p>
            <a:pPr lvl="1"/>
            <a:r>
              <a:rPr lang="en-US" sz="2800" dirty="0"/>
              <a:t>The publisher sells them to a retailer for $2,000.</a:t>
            </a:r>
          </a:p>
          <a:p>
            <a:pPr lvl="1"/>
            <a:r>
              <a:rPr lang="en-US" sz="2800" dirty="0"/>
              <a:t>The retailer sells the books for $3,000.</a:t>
            </a:r>
          </a:p>
          <a:p>
            <a:r>
              <a:rPr lang="en-US" sz="2800" dirty="0"/>
              <a:t>At each step, a VAT of 10% is imposed on the seller, who, in turn, can deduct any VAT it paid the purchase of its inputs.</a:t>
            </a:r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ADC7C8-E6DF-6761-C372-3C9B0DCCD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Added Tax (VAT)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39F89-E924-A0B3-80E9-494F1616C8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7AA7B-2309-D8AA-6904-70AD520CF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133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EBBCB67D-2F89-A705-68DC-59D4C8DC5A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3861220"/>
              </p:ext>
            </p:extLst>
          </p:nvPr>
        </p:nvGraphicFramePr>
        <p:xfrm>
          <a:off x="512065" y="945641"/>
          <a:ext cx="11277602" cy="3901440"/>
        </p:xfrm>
        <a:graphic>
          <a:graphicData uri="http://schemas.openxmlformats.org/drawingml/2006/table">
            <a:tbl>
              <a:tblPr/>
              <a:tblGrid>
                <a:gridCol w="1953549">
                  <a:extLst>
                    <a:ext uri="{9D8B030D-6E8A-4147-A177-3AD203B41FA5}">
                      <a16:colId xmlns:a16="http://schemas.microsoft.com/office/drawing/2014/main" val="2406399900"/>
                    </a:ext>
                  </a:extLst>
                </a:gridCol>
                <a:gridCol w="1268623">
                  <a:extLst>
                    <a:ext uri="{9D8B030D-6E8A-4147-A177-3AD203B41FA5}">
                      <a16:colId xmlns:a16="http://schemas.microsoft.com/office/drawing/2014/main" val="1228848229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044171029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2983867435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4158182302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988882808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0926358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Stage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Sale Price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/>
                        <a:t>VAT Charged (10%)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Total Price (Including VAT)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3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VAT Paid to Government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VAT Deducted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Net VAT Remitted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1097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Logging Company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177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Paper Manufacturer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$500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1671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Printing Company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$1,100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60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Book Publisher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$2,200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694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Retailer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$3,300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026864"/>
                  </a:ext>
                </a:extLst>
              </a:tr>
            </a:tbl>
          </a:graphicData>
        </a:graphic>
      </p:graphicFrame>
      <p:sp>
        <p:nvSpPr>
          <p:cNvPr id="9" name="Title 8">
            <a:extLst>
              <a:ext uri="{FF2B5EF4-FFF2-40B4-BE49-F238E27FC236}">
                <a16:creationId xmlns:a16="http://schemas.microsoft.com/office/drawing/2014/main" id="{253D7508-76E9-EB27-4436-E229EFCE5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VAT Collected in 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3B50E-B8D0-7372-12BF-2FBE08A1BC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16DDFA3-A4A6-EB71-4E13-3A8A2E6AF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0D45D1-273A-7DA7-1144-F4CA4AADE7DF}"/>
              </a:ext>
            </a:extLst>
          </p:cNvPr>
          <p:cNvSpPr txBox="1"/>
          <p:nvPr/>
        </p:nvSpPr>
        <p:spPr>
          <a:xfrm>
            <a:off x="664461" y="5285585"/>
            <a:ext cx="10790939" cy="835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Note: the total VAT paid is $300, which is the same amount paid under an RST.  The VAT is borne by the final retail customers. </a:t>
            </a:r>
          </a:p>
        </p:txBody>
      </p:sp>
    </p:spTree>
    <p:extLst>
      <p:ext uri="{BB962C8B-B14F-4D97-AF65-F5344CB8AC3E}">
        <p14:creationId xmlns:p14="http://schemas.microsoft.com/office/powerpoint/2010/main" val="3906919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3EA42F-44EE-13AE-4DF9-93D28FE1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Given that RSTs/VATs are imposed on transactions, they can’t take into account any personal characteristics of the purchaser, such as income or wealth.</a:t>
            </a:r>
          </a:p>
          <a:p>
            <a:r>
              <a:rPr lang="en-US" sz="2800" dirty="0"/>
              <a:t>RSTs and VATs must generally use a single rate, so that rich pay the same rate as poor. </a:t>
            </a:r>
          </a:p>
          <a:p>
            <a:r>
              <a:rPr lang="en-US" sz="2800" dirty="0"/>
              <a:t>Various political candidates and politicians have put forth proposals to adopt a federal VAT or RST.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E0704B-99BB-88EE-E595-5BB165FE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RSTs and VATs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C9665-C411-DE23-928B-922983CAC7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2E587-7387-5690-FB47-16D844854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355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939CA6-E25F-75EA-5062-FEC68EC86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HS income tax includes </a:t>
            </a:r>
            <a:r>
              <a:rPr lang="en-US" sz="2800" b="1" dirty="0"/>
              <a:t>both</a:t>
            </a:r>
            <a:r>
              <a:rPr lang="en-US" sz="2800" dirty="0"/>
              <a:t> consumption and savings/investments in the tax base.</a:t>
            </a:r>
          </a:p>
          <a:p>
            <a:r>
              <a:rPr lang="en-US" sz="2800" dirty="0"/>
              <a:t> Savings/investments are included in the tax base because capital expenditures are not deductible. </a:t>
            </a:r>
          </a:p>
          <a:p>
            <a:r>
              <a:rPr lang="en-US" sz="2800" dirty="0"/>
              <a:t>Under a CFCT, </a:t>
            </a:r>
            <a:r>
              <a:rPr lang="en-US" sz="2800" b="1" dirty="0"/>
              <a:t>ALL</a:t>
            </a:r>
            <a:r>
              <a:rPr lang="en-US" sz="2800" dirty="0"/>
              <a:t> cash receipts would be included in the tax base, but all outlays that were not personal consumption would be deducted.</a:t>
            </a:r>
          </a:p>
          <a:p>
            <a:pPr lvl="1"/>
            <a:r>
              <a:rPr lang="en-US" sz="2600" dirty="0"/>
              <a:t>Goal is to tax personal consumption but not investment/savings</a:t>
            </a:r>
          </a:p>
          <a:p>
            <a:pPr lvl="1"/>
            <a:r>
              <a:rPr lang="en-US" sz="2400" dirty="0"/>
              <a:t>No concept of basis (previously taxed dollars) since the purchase of all investment or business assets would be deductible in the year of purchase.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0F4F23-0FA4-9C76-44D2-B8F6234EA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Cash Flow Consumption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AB15CA-1B26-169D-0BEB-7F68CCA1A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0997-0670-FBB2-725F-FDD02F34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792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DFF0D4-FD30-346B-6119-0D6C109EE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Revenue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Business owner sells consulting services for </a:t>
            </a:r>
            <a:r>
              <a:rPr lang="en-US" b="1" dirty="0"/>
              <a:t>$500,000</a:t>
            </a:r>
            <a:r>
              <a:rPr lang="en-US" dirty="0"/>
              <a:t> (cash inflows).</a:t>
            </a:r>
          </a:p>
          <a:p>
            <a:pPr lvl="1"/>
            <a:r>
              <a:rPr lang="en-US" dirty="0"/>
              <a:t>Sells stock for </a:t>
            </a:r>
            <a:r>
              <a:rPr lang="en-US" b="1" dirty="0"/>
              <a:t>$100,000 </a:t>
            </a:r>
            <a:r>
              <a:rPr lang="en-US" dirty="0"/>
              <a:t>that he purchased for $90,000 (cash inflow).</a:t>
            </a:r>
          </a:p>
          <a:p>
            <a:r>
              <a:rPr lang="en-US" b="1" dirty="0"/>
              <a:t>Expenses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Purchases inventory: </a:t>
            </a:r>
            <a:r>
              <a:rPr lang="en-US" b="1" dirty="0"/>
              <a:t>$300,000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Pays wages: </a:t>
            </a:r>
            <a:r>
              <a:rPr lang="en-US" b="1" dirty="0"/>
              <a:t>$100,000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Pays rent and utilities: </a:t>
            </a:r>
            <a:r>
              <a:rPr lang="en-US" b="1" dirty="0"/>
              <a:t>$50,000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Purchases a machine: </a:t>
            </a:r>
            <a:r>
              <a:rPr lang="en-US" b="1" dirty="0"/>
              <a:t>$70,000</a:t>
            </a:r>
            <a:r>
              <a:rPr lang="en-US" dirty="0"/>
              <a:t> (investment, cash outflow).</a:t>
            </a:r>
          </a:p>
          <a:p>
            <a:pPr lvl="1" algn="l"/>
            <a:r>
              <a:rPr lang="en-US" dirty="0"/>
              <a:t>Purchases stock: </a:t>
            </a:r>
            <a:r>
              <a:rPr lang="en-US" b="1" dirty="0"/>
              <a:t>$20,000</a:t>
            </a:r>
            <a:r>
              <a:rPr lang="en-US" dirty="0"/>
              <a:t> (investment, cash outflow).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Total cash inflows = </a:t>
            </a:r>
            <a:r>
              <a:rPr lang="en-US" b="1" dirty="0"/>
              <a:t>$600,000</a:t>
            </a:r>
          </a:p>
          <a:p>
            <a:r>
              <a:rPr lang="en-US" dirty="0"/>
              <a:t>Total cash outflows = </a:t>
            </a:r>
            <a:r>
              <a:rPr lang="en-US" b="1" dirty="0"/>
              <a:t>$300,000 + $100,000 + $50,000 + $70,000 + $20,000 = $540,000</a:t>
            </a:r>
          </a:p>
          <a:p>
            <a:r>
              <a:rPr lang="en-US" b="1" dirty="0"/>
              <a:t>Taxable Amount = $60,000 </a:t>
            </a:r>
            <a:r>
              <a:rPr lang="en-US" dirty="0"/>
              <a:t>(spent on consumption)</a:t>
            </a:r>
            <a:endParaRPr lang="en-US" b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1B3EBA-D99C-1A59-7E67-1B9DCEF44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Cash Flow Consumption Tax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30DDF6-387A-1ED9-3D8A-4EB0CF7F2B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50407-D6D7-673E-04C7-102FE369E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89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DD20CE-3734-6157-A5C8-4CB728AEF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Differences between a CFCT and an Income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F0907-4919-0F51-4928-3D46A868B8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27466-6811-FC0E-70CA-35B438E07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27C0B4E0-2F59-DD6C-519A-796F173D7D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05491"/>
              </p:ext>
            </p:extLst>
          </p:nvPr>
        </p:nvGraphicFramePr>
        <p:xfrm>
          <a:off x="512064" y="631361"/>
          <a:ext cx="11277600" cy="546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9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11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540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Amount ($)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Income Tax Treatment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CFCT T</a:t>
                      </a:r>
                      <a:r>
                        <a:rPr sz="1800" dirty="0"/>
                        <a:t>reatment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540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Consulting Revenue</a:t>
                      </a:r>
                      <a:endParaRPr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$500,000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Taxable income.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Included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cash inflow.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Stock Sale</a:t>
                      </a:r>
                      <a:endParaRPr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$100,000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Only gain taxable (10,000)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Entire 100,000 included</a:t>
                      </a:r>
                      <a:endParaRPr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Inventory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$300,000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Deductible when inventory is sold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</a:t>
                      </a:r>
                      <a:r>
                        <a:rPr lang="en-US" sz="1800" dirty="0"/>
                        <a:t> when purchased.</a:t>
                      </a:r>
                      <a:endParaRPr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Wages Paid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Fully deductible.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Rent and Utilities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Fully deductible.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64853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Machine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Deductible through depreciation</a:t>
                      </a:r>
                      <a:r>
                        <a:rPr lang="en-US" sz="1800" dirty="0"/>
                        <a:t>; (capital expenditure)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D</a:t>
                      </a:r>
                      <a:r>
                        <a:rPr sz="1800" dirty="0"/>
                        <a:t>eductible in the year of purchase.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1579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Stock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$20,000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Not deductible </a:t>
                      </a:r>
                      <a:r>
                        <a:rPr lang="en-US" sz="1800" dirty="0"/>
                        <a:t> (capital expenditure)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8744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A0EFE8-0700-0CE1-E980-E8A4B8CEE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For employees, tax base would solely of wages, with possibly an exemption amount</a:t>
            </a:r>
          </a:p>
          <a:p>
            <a:pPr lvl="1"/>
            <a:r>
              <a:rPr lang="en-US" sz="2400" dirty="0"/>
              <a:t>All capital returns, CGs, dividends, interest, &amp; royalties would be exempt</a:t>
            </a:r>
          </a:p>
          <a:p>
            <a:r>
              <a:rPr lang="en-US" sz="2800" dirty="0"/>
              <a:t>For businesses, CFCT—tax base would be cash receipts less all business and investment outlays</a:t>
            </a:r>
          </a:p>
          <a:p>
            <a:r>
              <a:rPr lang="en-US" sz="2800" dirty="0"/>
              <a:t>Wage tax explicitly exempts capital returns</a:t>
            </a:r>
          </a:p>
          <a:p>
            <a:r>
              <a:rPr lang="en-US" sz="2800" dirty="0"/>
              <a:t>A CFCT allows investments to be deducted but taxes all investment returns</a:t>
            </a:r>
          </a:p>
          <a:p>
            <a:r>
              <a:rPr lang="en-US" sz="2800" b="1" dirty="0"/>
              <a:t>Under certain assumptions, a wage tax and a CFCT are equivalent</a:t>
            </a:r>
          </a:p>
          <a:p>
            <a:pPr lvl="1"/>
            <a:r>
              <a:rPr lang="en-US" sz="2400" dirty="0"/>
              <a:t>Constant tax rates over time</a:t>
            </a:r>
          </a:p>
          <a:p>
            <a:pPr lvl="1"/>
            <a:r>
              <a:rPr lang="en-US" sz="2400" dirty="0"/>
              <a:t> Investments yield only the expected (</a:t>
            </a:r>
            <a:r>
              <a:rPr lang="en-US" sz="2400" i="1" dirty="0"/>
              <a:t>norma</a:t>
            </a:r>
            <a:r>
              <a:rPr lang="en-US" sz="2400" dirty="0"/>
              <a:t>l) market return and not </a:t>
            </a:r>
            <a:r>
              <a:rPr lang="en-US" sz="2400" i="1" dirty="0"/>
              <a:t>a supranormal </a:t>
            </a:r>
            <a:r>
              <a:rPr lang="en-US" sz="2400" dirty="0"/>
              <a:t>return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F5619E-1122-4A0F-6406-7F499B142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Wage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B397-79FD-3EDF-1EE8-AC3583B48F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9EAB5-A272-11B8-6273-03752A5FF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6922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F9953D-E4D8-AD85-3877-DCD4C296AD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Tax Rate: 25%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Wages: $120,000 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Investment Return: 6%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Peter will invest all remaining income after any taxes and consume the entire amount, including investment gains, in Year 2.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F7354C-9A6E-9DBA-E086-2853860E8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2DBDC-FE55-2B46-0C75-9AE1DCD84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7D33D-E967-9E96-7FA3-A1EE46F92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6747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E1F84E-E175-47A6-F9C9-B4B9DA30E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2064" y="626327"/>
            <a:ext cx="3653535" cy="406576"/>
          </a:xfrm>
        </p:spPr>
        <p:txBody>
          <a:bodyPr/>
          <a:lstStyle/>
          <a:p>
            <a:r>
              <a:rPr lang="en-US" dirty="0"/>
              <a:t>Income Tax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0B7B7-22F3-78B1-5524-EFA3E514725A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361122" y="627898"/>
            <a:ext cx="3665278" cy="380392"/>
          </a:xfrm>
        </p:spPr>
        <p:txBody>
          <a:bodyPr/>
          <a:lstStyle/>
          <a:p>
            <a:r>
              <a:rPr lang="en-US" dirty="0"/>
              <a:t>Wage Tax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515797-45BB-3AF3-D353-E17DB38596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03936" y="1026913"/>
            <a:ext cx="3661663" cy="5124022"/>
          </a:xfrm>
        </p:spPr>
        <p:txBody>
          <a:bodyPr/>
          <a:lstStyle/>
          <a:p>
            <a:r>
              <a:rPr lang="en-US" sz="2000" dirty="0"/>
              <a:t>Year 1</a:t>
            </a:r>
          </a:p>
          <a:p>
            <a:pPr lvl="1"/>
            <a:r>
              <a:rPr lang="en-US" sz="2000" dirty="0"/>
              <a:t>25% tax on wages of $120,000</a:t>
            </a:r>
          </a:p>
          <a:p>
            <a:pPr lvl="1"/>
            <a:r>
              <a:rPr lang="en-US" sz="2000" dirty="0"/>
              <a:t>$30,000 taxes</a:t>
            </a:r>
          </a:p>
          <a:p>
            <a:pPr lvl="1"/>
            <a:r>
              <a:rPr lang="en-US" sz="2000" dirty="0"/>
              <a:t>Invest $90,000 in stock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Year 2</a:t>
            </a:r>
          </a:p>
          <a:p>
            <a:pPr lvl="1"/>
            <a:r>
              <a:rPr lang="en-US" sz="2000" dirty="0"/>
              <a:t>Sell stock for $95,400</a:t>
            </a:r>
          </a:p>
          <a:p>
            <a:pPr lvl="1"/>
            <a:r>
              <a:rPr lang="en-US" sz="2000" dirty="0"/>
              <a:t>Investment return of $5,400</a:t>
            </a:r>
          </a:p>
          <a:p>
            <a:pPr lvl="1"/>
            <a:r>
              <a:rPr lang="en-US" sz="2000" dirty="0"/>
              <a:t>Tax on return of  $1,350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Total ATCF</a:t>
            </a:r>
          </a:p>
          <a:p>
            <a:pPr lvl="1"/>
            <a:r>
              <a:rPr lang="en-US" sz="2000" dirty="0"/>
              <a:t>$95,400 - $1,350 or </a:t>
            </a:r>
            <a:r>
              <a:rPr lang="en-US" sz="2000" b="1" dirty="0"/>
              <a:t>$94,050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B5A6DD-51D3-F004-3D46-0D9D3A78842F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361122" y="1026912"/>
            <a:ext cx="3666603" cy="5124022"/>
          </a:xfrm>
        </p:spPr>
        <p:txBody>
          <a:bodyPr/>
          <a:lstStyle/>
          <a:p>
            <a:r>
              <a:rPr lang="en-US" sz="2000" dirty="0"/>
              <a:t>Year 1</a:t>
            </a:r>
          </a:p>
          <a:p>
            <a:pPr lvl="1"/>
            <a:r>
              <a:rPr lang="en-US" sz="2000" dirty="0"/>
              <a:t>25% tax on wages of $120,000</a:t>
            </a:r>
          </a:p>
          <a:p>
            <a:pPr lvl="1"/>
            <a:r>
              <a:rPr lang="en-US" sz="2000" dirty="0"/>
              <a:t>$30,000 taxes</a:t>
            </a:r>
          </a:p>
          <a:p>
            <a:pPr lvl="1"/>
            <a:r>
              <a:rPr lang="en-US" sz="2000" dirty="0"/>
              <a:t>Invest $90,000 in stock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Year 2</a:t>
            </a:r>
          </a:p>
          <a:p>
            <a:pPr lvl="1"/>
            <a:r>
              <a:rPr lang="en-US" sz="2000" dirty="0"/>
              <a:t>Sell stock for $95,400</a:t>
            </a:r>
          </a:p>
          <a:p>
            <a:pPr lvl="1"/>
            <a:r>
              <a:rPr lang="en-US" sz="2000" dirty="0"/>
              <a:t>Investment return of $5,400</a:t>
            </a:r>
          </a:p>
          <a:p>
            <a:pPr lvl="1"/>
            <a:r>
              <a:rPr lang="en-US" sz="2000" dirty="0"/>
              <a:t>$0 tax on return</a:t>
            </a:r>
          </a:p>
          <a:p>
            <a:pPr lvl="1"/>
            <a:endParaRPr lang="en-US" sz="2000" dirty="0"/>
          </a:p>
          <a:p>
            <a:r>
              <a:rPr lang="en-US" sz="2000" dirty="0"/>
              <a:t>Total ATCF</a:t>
            </a:r>
          </a:p>
          <a:p>
            <a:pPr lvl="1"/>
            <a:r>
              <a:rPr lang="en-US" sz="2000" b="1" dirty="0"/>
              <a:t>$95,400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FDFC2-4C0C-DB60-A92A-6E64D67D213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20596CA-42DA-54D3-091A-A282BAE4A1F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DD204A2-EAF2-6967-B0F3-2241B9F88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77061D-E898-825D-5487-932845F230AA}"/>
              </a:ext>
            </a:extLst>
          </p:cNvPr>
          <p:cNvSpPr/>
          <p:nvPr/>
        </p:nvSpPr>
        <p:spPr>
          <a:xfrm>
            <a:off x="8221923" y="596481"/>
            <a:ext cx="3653535" cy="4065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CFCT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F21C1C-1AA2-7A36-E622-2CE875651B30}"/>
              </a:ext>
            </a:extLst>
          </p:cNvPr>
          <p:cNvSpPr txBox="1"/>
          <p:nvPr/>
        </p:nvSpPr>
        <p:spPr>
          <a:xfrm>
            <a:off x="8221923" y="1026912"/>
            <a:ext cx="3666603" cy="520142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Year 1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Invest $120,000 in stock—no tax: inclusion of $120,000 minus investment of $120,000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</a:b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itchFamily="34" charset="0"/>
            </a:endParaRPr>
          </a:p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Year 2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Sell stock for $127,200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Cash flow of $127,200; investment return of $7,200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$31,800 tax on CF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itchFamily="34" charset="0"/>
            </a:endParaRPr>
          </a:p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Total ATCF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$127,200 - $31,800 =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$95,400 </a:t>
            </a:r>
          </a:p>
        </p:txBody>
      </p:sp>
    </p:spTree>
    <p:extLst>
      <p:ext uri="{BB962C8B-B14F-4D97-AF65-F5344CB8AC3E}">
        <p14:creationId xmlns:p14="http://schemas.microsoft.com/office/powerpoint/2010/main" val="2735611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5" grpId="0" uiExpand="1" build="p" animBg="1"/>
      <p:bldP spid="10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F8B8715-E294-FD86-809A-E58E1B4233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0818803"/>
              </p:ext>
            </p:extLst>
          </p:nvPr>
        </p:nvGraphicFramePr>
        <p:xfrm>
          <a:off x="893763" y="1175657"/>
          <a:ext cx="10515600" cy="428666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148415307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07026227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3545188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0792942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46459846"/>
                    </a:ext>
                  </a:extLst>
                </a:gridCol>
              </a:tblGrid>
              <a:tr h="1008498">
                <a:tc>
                  <a:txBody>
                    <a:bodyPr/>
                    <a:lstStyle/>
                    <a:p>
                      <a:r>
                        <a:rPr lang="en-US" sz="2400" b="1" dirty="0"/>
                        <a:t>Tax System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Tax in Year 1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Tax in Year 2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Total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Final Consumption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09865982"/>
                  </a:ext>
                </a:extLst>
              </a:tr>
              <a:tr h="1261174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CFCT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$31,800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$31,800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/>
                        <a:t>$95,400</a:t>
                      </a:r>
                      <a:endParaRPr lang="en-US" sz="2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652179"/>
                  </a:ext>
                </a:extLst>
              </a:tr>
              <a:tr h="1008498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Wage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$95,400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7388666"/>
                  </a:ext>
                </a:extLst>
              </a:tr>
              <a:tr h="1008498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Income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$1,350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$31,350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$94,050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277532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2D55BCA-E5F4-6686-C427-AB8D98C3C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42A76-EA38-3A24-B306-AE45FB27C3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78C95-EAB5-0B6D-DC0A-EA833472F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0489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BE3897-C789-CF1B-B00B-90160C6BC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600" b="1" dirty="0"/>
              <a:t>Equivalence of Cash-Flow and Wage Taxes</a:t>
            </a:r>
            <a:r>
              <a:rPr lang="en-US" sz="2600" dirty="0"/>
              <a:t>:</a:t>
            </a:r>
          </a:p>
          <a:p>
            <a:pPr lvl="1"/>
            <a:r>
              <a:rPr lang="en-US" sz="2600" dirty="0"/>
              <a:t>Both systems result in the same final consumption ($95,400), as neither taxes investment returns.</a:t>
            </a:r>
          </a:p>
          <a:p>
            <a:r>
              <a:rPr lang="en-US" sz="2600" b="1" dirty="0"/>
              <a:t>Income Tax Difference</a:t>
            </a:r>
            <a:r>
              <a:rPr lang="en-US" sz="2600" dirty="0"/>
              <a:t>:</a:t>
            </a:r>
          </a:p>
          <a:p>
            <a:pPr lvl="1"/>
            <a:r>
              <a:rPr lang="en-US" sz="2600" dirty="0"/>
              <a:t>Under an income tax, the investment is made with after-tax dollars, and the investment return is is included in the tax base. </a:t>
            </a:r>
          </a:p>
          <a:p>
            <a:r>
              <a:rPr lang="en-US" sz="2600" b="1" dirty="0"/>
              <a:t>Tax Timing</a:t>
            </a:r>
            <a:r>
              <a:rPr lang="en-US" sz="2600" dirty="0"/>
              <a:t>:</a:t>
            </a:r>
          </a:p>
          <a:p>
            <a:pPr lvl="1"/>
            <a:r>
              <a:rPr lang="en-US" sz="2600" b="1" dirty="0"/>
              <a:t>CFCT defers taxation until consumption occurs, while the wage tax applies the tax upfront</a:t>
            </a:r>
            <a:r>
              <a:rPr lang="en-US" sz="2600" dirty="0"/>
              <a:t>.</a:t>
            </a:r>
          </a:p>
          <a:p>
            <a:pPr lvl="1"/>
            <a:r>
              <a:rPr lang="en-US" sz="2600" dirty="0"/>
              <a:t>The income tax spreads the burden across </a:t>
            </a:r>
            <a:r>
              <a:rPr lang="en-US" sz="2600" b="1" dirty="0"/>
              <a:t>both wages and investment return</a:t>
            </a:r>
            <a:r>
              <a:rPr lang="en-US" sz="2600" dirty="0"/>
              <a:t>s.</a:t>
            </a:r>
          </a:p>
          <a:p>
            <a:endParaRPr lang="en-US" dirty="0"/>
          </a:p>
          <a:p>
            <a:r>
              <a:rPr lang="en-US" sz="2600" b="1" dirty="0"/>
              <a:t>E. Cary Brown yield exemption phenomenon</a:t>
            </a:r>
            <a:r>
              <a:rPr lang="en-US" sz="2600" dirty="0"/>
              <a:t>: exempting investment returns (wage tax) produces the same result as a CFCT under which the investment is deducted but 100% of the returns (both the original investment and capital return) are taxed.</a:t>
            </a:r>
          </a:p>
          <a:p>
            <a:endParaRPr lang="en-US" sz="2600" dirty="0"/>
          </a:p>
          <a:p>
            <a:r>
              <a:rPr lang="en-US" sz="2600" b="1" dirty="0"/>
              <a:t>Note</a:t>
            </a:r>
            <a:r>
              <a:rPr lang="en-US" sz="2600" dirty="0"/>
              <a:t>: A CFCT and wage tax don’t produce the same outcome if the investment earns supranormal returns after it is made.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25CA6F-A234-98FF-8FAD-70A3073A3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6215C-5505-B9BA-8E6A-D16FB1E77A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1BF41-464E-DE3F-E747-8398CC9E2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49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2CEA62-C015-6D0F-9770-2BF9A5DE9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b="1" dirty="0"/>
              <a:t>Individual retirement account (IRA</a:t>
            </a:r>
            <a:r>
              <a:rPr lang="en-US" dirty="0"/>
              <a:t>): deduction of investment when made; full taxation when withdrawn from account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Roth IRA</a:t>
            </a:r>
            <a:r>
              <a:rPr lang="en-US" dirty="0"/>
              <a:t>: No deduction when made; no taxation of investment return when withdrawn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Section 179 Expensing</a:t>
            </a:r>
            <a:r>
              <a:rPr lang="en-US" dirty="0"/>
              <a:t>: purchase of business equipment is immediately deductible instead of being capitalized and depreciated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Exclusion of Personal Residence Gain under §121</a:t>
            </a:r>
            <a:br>
              <a:rPr lang="en-US" b="1" dirty="0"/>
            </a:br>
            <a:endParaRPr lang="en-US" b="1" dirty="0"/>
          </a:p>
          <a:p>
            <a:pPr algn="l"/>
            <a:r>
              <a:rPr lang="en-US" b="1" dirty="0"/>
              <a:t>Exclusion of State &amp; Local bond interest under §103</a:t>
            </a:r>
            <a:br>
              <a:rPr lang="en-US" b="1" dirty="0"/>
            </a:br>
            <a:endParaRPr lang="en-US" b="1" dirty="0"/>
          </a:p>
          <a:p>
            <a:pPr algn="l"/>
            <a:r>
              <a:rPr lang="en-US" b="1" dirty="0"/>
              <a:t>Forgiveness of unrealized gains at death under §1014</a:t>
            </a:r>
            <a:br>
              <a:rPr lang="en-US" b="1" dirty="0"/>
            </a:br>
            <a:endParaRPr lang="en-US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95BD77-2571-C410-3207-1556BA316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Consumption Taxes in the IRC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95FB8-C1EA-F24D-1148-CBB0E92BE8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F946D-6B44-A153-66BE-7F1933B0A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57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E5B727-03EB-E7D0-8DC0-29BB8F40C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 an </a:t>
            </a:r>
            <a:r>
              <a:rPr lang="en-US" b="1" dirty="0"/>
              <a:t>income tax</a:t>
            </a:r>
            <a:r>
              <a:rPr lang="en-US" dirty="0"/>
              <a:t>, borrowed money is neither taxable when received nor deductible when paid.</a:t>
            </a:r>
          </a:p>
          <a:p>
            <a:pPr lvl="1"/>
            <a:r>
              <a:rPr lang="en-US" dirty="0"/>
              <a:t>Borrowing doesn’t represent a change in wealth: $ increases, but so do liabilities</a:t>
            </a:r>
          </a:p>
          <a:p>
            <a:pPr lvl="1"/>
            <a:r>
              <a:rPr lang="en-US" dirty="0"/>
              <a:t>Repayment doesn’t represent a change in wealth: $ decreases, but so do liabilities</a:t>
            </a:r>
          </a:p>
          <a:p>
            <a:pPr lvl="1"/>
            <a:r>
              <a:rPr lang="en-US" dirty="0"/>
              <a:t>Interest is a decrease in wealth and is generally deductible as business interest (§163(a)) or investment interest (§163(d)) </a:t>
            </a:r>
          </a:p>
          <a:p>
            <a:r>
              <a:rPr lang="en-US" dirty="0"/>
              <a:t>Purchases subject to an </a:t>
            </a:r>
            <a:r>
              <a:rPr lang="en-US" b="1" dirty="0"/>
              <a:t>RST</a:t>
            </a:r>
            <a:r>
              <a:rPr lang="en-US" dirty="0"/>
              <a:t> whether made with savings or borrowed money</a:t>
            </a:r>
          </a:p>
          <a:p>
            <a:r>
              <a:rPr lang="en-US" b="1" dirty="0"/>
              <a:t>Wage tax</a:t>
            </a:r>
            <a:r>
              <a:rPr lang="en-US" dirty="0"/>
              <a:t>: borrowed money not included in the tax base (not wages) but interest is not deductible—investment returns are not taxed so investment expenses are not deductible.</a:t>
            </a:r>
          </a:p>
          <a:p>
            <a:r>
              <a:rPr lang="en-US" b="1" dirty="0"/>
              <a:t>CFCT</a:t>
            </a:r>
            <a:r>
              <a:rPr lang="en-US" dirty="0"/>
              <a:t>: Borrowed funds would be includible and repayment of borrowing and interest would be deductible.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8FCC90-0BA7-4CF9-6F48-B7F88A687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474F5-F207-B77C-33F4-3CBBD4667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EE1C7-28CA-53B5-1344-8D0D583FE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639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D7D541-618D-0E5E-9C88-4EBB569FB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Applying the rules from one system (income tax) and another (wage tax) to obtain a result that is better than if only one system applied.</a:t>
            </a:r>
          </a:p>
          <a:p>
            <a:r>
              <a:rPr lang="en-US" dirty="0"/>
              <a:t>Raises issues of fairness and economic efficiency</a:t>
            </a:r>
          </a:p>
          <a:p>
            <a:r>
              <a:rPr lang="en-US" dirty="0"/>
              <a:t>Example:  borrow money to purchase an asset that benefits from consumption tax treatment.</a:t>
            </a:r>
          </a:p>
          <a:p>
            <a:pPr lvl="1"/>
            <a:r>
              <a:rPr lang="en-US" dirty="0"/>
              <a:t>Peter borrows $10K to purchase a machine that is eligible for immediate expensing under §179 (CFCT treatment).  Under §162, Peter can also deduct the interest on the borrowing since the machine is a business asset.  </a:t>
            </a:r>
          </a:p>
          <a:p>
            <a:pPr lvl="1"/>
            <a:r>
              <a:rPr lang="en-US" dirty="0"/>
              <a:t>Thus, Peter excludes the loan proceeds, deducts the cost of the machine (CFCT), and deducts the interest (not permitted under a CFCT, if debt and interest are excluded).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F2F171-527E-C9F6-9838-DE09B3771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Arbitrage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B595A-DAC1-D18C-8877-4477527757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57FB3-2802-29EC-6B60-5E1EF17A3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612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18530</TotalTime>
  <Words>1915</Words>
  <Application>Microsoft Macintosh PowerPoint</Application>
  <PresentationFormat>Widescreen</PresentationFormat>
  <Paragraphs>283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NSimSun</vt:lpstr>
      <vt:lpstr>Aptos Narrow</vt:lpstr>
      <vt:lpstr>Arial</vt:lpstr>
      <vt:lpstr>Calibri</vt:lpstr>
      <vt:lpstr>Courier New</vt:lpstr>
      <vt:lpstr>Times New Roman</vt:lpstr>
      <vt:lpstr>Verdana</vt:lpstr>
      <vt:lpstr>Wingdings</vt:lpstr>
      <vt:lpstr>Wingdings 2</vt:lpstr>
      <vt:lpstr>CG Body - Standard</vt:lpstr>
      <vt:lpstr>Federal Income Taxation Consumption Taxes</vt:lpstr>
      <vt:lpstr>Consumption Taxes</vt:lpstr>
      <vt:lpstr>Why Study Consumption Taxes?</vt:lpstr>
      <vt:lpstr>Retail Sales Tax (RST)</vt:lpstr>
      <vt:lpstr>Value Added Tax (VAT)</vt:lpstr>
      <vt:lpstr>Total VAT Collected in Example</vt:lpstr>
      <vt:lpstr>Issues with RSTs and VATs</vt:lpstr>
      <vt:lpstr>Cash Flow Consumption Tax</vt:lpstr>
      <vt:lpstr>Cash Flow Consumption Tax Example</vt:lpstr>
      <vt:lpstr>Example: Differences between a CFCT and an Income Tax</vt:lpstr>
      <vt:lpstr>Wage Tax</vt:lpstr>
      <vt:lpstr>Income, Wage, and CFCT Example</vt:lpstr>
      <vt:lpstr>Income, Wage, and CFCT Example</vt:lpstr>
      <vt:lpstr>Income, Wage, and CFCT Example</vt:lpstr>
      <vt:lpstr>Income, Wage, and CFCT Example</vt:lpstr>
      <vt:lpstr>Consumption Taxes in the IRC</vt:lpstr>
      <vt:lpstr>Debt</vt:lpstr>
      <vt:lpstr>Tax Arbitrage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Colon, Jeffrey M.</cp:lastModifiedBy>
  <cp:revision>197</cp:revision>
  <cp:lastPrinted>2020-11-30T15:41:57Z</cp:lastPrinted>
  <dcterms:created xsi:type="dcterms:W3CDTF">2016-08-01T04:04:31Z</dcterms:created>
  <dcterms:modified xsi:type="dcterms:W3CDTF">2026-01-05T20:13:22Z</dcterms:modified>
  <cp:category/>
</cp:coreProperties>
</file>