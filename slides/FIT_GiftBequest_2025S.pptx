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5"/>
  </p:notesMasterIdLst>
  <p:sldIdLst>
    <p:sldId id="295" r:id="rId2"/>
    <p:sldId id="256" r:id="rId3"/>
    <p:sldId id="296" r:id="rId4"/>
    <p:sldId id="305" r:id="rId5"/>
    <p:sldId id="297" r:id="rId6"/>
    <p:sldId id="306" r:id="rId7"/>
    <p:sldId id="298" r:id="rId8"/>
    <p:sldId id="307" r:id="rId9"/>
    <p:sldId id="310" r:id="rId10"/>
    <p:sldId id="308" r:id="rId11"/>
    <p:sldId id="304" r:id="rId12"/>
    <p:sldId id="309" r:id="rId13"/>
    <p:sldId id="311" r:id="rId14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23099"/>
    <p:restoredTop sz="96059"/>
  </p:normalViewPr>
  <p:slideViewPr>
    <p:cSldViewPr snapToGrid="0" snapToObjects="1">
      <p:cViewPr varScale="1">
        <p:scale>
          <a:sx n="131" d="100"/>
          <a:sy n="131" d="100"/>
        </p:scale>
        <p:origin x="192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DC1DB158-BAB1-5930-B714-AEF472873853}"/>
    <pc:docChg chg="modSld modMainMaster">
      <pc:chgData name="Colon, Jeffrey M." userId="615143b1-cdee-493d-9a9d-1565ce8666d9" providerId="ADAL" clId="{DC1DB158-BAB1-5930-B714-AEF472873853}" dt="2026-02-11T14:48:57.533" v="3" actId="20577"/>
      <pc:docMkLst>
        <pc:docMk/>
      </pc:docMkLst>
      <pc:sldChg chg="modSp mod">
        <pc:chgData name="Colon, Jeffrey M." userId="615143b1-cdee-493d-9a9d-1565ce8666d9" providerId="ADAL" clId="{DC1DB158-BAB1-5930-B714-AEF472873853}" dt="2026-02-11T14:48:45.556" v="1" actId="20577"/>
        <pc:sldMkLst>
          <pc:docMk/>
          <pc:sldMk cId="123558849" sldId="295"/>
        </pc:sldMkLst>
        <pc:spChg chg="mod">
          <ac:chgData name="Colon, Jeffrey M." userId="615143b1-cdee-493d-9a9d-1565ce8666d9" providerId="ADAL" clId="{DC1DB158-BAB1-5930-B714-AEF472873853}" dt="2026-02-11T14:48:45.556" v="1" actId="20577"/>
          <ac:spMkLst>
            <pc:docMk/>
            <pc:sldMk cId="123558849" sldId="295"/>
            <ac:spMk id="3" creationId="{00000000-0000-0000-0000-000000000000}"/>
          </ac:spMkLst>
        </pc:spChg>
      </pc:sldChg>
      <pc:sldMasterChg chg="modSp mod">
        <pc:chgData name="Colon, Jeffrey M." userId="615143b1-cdee-493d-9a9d-1565ce8666d9" providerId="ADAL" clId="{DC1DB158-BAB1-5930-B714-AEF472873853}" dt="2026-02-11T14:48:57.533" v="3" actId="20577"/>
        <pc:sldMasterMkLst>
          <pc:docMk/>
          <pc:sldMasterMk cId="371776349" sldId="2147483660"/>
        </pc:sldMasterMkLst>
        <pc:spChg chg="mod">
          <ac:chgData name="Colon, Jeffrey M." userId="615143b1-cdee-493d-9a9d-1565ce8666d9" providerId="ADAL" clId="{DC1DB158-BAB1-5930-B714-AEF472873853}" dt="2026-02-11T14:48:57.533" v="3" actId="20577"/>
          <ac:spMkLst>
            <pc:docMk/>
            <pc:sldMasterMk cId="371776349" sldId="2147483660"/>
            <ac:spMk id="9" creationId="{00000000-0000-0000-0000-00000000000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83BC67FA-3E26-304D-BDBD-530C6272A0E0}" type="datetimeFigureOut">
              <a:rPr lang="en-US" smtClean="0"/>
              <a:t>2/11/26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2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BF72E6F7-09F5-B04E-8141-9A414430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690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73258D-F88C-F440-AD20-53E2DCDDB8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8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2E6F7-09F5-B04E-8141-9A4144300CC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433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 b="1" smtClean="0"/>
            </a:lvl1pPr>
          </a:lstStyle>
          <a:p>
            <a:pPr>
              <a:defRPr/>
            </a:pPr>
            <a:r>
              <a:rPr lang="en-US" dirty="0"/>
              <a:t>Gifts and Bequests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Gifts and Bequests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Gifts and Bequests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22781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Gifts and Bequests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512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Gifts and Bequests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baseline="0" dirty="0">
                <a:latin typeface="+mn-lt"/>
              </a:rPr>
              <a:t>FIT_GiftBequest</a:t>
            </a:r>
            <a:r>
              <a:rPr lang="en-US" sz="800" baseline="0">
                <a:latin typeface="+mn-lt"/>
              </a:rPr>
              <a:t>_2026S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Federal Income Taxation</a:t>
            </a:r>
            <a:br>
              <a:rPr lang="en-US" dirty="0"/>
            </a:br>
            <a:r>
              <a:rPr lang="en-US" i="1" dirty="0"/>
              <a:t>Gifts and Bequests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58533" y="5013325"/>
            <a:ext cx="6858000" cy="609600"/>
          </a:xfrm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r>
              <a:rPr lang="en-US" sz="2100" b="1" dirty="0"/>
              <a:t>Prof. Colon</a:t>
            </a:r>
          </a:p>
          <a:p>
            <a:r>
              <a:rPr lang="en-US" sz="2100" b="1" dirty="0"/>
              <a:t>Spring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D80FCD-05A6-764D-BFDB-63AA23C97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Gifts and Bequests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AF7C4-7F9E-D84A-9606-10CB55E91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58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33FBF68-7D82-46C9-031C-7788E30BD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/>
              <a:t>Inter </a:t>
            </a:r>
            <a:r>
              <a:rPr lang="en-US" sz="1800" dirty="0" err="1"/>
              <a:t>vivos</a:t>
            </a:r>
            <a:r>
              <a:rPr lang="en-US" sz="1800" dirty="0"/>
              <a:t> Gifts &amp; Bequests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7B2750-8A97-E829-25F2-FA711FE96B1F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rPr lang="en-US" sz="1800" dirty="0"/>
              <a:t>Issues</a:t>
            </a:r>
            <a:endParaRPr lang="en-US" dirty="0"/>
          </a:p>
        </p:txBody>
      </p:sp>
      <p:pic>
        <p:nvPicPr>
          <p:cNvPr id="7" name="Content Placeholder 6" descr="A person giving a gift to another person&#10;&#10;Description automatically generated">
            <a:extLst>
              <a:ext uri="{FF2B5EF4-FFF2-40B4-BE49-F238E27FC236}">
                <a16:creationId xmlns:a16="http://schemas.microsoft.com/office/drawing/2014/main" id="{4F535EED-5960-9BBD-CC9E-13FBD19EED9E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3"/>
          <a:stretch>
            <a:fillRect/>
          </a:stretch>
        </p:blipFill>
        <p:spPr>
          <a:xfrm>
            <a:off x="506413" y="1692272"/>
            <a:ext cx="5387975" cy="3962406"/>
          </a:xfr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0528E35-F0B1-087E-DF37-D699E52DB5D0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r>
              <a:rPr lang="en-US" sz="2000" b="1" dirty="0"/>
              <a:t>Income tax consequences</a:t>
            </a:r>
          </a:p>
          <a:p>
            <a:pPr marL="228600" lvl="1" indent="0">
              <a:buNone/>
            </a:pPr>
            <a:endParaRPr lang="en-US" sz="2000" b="1" dirty="0"/>
          </a:p>
          <a:p>
            <a:r>
              <a:rPr lang="en-US" sz="2000" b="1" dirty="0"/>
              <a:t>Gift/Estate tax consequences</a:t>
            </a:r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Gifts and Bequests</a:t>
            </a:r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Gifts</a:t>
            </a:r>
          </a:p>
        </p:txBody>
      </p:sp>
    </p:spTree>
    <p:extLst>
      <p:ext uri="{BB962C8B-B14F-4D97-AF65-F5344CB8AC3E}">
        <p14:creationId xmlns:p14="http://schemas.microsoft.com/office/powerpoint/2010/main" val="231222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4921AB-AE17-7639-8934-77D02F586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Income Tax</a:t>
            </a:r>
          </a:p>
          <a:p>
            <a:pPr lvl="1"/>
            <a:r>
              <a:rPr lang="en-US" i="1" dirty="0"/>
              <a:t>Same dollars should not be taxed to the same person.</a:t>
            </a:r>
          </a:p>
          <a:p>
            <a:pPr lvl="1"/>
            <a:r>
              <a:rPr lang="en-US" dirty="0"/>
              <a:t>Implemented through the concept of </a:t>
            </a:r>
            <a:r>
              <a:rPr lang="en-US" b="1" dirty="0"/>
              <a:t>basis</a:t>
            </a:r>
          </a:p>
          <a:p>
            <a:pPr lvl="2"/>
            <a:r>
              <a:rPr lang="en-US" dirty="0"/>
              <a:t>I buy a stock for 100 and sell for 150.  </a:t>
            </a:r>
          </a:p>
          <a:p>
            <a:pPr lvl="2"/>
            <a:r>
              <a:rPr lang="en-US" dirty="0"/>
              <a:t>Since stock purchase is not deductible, 100 purchase is made with </a:t>
            </a:r>
            <a:r>
              <a:rPr lang="en-US" b="1" dirty="0"/>
              <a:t>after-tax dollars</a:t>
            </a:r>
            <a:r>
              <a:rPr lang="en-US" dirty="0"/>
              <a:t>, and become the basis of the stock. </a:t>
            </a:r>
          </a:p>
          <a:p>
            <a:pPr lvl="2"/>
            <a:r>
              <a:rPr lang="en-US" dirty="0"/>
              <a:t>When the stock is sold, only 50 of 150 sales price is taxed as gain.  The 100 of basis has already been taxed isn’t taxed again.</a:t>
            </a:r>
          </a:p>
          <a:p>
            <a:r>
              <a:rPr lang="en-US" dirty="0"/>
              <a:t>But in an income tax, the </a:t>
            </a:r>
            <a:r>
              <a:rPr lang="en-US" i="1" dirty="0"/>
              <a:t>same dollars can be taxed to different persons</a:t>
            </a:r>
          </a:p>
          <a:p>
            <a:pPr lvl="1"/>
            <a:r>
              <a:rPr lang="en-US" dirty="0"/>
              <a:t>I earn 1K and pay 200 of taxes.  </a:t>
            </a:r>
            <a:r>
              <a:rPr lang="en-US"/>
              <a:t>I use </a:t>
            </a:r>
            <a:r>
              <a:rPr lang="en-US" dirty="0"/>
              <a:t>100 of those 800 after-tax dollars to pay for a personal dinner at a restaurant.</a:t>
            </a:r>
          </a:p>
          <a:p>
            <a:r>
              <a:rPr lang="en-US" dirty="0"/>
              <a:t>But the </a:t>
            </a:r>
            <a:r>
              <a:rPr lang="en-US" i="1" dirty="0"/>
              <a:t>same dollars can be taxed to the same person under separate tax systems</a:t>
            </a:r>
          </a:p>
          <a:p>
            <a:pPr lvl="1"/>
            <a:r>
              <a:rPr lang="en-US" dirty="0"/>
              <a:t>I earn 10K at my job as salary, but those same 10K are subject to payroll taxes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043A9B-F6A7-0103-EBF8-46FB90BFA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Gifts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1E75E-E662-72B5-E95E-3A2BF8B0E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8A179-A96D-EA26-3C62-F31109779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Gifts and Bequests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6996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3BD92D-FE7B-AC44-DEBB-84B93FB72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000" dirty="0"/>
              <a:t>G&amp;E Exclusion amounts for 2025:</a:t>
            </a:r>
          </a:p>
          <a:p>
            <a:pPr lvl="1"/>
            <a:r>
              <a:rPr lang="en-US" sz="2800" dirty="0"/>
              <a:t>$13.99MM (S)</a:t>
            </a:r>
          </a:p>
          <a:p>
            <a:pPr lvl="1"/>
            <a:r>
              <a:rPr lang="en-US" sz="2800" dirty="0"/>
              <a:t>$27.98MM (M)</a:t>
            </a:r>
          </a:p>
          <a:p>
            <a:pPr lvl="1"/>
            <a:r>
              <a:rPr lang="en-US" sz="2800" dirty="0"/>
              <a:t>$19K/yr per done</a:t>
            </a:r>
          </a:p>
          <a:p>
            <a:pPr lvl="1"/>
            <a:r>
              <a:rPr lang="en-US" sz="2800" dirty="0"/>
              <a:t>Rates begin at 18% and reach 40%</a:t>
            </a:r>
          </a:p>
          <a:p>
            <a:r>
              <a:rPr lang="en-US" sz="3000" dirty="0"/>
              <a:t>Gift tax imposed on the donor; estate tax imposed on the transfer of  an estate</a:t>
            </a:r>
          </a:p>
          <a:p>
            <a:r>
              <a:rPr lang="en-US" sz="3000" dirty="0"/>
              <a:t>Gifts do not include direct payments for health and education (§2503(e))</a:t>
            </a:r>
          </a:p>
          <a:p>
            <a:r>
              <a:rPr lang="en-US" sz="3000" dirty="0"/>
              <a:t>Gifts do not include transfers to spouses (§2523(a))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9BE2A68-5460-89D0-9708-791919E97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b="1" i="1" dirty="0"/>
              <a:t>Unified</a:t>
            </a:r>
            <a:r>
              <a:rPr lang="en-US" sz="2400" dirty="0"/>
              <a:t> G&amp;E taxation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FD7A9A-9F05-5F11-68FC-8C3C54BE33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F69A83-17F6-1CBD-ED89-87F248088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Gifts and Bequests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1927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82492E-9046-3373-064B-9996C548F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Gross income doesn’t include property acquired by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gift or bequest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. §102(a)  </a:t>
            </a:r>
          </a:p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The basis of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property acquired by gift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is generally a carry over basis, except if the basis is greater than the FMV at the time of the gift, for the purposes of determining loss the basis is FMV. §1015(a)  </a:t>
            </a:r>
          </a:p>
          <a:p>
            <a:pPr lvl="1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What happens to any unrealized gain at the time of the gift?</a:t>
            </a:r>
          </a:p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The holding period of property acquired by gift includes the period the property was held by the donor. §1223(2)  </a:t>
            </a:r>
          </a:p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The basis of property acquired from a decedent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by bequest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is the FMV of the property at the decedent’s death. §1014(a)(1) and (b)(1).</a:t>
            </a:r>
          </a:p>
          <a:p>
            <a:pPr lvl="1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What happens to any unrealized gain at death?</a:t>
            </a:r>
          </a:p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The holding period of property acquired by bequest is long term. §1223(9)  </a:t>
            </a:r>
          </a:p>
          <a:p>
            <a:endParaRPr lang="en-US" sz="2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6F757-E837-E732-DD57-5AB50C6D6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 Taxation of Gifts and Bequests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47761-64F9-9139-6806-5044F77ECA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CC82A-DD43-BB8C-997E-C9963A30F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Gifts and Bequests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3529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77AD214-5D8B-180D-96B9-6481CE572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600" dirty="0"/>
              <a:t>Alternatives:</a:t>
            </a:r>
          </a:p>
          <a:p>
            <a:pPr lvl="1"/>
            <a:r>
              <a:rPr lang="en-US" sz="3200" dirty="0"/>
              <a:t>Include gifts as income</a:t>
            </a:r>
          </a:p>
          <a:p>
            <a:pPr lvl="1"/>
            <a:r>
              <a:rPr lang="en-US" sz="3200" dirty="0"/>
              <a:t>Include bequests as income</a:t>
            </a:r>
          </a:p>
          <a:p>
            <a:pPr lvl="1"/>
            <a:r>
              <a:rPr lang="en-US" sz="3200" dirty="0"/>
              <a:t>Make gifting a realization event</a:t>
            </a:r>
          </a:p>
          <a:p>
            <a:pPr lvl="1"/>
            <a:r>
              <a:rPr lang="en-US" sz="3200" dirty="0"/>
              <a:t>Treat bequests as a realization event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7C68200-D102-55EB-495F-427E90B3F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 Taxation of Gifts and Bequests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FC5BDF-1B1A-3654-6E37-CEDBEA02A7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5A7B2-3125-E40E-5D41-FDEB59F17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Gifts and Bequests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9739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DB909-A58B-A0DC-33C1-B8283AD34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6FD05B-6871-31BF-C507-2D0AA69C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CIR v. Duberstein</a:t>
            </a:r>
            <a:r>
              <a:rPr lang="en-US" dirty="0"/>
              <a:t>, 363 U.S. 278 (1960)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CF34D-4E5D-C23F-4FB1-FA34C9BBB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0B9B0A-0CEB-993F-957B-07A623EE9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Gifts and Bequests</a:t>
            </a:r>
            <a:endParaRPr lang="en-US" dirty="0"/>
          </a:p>
        </p:txBody>
      </p:sp>
      <p:pic>
        <p:nvPicPr>
          <p:cNvPr id="8" name="Picture 2" descr="Old Cadillac Photos, Images &amp; Pictures | Shutterstock">
            <a:extLst>
              <a:ext uri="{FF2B5EF4-FFF2-40B4-BE49-F238E27FC236}">
                <a16:creationId xmlns:a16="http://schemas.microsoft.com/office/drawing/2014/main" id="{E7D2EE10-9D41-AC6C-BCE9-36690BD5EF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73"/>
          <a:stretch/>
        </p:blipFill>
        <p:spPr bwMode="auto">
          <a:xfrm>
            <a:off x="4495800" y="1178560"/>
            <a:ext cx="2525184" cy="1859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enior executive 1950s hi-res stock photography and images ...">
            <a:extLst>
              <a:ext uri="{FF2B5EF4-FFF2-40B4-BE49-F238E27FC236}">
                <a16:creationId xmlns:a16="http://schemas.microsoft.com/office/drawing/2014/main" id="{2A326F24-5E65-C2C3-73EE-30A575875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560" y="1193800"/>
            <a:ext cx="2235200" cy="187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ffice office executives office 1950s hi-res stock ...">
            <a:extLst>
              <a:ext uri="{FF2B5EF4-FFF2-40B4-BE49-F238E27FC236}">
                <a16:creationId xmlns:a16="http://schemas.microsoft.com/office/drawing/2014/main" id="{5CB5AEE4-771A-F963-170A-D93547232A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422" y="1325880"/>
            <a:ext cx="2552700" cy="187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B1BC81-51F4-82E4-1172-CAFE27B17CF4}"/>
              </a:ext>
            </a:extLst>
          </p:cNvPr>
          <p:cNvSpPr txBox="1"/>
          <p:nvPr/>
        </p:nvSpPr>
        <p:spPr>
          <a:xfrm>
            <a:off x="702527" y="763771"/>
            <a:ext cx="4112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Duberstein (Duberstein Iron)</a:t>
            </a:r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653C0C-A724-54D7-BC23-9F20E9DC2D62}"/>
              </a:ext>
            </a:extLst>
          </p:cNvPr>
          <p:cNvSpPr txBox="1"/>
          <p:nvPr/>
        </p:nvSpPr>
        <p:spPr>
          <a:xfrm>
            <a:off x="8219100" y="687030"/>
            <a:ext cx="27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Berman (Mohawk)</a:t>
            </a:r>
            <a:endParaRPr lang="en-US" b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9A284E7-D74A-5C29-6C23-45CA4069D113}"/>
              </a:ext>
            </a:extLst>
          </p:cNvPr>
          <p:cNvCxnSpPr>
            <a:cxnSpLocks/>
          </p:cNvCxnSpPr>
          <p:nvPr/>
        </p:nvCxnSpPr>
        <p:spPr>
          <a:xfrm flipH="1">
            <a:off x="3703320" y="2153920"/>
            <a:ext cx="79248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4" descr="Senior executive 1950s hi-res stock photography and images ...">
            <a:extLst>
              <a:ext uri="{FF2B5EF4-FFF2-40B4-BE49-F238E27FC236}">
                <a16:creationId xmlns:a16="http://schemas.microsoft.com/office/drawing/2014/main" id="{2900A7EF-C6A1-F0B8-D824-B9039EAA0F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560" y="1178560"/>
            <a:ext cx="2235200" cy="187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B0E84B5-5B8D-C268-AEF8-02F6D0C5755F}"/>
              </a:ext>
            </a:extLst>
          </p:cNvPr>
          <p:cNvCxnSpPr>
            <a:cxnSpLocks/>
          </p:cNvCxnSpPr>
          <p:nvPr/>
        </p:nvCxnSpPr>
        <p:spPr>
          <a:xfrm flipH="1">
            <a:off x="7020984" y="2209800"/>
            <a:ext cx="1235937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8FB597E-271F-A8BD-7B70-57F80DE4BC99}"/>
              </a:ext>
            </a:extLst>
          </p:cNvPr>
          <p:cNvCxnSpPr/>
          <p:nvPr/>
        </p:nvCxnSpPr>
        <p:spPr>
          <a:xfrm>
            <a:off x="702527" y="3891776"/>
            <a:ext cx="1131848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2" name="Picture 8" descr="Trinity Church NYC updated their... - Trinity Church NYC">
            <a:extLst>
              <a:ext uri="{FF2B5EF4-FFF2-40B4-BE49-F238E27FC236}">
                <a16:creationId xmlns:a16="http://schemas.microsoft.com/office/drawing/2014/main" id="{A7937594-74F4-910D-8AB2-B036A6F89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0700" y="4089400"/>
            <a:ext cx="2438060" cy="217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2848CA0-4E08-D639-D58E-2C13F2FA9A18}"/>
              </a:ext>
            </a:extLst>
          </p:cNvPr>
          <p:cNvSpPr txBox="1"/>
          <p:nvPr/>
        </p:nvSpPr>
        <p:spPr>
          <a:xfrm>
            <a:off x="3996333" y="2987537"/>
            <a:ext cx="4104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Thanks for sending leads my way.  A small token of our appreciation.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D5D767F-922A-1A14-41DF-6CE9E0CD0758}"/>
              </a:ext>
            </a:extLst>
          </p:cNvPr>
          <p:cNvCxnSpPr>
            <a:cxnSpLocks/>
          </p:cNvCxnSpPr>
          <p:nvPr/>
        </p:nvCxnSpPr>
        <p:spPr>
          <a:xfrm flipH="1">
            <a:off x="6797040" y="5021416"/>
            <a:ext cx="910613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4" name="Picture 10" descr="80+ 20000 Dollars Stock Photos ...">
            <a:extLst>
              <a:ext uri="{FF2B5EF4-FFF2-40B4-BE49-F238E27FC236}">
                <a16:creationId xmlns:a16="http://schemas.microsoft.com/office/drawing/2014/main" id="{9280499C-B475-644C-AEB5-539E6A4756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5800" y="4185726"/>
            <a:ext cx="2235200" cy="1671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CB62A68-8865-D698-24E4-AE2ABAE0C388}"/>
              </a:ext>
            </a:extLst>
          </p:cNvPr>
          <p:cNvCxnSpPr>
            <a:cxnSpLocks/>
          </p:cNvCxnSpPr>
          <p:nvPr/>
        </p:nvCxnSpPr>
        <p:spPr>
          <a:xfrm flipH="1">
            <a:off x="3541026" y="5028872"/>
            <a:ext cx="910613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6" name="Picture 12" descr="About the New York State Comptroller's Office | Office of the New York  State Comptroller">
            <a:extLst>
              <a:ext uri="{FF2B5EF4-FFF2-40B4-BE49-F238E27FC236}">
                <a16:creationId xmlns:a16="http://schemas.microsoft.com/office/drawing/2014/main" id="{6F41E1FD-809E-5E2E-A6FF-4B9AF4535C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79" y="4578073"/>
            <a:ext cx="2235200" cy="129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8F8F977-E972-237F-3D52-18138A19E721}"/>
              </a:ext>
            </a:extLst>
          </p:cNvPr>
          <p:cNvSpPr txBox="1"/>
          <p:nvPr/>
        </p:nvSpPr>
        <p:spPr>
          <a:xfrm>
            <a:off x="3331762" y="5654536"/>
            <a:ext cx="4104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Thanks for service as comptroller of our RE sub.  Here’s a gratuity of 20K.</a:t>
            </a:r>
          </a:p>
        </p:txBody>
      </p:sp>
    </p:spTree>
    <p:extLst>
      <p:ext uri="{BB962C8B-B14F-4D97-AF65-F5344CB8AC3E}">
        <p14:creationId xmlns:p14="http://schemas.microsoft.com/office/powerpoint/2010/main" val="3639952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95B5FF-FFE0-FF35-23C9-17613864C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What did the court say was the most important consideration?</a:t>
            </a:r>
          </a:p>
          <a:p>
            <a:r>
              <a:rPr lang="en-US" sz="2800" dirty="0"/>
              <a:t>Did the court follow the common-law definition of gift?</a:t>
            </a:r>
          </a:p>
          <a:p>
            <a:r>
              <a:rPr lang="en-US" sz="2800" dirty="0"/>
              <a:t>Is the mere absence of a legal or moral obligation sufficient to make a transfer a gift?</a:t>
            </a:r>
          </a:p>
          <a:p>
            <a:r>
              <a:rPr lang="en-US" sz="2800" dirty="0"/>
              <a:t>How relevant is the donor’s characterization of the transfer?</a:t>
            </a:r>
          </a:p>
          <a:p>
            <a:r>
              <a:rPr lang="en-US" sz="2800" dirty="0"/>
              <a:t>What was the government’s proposed test?</a:t>
            </a:r>
          </a:p>
          <a:p>
            <a:r>
              <a:rPr lang="en-US" sz="2800" dirty="0"/>
              <a:t>How are these cases to be decided in the future?</a:t>
            </a:r>
          </a:p>
          <a:p>
            <a:r>
              <a:rPr lang="en-US" sz="2800" dirty="0"/>
              <a:t>What happened to Duberstein? Stanton?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2247DBA-E886-3070-6F82-5734D75DE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CIR v. Duberstein</a:t>
            </a:r>
            <a:r>
              <a:rPr lang="en-US" dirty="0"/>
              <a:t>, 363 U.S. 278 (1960)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D82C64-D586-1F1F-6FE0-D2DDDF4EDA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6D522-7C3D-41D2-6D61-7C5620C7B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Gifts and Bequests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9348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439A6-6F79-793E-2D1A-CE683E290B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This Court has indicated that a voluntary executed transfer of his property by one to another, without any consideration or compensation therefor, though a common-law gift, is not necessarily a “gift” within the meaning of the statute. For the Court has shown that the mere absence of a legal or moral obligation to make such a payment does not establish that it is a gift. And, importantly, if the payment proceeds primarily from “the constraining force of any moral or legal duty,” or from “the incentive of anticipated benefit” of an economic nature, it is not a gift. And, conversely, “where the payment is in return for services rendered, it is irrelevant that the donor derives no economic benefit from it.” </a:t>
            </a:r>
            <a:r>
              <a:rPr lang="en-US" b="1" i="1" dirty="0"/>
              <a:t>A gift in the statutory sense, on the other hand, proceeds from a “detached and disinterested generosity,” “out of affection, respect, admiration, charity or like impulses.”</a:t>
            </a:r>
            <a:r>
              <a:rPr lang="en-US" i="1" dirty="0"/>
              <a:t>  </a:t>
            </a:r>
            <a:r>
              <a:rPr lang="en-US" b="1" i="1" dirty="0"/>
              <a:t>And in this regard, the most critical consideration, as the Court was agreed in the leading case here, is the transferor’s “intention.” 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42171A-4288-6C40-BDD0-667B6DBEC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CIR v. Duberstein</a:t>
            </a:r>
            <a:r>
              <a:rPr lang="en-US" dirty="0"/>
              <a:t>, 363 U.S. 278 (1960)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7CE5EB-5740-9540-DCC3-26BAF9E852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A26FE-8B91-90E6-5CD1-3421E84AE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Gifts and Bequests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4121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B78285-1DED-2B9F-ABDE-DF45F008D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/>
              <a:t>Section 274(b)(1):  no deduction under </a:t>
            </a:r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§162 or §212 for gift (under §102) that exceed $25/year.  </a:t>
            </a:r>
          </a:p>
          <a:p>
            <a:pPr lvl="1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Excludes items costing less than $4 on which the TP’s name is imprinted, or</a:t>
            </a:r>
          </a:p>
          <a:p>
            <a:pPr lvl="1"/>
            <a:r>
              <a:rPr lang="en-US" sz="2800" dirty="0"/>
              <a:t> Excludes sign, display rack or other promotional materials used on the business premises of recipient.</a:t>
            </a:r>
          </a:p>
          <a:p>
            <a:pPr lvl="1"/>
            <a:endParaRPr lang="en-US" sz="2800" dirty="0"/>
          </a:p>
          <a:p>
            <a:r>
              <a:rPr lang="en-US" sz="3200" dirty="0"/>
              <a:t>Section 102(c): amounts transferred from employer to employee can’t be excluded as gifts, unless it constitutes</a:t>
            </a:r>
            <a:r>
              <a:rPr lang="en-US" sz="2800" dirty="0"/>
              <a:t>: </a:t>
            </a:r>
          </a:p>
          <a:p>
            <a:pPr lvl="1"/>
            <a:r>
              <a:rPr lang="en-US" sz="2800" dirty="0"/>
              <a:t>(1) an employee achievement award under §74(c), or </a:t>
            </a:r>
          </a:p>
          <a:p>
            <a:pPr lvl="1"/>
            <a:r>
              <a:rPr lang="en-US" sz="2800" dirty="0"/>
              <a:t>(2) an excludible fringe under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§132(e)</a:t>
            </a:r>
            <a:endParaRPr lang="en-US" sz="2800" dirty="0"/>
          </a:p>
          <a:p>
            <a:pPr marL="0" indent="0">
              <a:buNone/>
            </a:pPr>
            <a:endParaRPr lang="en-US" sz="2600" dirty="0"/>
          </a:p>
          <a:p>
            <a:pPr lvl="1"/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F8BEA5-30D1-D8A7-D46A-087B35FC0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Consequences of </a:t>
            </a:r>
            <a:r>
              <a:rPr lang="en-US" i="1" dirty="0"/>
              <a:t>Duberstein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B4F386-8ED5-FE50-8F27-489C3004FC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8B7C5-3E1C-2BE9-0C4E-A6C3EF224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Gifts and Bequests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600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AEB61A5-DD11-3DFF-4ED4-8E827C69C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Jue-Ya Yang v. CIR, TC Sum. Op. 2008-156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2859C-4E27-21EE-B742-4D8E0D726F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6F9DD-CA4E-A433-9018-2D10806DA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Gifts and Bequests</a:t>
            </a:r>
            <a:endParaRPr lang="en-US" dirty="0"/>
          </a:p>
        </p:txBody>
      </p:sp>
      <p:pic>
        <p:nvPicPr>
          <p:cNvPr id="2050" name="Picture 2" descr="10000 Cash Being Stacked On Table Stock ...">
            <a:extLst>
              <a:ext uri="{FF2B5EF4-FFF2-40B4-BE49-F238E27FC236}">
                <a16:creationId xmlns:a16="http://schemas.microsoft.com/office/drawing/2014/main" id="{7047EC4F-1896-D9CD-AF8A-8F5817F11B9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1120" y="1922780"/>
            <a:ext cx="2143760" cy="1498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2B3B66D-0102-DBE7-16A1-3A8A60C46150}"/>
              </a:ext>
            </a:extLst>
          </p:cNvPr>
          <p:cNvCxnSpPr>
            <a:cxnSpLocks/>
          </p:cNvCxnSpPr>
          <p:nvPr/>
        </p:nvCxnSpPr>
        <p:spPr>
          <a:xfrm flipH="1">
            <a:off x="3962400" y="2687252"/>
            <a:ext cx="79248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4479B81-1758-64FB-3247-F0B5446512E4}"/>
              </a:ext>
            </a:extLst>
          </p:cNvPr>
          <p:cNvCxnSpPr>
            <a:cxnSpLocks/>
          </p:cNvCxnSpPr>
          <p:nvPr/>
        </p:nvCxnSpPr>
        <p:spPr>
          <a:xfrm flipH="1">
            <a:off x="7630160" y="2656772"/>
            <a:ext cx="79248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 descr="1099 Form 2024 PDF (NEC or MISC) With Simple Instructions | OnPay">
            <a:extLst>
              <a:ext uri="{FF2B5EF4-FFF2-40B4-BE49-F238E27FC236}">
                <a16:creationId xmlns:a16="http://schemas.microsoft.com/office/drawing/2014/main" id="{AA621CC5-E8AD-F7E8-99C7-2969373C8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4880" y="3927449"/>
            <a:ext cx="3751263" cy="2019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Untitled (Calligraphy) – Works – eMuseum">
            <a:extLst>
              <a:ext uri="{FF2B5EF4-FFF2-40B4-BE49-F238E27FC236}">
                <a16:creationId xmlns:a16="http://schemas.microsoft.com/office/drawing/2014/main" id="{334FAD45-BE2C-A93F-D485-D5D1AB96C3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9171" y="1922780"/>
            <a:ext cx="1703229" cy="149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0C67A67-E9C0-E726-8CE9-1B0D4DB0A52F}"/>
              </a:ext>
            </a:extLst>
          </p:cNvPr>
          <p:cNvCxnSpPr>
            <a:cxnSpLocks/>
            <a:stCxn id="2054" idx="2"/>
            <a:endCxn id="2052" idx="0"/>
          </p:cNvCxnSpPr>
          <p:nvPr/>
        </p:nvCxnSpPr>
        <p:spPr>
          <a:xfrm flipH="1">
            <a:off x="9170512" y="3421380"/>
            <a:ext cx="290274" cy="506069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E4C1416-807A-1E62-9EC2-E38EEE2DCE05}"/>
              </a:ext>
            </a:extLst>
          </p:cNvPr>
          <p:cNvCxnSpPr>
            <a:cxnSpLocks/>
          </p:cNvCxnSpPr>
          <p:nvPr/>
        </p:nvCxnSpPr>
        <p:spPr>
          <a:xfrm flipH="1">
            <a:off x="6502400" y="4909459"/>
            <a:ext cx="79248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6" name="Picture 8" descr="IRS: Hack Much Wider Than First Thought ...">
            <a:extLst>
              <a:ext uri="{FF2B5EF4-FFF2-40B4-BE49-F238E27FC236}">
                <a16:creationId xmlns:a16="http://schemas.microsoft.com/office/drawing/2014/main" id="{127B21CF-F391-EC7D-B372-4AD4439D7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4880" y="4356847"/>
            <a:ext cx="1667351" cy="1336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5" descr="A person with flowers in her hair&#10;&#10;AI-generated content may be incorrect.">
            <a:extLst>
              <a:ext uri="{FF2B5EF4-FFF2-40B4-BE49-F238E27FC236}">
                <a16:creationId xmlns:a16="http://schemas.microsoft.com/office/drawing/2014/main" id="{5AA7F3A6-11A8-096D-77E1-1F7D861831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7735" y="1917701"/>
            <a:ext cx="2143760" cy="15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1695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82CC86-B145-A618-2D29-099BBAC3C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 err="1"/>
              <a:t>Olk</a:t>
            </a:r>
            <a:r>
              <a:rPr lang="en-US" i="1" dirty="0"/>
              <a:t> v. US</a:t>
            </a:r>
            <a:r>
              <a:rPr lang="en-US" dirty="0"/>
              <a:t>, 536 F.2d 876 (9</a:t>
            </a:r>
            <a:r>
              <a:rPr lang="en-US" baseline="30000" dirty="0"/>
              <a:t>th</a:t>
            </a:r>
            <a:r>
              <a:rPr lang="en-US" dirty="0"/>
              <a:t> Cir. 1976)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69878-D096-FC65-4596-73D7A63A1F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0AFDC1-3F75-FBA6-DDD6-6FBA74A9C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Gifts and Bequests</a:t>
            </a:r>
            <a:endParaRPr lang="en-US" dirty="0"/>
          </a:p>
        </p:txBody>
      </p:sp>
      <p:pic>
        <p:nvPicPr>
          <p:cNvPr id="3074" name="Picture 2" descr="14 Croupiers Tool Stock Photos, High-Res Pictures, and ...">
            <a:extLst>
              <a:ext uri="{FF2B5EF4-FFF2-40B4-BE49-F238E27FC236}">
                <a16:creationId xmlns:a16="http://schemas.microsoft.com/office/drawing/2014/main" id="{F708863E-E873-B37B-5ABA-5CD811A3D88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4625" y="3378922"/>
            <a:ext cx="2821940" cy="2629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Americans are getting tired of tipping ...">
            <a:extLst>
              <a:ext uri="{FF2B5EF4-FFF2-40B4-BE49-F238E27FC236}">
                <a16:creationId xmlns:a16="http://schemas.microsoft.com/office/drawing/2014/main" id="{B04027F9-9A24-9517-E74B-145CECFBD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3224" y="1015922"/>
            <a:ext cx="2893341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Diverse Group Of People Playing Craps ...">
            <a:extLst>
              <a:ext uri="{FF2B5EF4-FFF2-40B4-BE49-F238E27FC236}">
                <a16:creationId xmlns:a16="http://schemas.microsoft.com/office/drawing/2014/main" id="{FCE439D3-5C90-7D2B-8119-A13933960C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7361" y="2136531"/>
            <a:ext cx="3492500" cy="2324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5F33C4-4157-590F-E193-8E6A38EAF423}"/>
              </a:ext>
            </a:extLst>
          </p:cNvPr>
          <p:cNvCxnSpPr>
            <a:cxnSpLocks/>
            <a:stCxn id="3078" idx="3"/>
            <a:endCxn id="3076" idx="1"/>
          </p:cNvCxnSpPr>
          <p:nvPr/>
        </p:nvCxnSpPr>
        <p:spPr>
          <a:xfrm flipV="1">
            <a:off x="4759861" y="2082722"/>
            <a:ext cx="1223363" cy="12158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47454A5-E0E1-56EA-AC8E-E93FA63AEC2A}"/>
              </a:ext>
            </a:extLst>
          </p:cNvPr>
          <p:cNvCxnSpPr>
            <a:cxnSpLocks/>
            <a:stCxn id="3078" idx="3"/>
            <a:endCxn id="3074" idx="1"/>
          </p:cNvCxnSpPr>
          <p:nvPr/>
        </p:nvCxnSpPr>
        <p:spPr>
          <a:xfrm>
            <a:off x="4759861" y="3298581"/>
            <a:ext cx="1294764" cy="1395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30319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706E420-0AFA-6F93-F1D7-D4E04D582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Amounts received under a life insurance contract are exempt from gross income if such amounts are paid by reason of the death of the insured. 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§101(a)(1).</a:t>
            </a:r>
          </a:p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If a life insurance contract is transferred for valuable consideration, the transferee can exclude only the amounts paid plus any premiums paid by the transferee. </a:t>
            </a:r>
            <a:r>
              <a:rPr lang="en-US" sz="2400">
                <a:latin typeface="Calibri" panose="020F0502020204030204" pitchFamily="34" charset="0"/>
                <a:cs typeface="Calibri" panose="020F0502020204030204" pitchFamily="34" charset="0"/>
              </a:rPr>
              <a:t>§101(a)(2).</a:t>
            </a:r>
            <a:endParaRPr lang="en-US" sz="24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28CE72-23F6-A3E6-3557-D8B3A96C0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 Insurance Proceeds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232890-7007-B838-056F-B8CE053AC4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AD1D17-9097-B051-F5B6-34B62277C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Gifts and Bequests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416058"/>
      </p:ext>
    </p:extLst>
  </p:cSld>
  <p:clrMapOvr>
    <a:masterClrMapping/>
  </p:clrMapOvr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22012</TotalTime>
  <Words>1077</Words>
  <Application>Microsoft Macintosh PowerPoint</Application>
  <PresentationFormat>Widescreen</PresentationFormat>
  <Paragraphs>102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NSimSun</vt:lpstr>
      <vt:lpstr>Arial</vt:lpstr>
      <vt:lpstr>Calibri</vt:lpstr>
      <vt:lpstr>Courier New</vt:lpstr>
      <vt:lpstr>Times New Roman</vt:lpstr>
      <vt:lpstr>Wingdings</vt:lpstr>
      <vt:lpstr>Wingdings 2</vt:lpstr>
      <vt:lpstr>CG Body - Standard</vt:lpstr>
      <vt:lpstr>Federal Income Taxation Gifts and Bequests</vt:lpstr>
      <vt:lpstr>Gifts</vt:lpstr>
      <vt:lpstr>Gifts</vt:lpstr>
      <vt:lpstr>Unified G&amp;E taxation</vt:lpstr>
      <vt:lpstr>Income Taxation of Gifts and Bequests</vt:lpstr>
      <vt:lpstr>Income Taxation of Gifts and Bequests</vt:lpstr>
      <vt:lpstr>CIR v. Duberstein, 363 U.S. 278 (1960)</vt:lpstr>
      <vt:lpstr>CIR v. Duberstein, 363 U.S. 278 (1960)</vt:lpstr>
      <vt:lpstr>CIR v. Duberstein, 363 U.S. 278 (1960)</vt:lpstr>
      <vt:lpstr>Consequences of Duberstein</vt:lpstr>
      <vt:lpstr>Jue-Ya Yang v. CIR, TC Sum. Op. 2008-156</vt:lpstr>
      <vt:lpstr>Olk v. US, 536 F.2d 876 (9th Cir. 1976) </vt:lpstr>
      <vt:lpstr>Life Insurance Proceeds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J Colon</dc:creator>
  <cp:keywords/>
  <dc:description/>
  <cp:lastModifiedBy>Colon, Jeffrey M.</cp:lastModifiedBy>
  <cp:revision>197</cp:revision>
  <cp:lastPrinted>2020-11-30T15:41:57Z</cp:lastPrinted>
  <dcterms:created xsi:type="dcterms:W3CDTF">2016-08-01T04:04:31Z</dcterms:created>
  <dcterms:modified xsi:type="dcterms:W3CDTF">2026-02-11T14:48:59Z</dcterms:modified>
  <cp:category/>
</cp:coreProperties>
</file>