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sldIdLst>
    <p:sldId id="257" r:id="rId2"/>
    <p:sldId id="258" r:id="rId3"/>
    <p:sldId id="273" r:id="rId4"/>
    <p:sldId id="275" r:id="rId5"/>
    <p:sldId id="259" r:id="rId6"/>
    <p:sldId id="274" r:id="rId7"/>
    <p:sldId id="276" r:id="rId8"/>
    <p:sldId id="285" r:id="rId9"/>
    <p:sldId id="260" r:id="rId10"/>
    <p:sldId id="277" r:id="rId11"/>
    <p:sldId id="278" r:id="rId12"/>
    <p:sldId id="279" r:id="rId13"/>
    <p:sldId id="281" r:id="rId14"/>
    <p:sldId id="280" r:id="rId15"/>
    <p:sldId id="28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FA9A83-6E0E-214C-BF77-7B412B1C9332}" v="116" dt="2026-09-20T13:40:33.5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09"/>
    <p:restoredTop sz="94697"/>
  </p:normalViewPr>
  <p:slideViewPr>
    <p:cSldViewPr snapToGrid="0">
      <p:cViewPr>
        <p:scale>
          <a:sx n="145" d="100"/>
          <a:sy n="145" d="100"/>
        </p:scale>
        <p:origin x="752" y="7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addSld modSld modMainMaster">
      <pc:chgData name="Colon, Jeffrey M." userId="615143b1-cdee-493d-9a9d-1565ce8666d9" providerId="ADAL" clId="{DC1DB158-BAB1-5930-B714-AEF472873853}" dt="2026-09-20T14:51:30.189" v="475" actId="20577"/>
      <pc:docMkLst>
        <pc:docMk/>
      </pc:docMkLst>
      <pc:sldChg chg="addSp delSp modSp mod modAnim">
        <pc:chgData name="Colon, Jeffrey M." userId="615143b1-cdee-493d-9a9d-1565ce8666d9" providerId="ADAL" clId="{DC1DB158-BAB1-5930-B714-AEF472873853}" dt="2026-09-20T13:40:33.501" v="294" actId="20577"/>
        <pc:sldMkLst>
          <pc:docMk/>
          <pc:sldMk cId="2381105673" sldId="260"/>
        </pc:sldMkLst>
        <pc:spChg chg="mod">
          <ac:chgData name="Colon, Jeffrey M." userId="615143b1-cdee-493d-9a9d-1565ce8666d9" providerId="ADAL" clId="{DC1DB158-BAB1-5930-B714-AEF472873853}" dt="2026-09-20T13:40:33.501" v="294" actId="20577"/>
          <ac:spMkLst>
            <pc:docMk/>
            <pc:sldMk cId="2381105673" sldId="260"/>
            <ac:spMk id="2" creationId="{E6721911-1DB8-4868-8DAB-5E0FB2C8D2C7}"/>
          </ac:spMkLst>
        </pc:spChg>
        <pc:spChg chg="add del mod">
          <ac:chgData name="Colon, Jeffrey M." userId="615143b1-cdee-493d-9a9d-1565ce8666d9" providerId="ADAL" clId="{DC1DB158-BAB1-5930-B714-AEF472873853}" dt="2026-09-20T13:25:33.188" v="244"/>
          <ac:spMkLst>
            <pc:docMk/>
            <pc:sldMk cId="2381105673" sldId="260"/>
            <ac:spMk id="6" creationId="{F527A7B3-43B0-8EBE-FA15-D4EDB22013DC}"/>
          </ac:spMkLst>
        </pc:spChg>
      </pc:sldChg>
      <pc:sldChg chg="modSp mod">
        <pc:chgData name="Colon, Jeffrey M." userId="615143b1-cdee-493d-9a9d-1565ce8666d9" providerId="ADAL" clId="{DC1DB158-BAB1-5930-B714-AEF472873853}" dt="2026-09-20T13:06:40.481" v="18" actId="1076"/>
        <pc:sldMkLst>
          <pc:docMk/>
          <pc:sldMk cId="267091755" sldId="274"/>
        </pc:sldMkLst>
        <pc:spChg chg="mod">
          <ac:chgData name="Colon, Jeffrey M." userId="615143b1-cdee-493d-9a9d-1565ce8666d9" providerId="ADAL" clId="{DC1DB158-BAB1-5930-B714-AEF472873853}" dt="2026-09-20T13:06:15.909" v="17" actId="6549"/>
          <ac:spMkLst>
            <pc:docMk/>
            <pc:sldMk cId="267091755" sldId="274"/>
            <ac:spMk id="6" creationId="{2742153C-7E3E-70DF-F606-0A622A942AD2}"/>
          </ac:spMkLst>
        </pc:spChg>
        <pc:picChg chg="mod">
          <ac:chgData name="Colon, Jeffrey M." userId="615143b1-cdee-493d-9a9d-1565ce8666d9" providerId="ADAL" clId="{DC1DB158-BAB1-5930-B714-AEF472873853}" dt="2026-09-20T13:06:40.481" v="18" actId="1076"/>
          <ac:picMkLst>
            <pc:docMk/>
            <pc:sldMk cId="267091755" sldId="274"/>
            <ac:picMk id="1026" creationId="{7074066D-5F72-7DC6-C3BD-AF12DE48FCCD}"/>
          </ac:picMkLst>
        </pc:picChg>
        <pc:cxnChg chg="mod">
          <ac:chgData name="Colon, Jeffrey M." userId="615143b1-cdee-493d-9a9d-1565ce8666d9" providerId="ADAL" clId="{DC1DB158-BAB1-5930-B714-AEF472873853}" dt="2026-09-20T13:06:40.481" v="18" actId="1076"/>
          <ac:cxnSpMkLst>
            <pc:docMk/>
            <pc:sldMk cId="267091755" sldId="274"/>
            <ac:cxnSpMk id="8" creationId="{C873F8F1-843F-E780-267E-B161EE1289D2}"/>
          </ac:cxnSpMkLst>
        </pc:cxnChg>
      </pc:sldChg>
      <pc:sldChg chg="modSp mod">
        <pc:chgData name="Colon, Jeffrey M." userId="615143b1-cdee-493d-9a9d-1565ce8666d9" providerId="ADAL" clId="{DC1DB158-BAB1-5930-B714-AEF472873853}" dt="2026-09-20T13:09:01.111" v="62" actId="20577"/>
        <pc:sldMkLst>
          <pc:docMk/>
          <pc:sldMk cId="1387834988" sldId="276"/>
        </pc:sldMkLst>
        <pc:spChg chg="mod">
          <ac:chgData name="Colon, Jeffrey M." userId="615143b1-cdee-493d-9a9d-1565ce8666d9" providerId="ADAL" clId="{DC1DB158-BAB1-5930-B714-AEF472873853}" dt="2026-09-20T13:09:01.111" v="62" actId="20577"/>
          <ac:spMkLst>
            <pc:docMk/>
            <pc:sldMk cId="1387834988" sldId="276"/>
            <ac:spMk id="3" creationId="{3A8E3FDB-331B-E0E2-22A2-8F5033A4DE6A}"/>
          </ac:spMkLst>
        </pc:spChg>
      </pc:sldChg>
      <pc:sldChg chg="modSp mod">
        <pc:chgData name="Colon, Jeffrey M." userId="615143b1-cdee-493d-9a9d-1565ce8666d9" providerId="ADAL" clId="{DC1DB158-BAB1-5930-B714-AEF472873853}" dt="2026-09-20T13:45:59.359" v="298" actId="20577"/>
        <pc:sldMkLst>
          <pc:docMk/>
          <pc:sldMk cId="1902281013" sldId="277"/>
        </pc:sldMkLst>
        <pc:spChg chg="mod">
          <ac:chgData name="Colon, Jeffrey M." userId="615143b1-cdee-493d-9a9d-1565ce8666d9" providerId="ADAL" clId="{DC1DB158-BAB1-5930-B714-AEF472873853}" dt="2026-09-20T13:45:59.359" v="298" actId="20577"/>
          <ac:spMkLst>
            <pc:docMk/>
            <pc:sldMk cId="1902281013" sldId="277"/>
            <ac:spMk id="12" creationId="{F383FFDE-0830-E915-AD40-293F1EFD9003}"/>
          </ac:spMkLst>
        </pc:spChg>
      </pc:sldChg>
      <pc:sldChg chg="modSp new mod">
        <pc:chgData name="Colon, Jeffrey M." userId="615143b1-cdee-493d-9a9d-1565ce8666d9" providerId="ADAL" clId="{DC1DB158-BAB1-5930-B714-AEF472873853}" dt="2026-09-20T14:51:30.189" v="475" actId="20577"/>
        <pc:sldMkLst>
          <pc:docMk/>
          <pc:sldMk cId="1860664680" sldId="285"/>
        </pc:sldMkLst>
        <pc:spChg chg="mod">
          <ac:chgData name="Colon, Jeffrey M." userId="615143b1-cdee-493d-9a9d-1565ce8666d9" providerId="ADAL" clId="{DC1DB158-BAB1-5930-B714-AEF472873853}" dt="2026-09-20T14:51:30.189" v="475" actId="20577"/>
          <ac:spMkLst>
            <pc:docMk/>
            <pc:sldMk cId="1860664680" sldId="285"/>
            <ac:spMk id="2" creationId="{59F95B94-0320-4327-F068-C2B023A51D3E}"/>
          </ac:spMkLst>
        </pc:spChg>
        <pc:spChg chg="mod">
          <ac:chgData name="Colon, Jeffrey M." userId="615143b1-cdee-493d-9a9d-1565ce8666d9" providerId="ADAL" clId="{DC1DB158-BAB1-5930-B714-AEF472873853}" dt="2026-09-20T13:12:32.047" v="100" actId="20577"/>
          <ac:spMkLst>
            <pc:docMk/>
            <pc:sldMk cId="1860664680" sldId="285"/>
            <ac:spMk id="3" creationId="{A464C86A-DE3F-DA83-2B0A-3E8D6599635B}"/>
          </ac:spMkLst>
        </pc:spChg>
      </pc:sldChg>
      <pc:sldMasterChg chg="modSp mod">
        <pc:chgData name="Colon, Jeffrey M." userId="615143b1-cdee-493d-9a9d-1565ce8666d9" providerId="ADAL" clId="{DC1DB158-BAB1-5930-B714-AEF472873853}" dt="2026-09-20T12:42:11.227" v="1" actId="20577"/>
        <pc:sldMasterMkLst>
          <pc:docMk/>
          <pc:sldMasterMk cId="1537555728" sldId="2147483660"/>
        </pc:sldMasterMkLst>
        <pc:spChg chg="mod">
          <ac:chgData name="Colon, Jeffrey M." userId="615143b1-cdee-493d-9a9d-1565ce8666d9" providerId="ADAL" clId="{DC1DB158-BAB1-5930-B714-AEF472873853}" dt="2026-09-20T12:42:11.227" v="1" actId="20577"/>
          <ac:spMkLst>
            <pc:docMk/>
            <pc:sldMasterMk cId="1537555728" sldId="2147483660"/>
            <ac:spMk id="9" creationId="{00000000-0000-0000-0000-000000000000}"/>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19C13-83C7-C142-A0E0-2CE421C66A23}" type="datetimeFigureOut">
              <a:rPr lang="en-US" smtClean="0"/>
              <a:t>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4D6A9A-4118-0340-8280-04DFC6034619}" type="slidenum">
              <a:rPr lang="en-US" smtClean="0"/>
              <a:t>‹#›</a:t>
            </a:fld>
            <a:endParaRPr lang="en-US"/>
          </a:p>
        </p:txBody>
      </p:sp>
    </p:spTree>
    <p:extLst>
      <p:ext uri="{BB962C8B-B14F-4D97-AF65-F5344CB8AC3E}">
        <p14:creationId xmlns:p14="http://schemas.microsoft.com/office/powerpoint/2010/main" val="277320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4D6A9A-4118-0340-8280-04DFC6034619}" type="slidenum">
              <a:rPr lang="en-US" smtClean="0"/>
              <a:t>13</a:t>
            </a:fld>
            <a:endParaRPr lang="en-US"/>
          </a:p>
        </p:txBody>
      </p:sp>
    </p:spTree>
    <p:extLst>
      <p:ext uri="{BB962C8B-B14F-4D97-AF65-F5344CB8AC3E}">
        <p14:creationId xmlns:p14="http://schemas.microsoft.com/office/powerpoint/2010/main" val="1846231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12192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4165600" y="6474735"/>
            <a:ext cx="3860800" cy="288925"/>
          </a:xfrm>
        </p:spPr>
        <p:txBody>
          <a:bodyPr/>
          <a:lstStyle>
            <a:lvl1pPr>
              <a:defRPr smtClean="0"/>
            </a:lvl1pPr>
          </a:lstStyle>
          <a:p>
            <a:pPr>
              <a:defRPr/>
            </a:pPr>
            <a:r>
              <a:rPr lang="en-US" dirty="0"/>
              <a:t>Residual Income</a:t>
            </a:r>
          </a:p>
        </p:txBody>
      </p:sp>
      <p:sp>
        <p:nvSpPr>
          <p:cNvPr id="5" name="TextBox 4">
            <a:extLst>
              <a:ext uri="{FF2B5EF4-FFF2-40B4-BE49-F238E27FC236}">
                <a16:creationId xmlns:a16="http://schemas.microsoft.com/office/drawing/2014/main" id="{75D09194-847F-BEB4-1ACD-8BF1425C0667}"/>
              </a:ext>
            </a:extLst>
          </p:cNvPr>
          <p:cNvSpPr txBox="1"/>
          <p:nvPr userDrawn="1"/>
        </p:nvSpPr>
        <p:spPr>
          <a:xfrm>
            <a:off x="574907" y="6631259"/>
            <a:ext cx="184731" cy="369332"/>
          </a:xfrm>
          <a:prstGeom prst="rect">
            <a:avLst/>
          </a:prstGeom>
          <a:noFill/>
        </p:spPr>
        <p:txBody>
          <a:bodyPr wrap="none" rtlCol="0">
            <a:spAutoFit/>
          </a:bodyPr>
          <a:lstStyle/>
          <a:p>
            <a:endParaRPr lang="en-US" sz="1800" dirty="0"/>
          </a:p>
        </p:txBody>
      </p:sp>
    </p:spTree>
    <p:extLst>
      <p:ext uri="{BB962C8B-B14F-4D97-AF65-F5344CB8AC3E}">
        <p14:creationId xmlns:p14="http://schemas.microsoft.com/office/powerpoint/2010/main" val="375159471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512064" y="533400"/>
            <a:ext cx="112776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18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18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6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6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5"/>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2000" b="1"/>
            </a:lvl1pPr>
          </a:lstStyle>
          <a:p>
            <a:pPr lvl="0"/>
            <a:r>
              <a:rPr lang="en-US" dirty="0"/>
              <a:t>Click to edit Master title style</a:t>
            </a:r>
          </a:p>
        </p:txBody>
      </p:sp>
      <p:sp>
        <p:nvSpPr>
          <p:cNvPr id="5" name="Slide Number Placeholder 9"/>
          <p:cNvSpPr>
            <a:spLocks noGrp="1"/>
          </p:cNvSpPr>
          <p:nvPr>
            <p:ph type="sldNum" sz="quarter" idx="10"/>
          </p:nvPr>
        </p:nvSpPr>
        <p:spPr>
          <a:xfrm>
            <a:off x="11180064" y="6471107"/>
            <a:ext cx="6096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a:t>Residual Income</a:t>
            </a:r>
            <a:endParaRPr lang="en-US" dirty="0"/>
          </a:p>
        </p:txBody>
      </p:sp>
      <p:sp>
        <p:nvSpPr>
          <p:cNvPr id="8" name="Rectangle 7"/>
          <p:cNvSpPr/>
          <p:nvPr userDrawn="1"/>
        </p:nvSpPr>
        <p:spPr>
          <a:xfrm>
            <a:off x="512064" y="407061"/>
            <a:ext cx="112776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extBox 1">
            <a:extLst>
              <a:ext uri="{FF2B5EF4-FFF2-40B4-BE49-F238E27FC236}">
                <a16:creationId xmlns:a16="http://schemas.microsoft.com/office/drawing/2014/main" id="{BE3666E3-A548-80F4-F7A8-7DA31FD7DE07}"/>
              </a:ext>
            </a:extLst>
          </p:cNvPr>
          <p:cNvSpPr txBox="1"/>
          <p:nvPr userDrawn="1"/>
        </p:nvSpPr>
        <p:spPr>
          <a:xfrm>
            <a:off x="683942" y="6601522"/>
            <a:ext cx="184731" cy="369332"/>
          </a:xfrm>
          <a:prstGeom prst="rect">
            <a:avLst/>
          </a:prstGeom>
          <a:noFill/>
        </p:spPr>
        <p:txBody>
          <a:bodyPr wrap="none" rtlCol="0">
            <a:spAutoFit/>
          </a:bodyPr>
          <a:lstStyle/>
          <a:p>
            <a:endParaRPr lang="en-US" sz="1800" dirty="0"/>
          </a:p>
        </p:txBody>
      </p:sp>
    </p:spTree>
    <p:extLst>
      <p:ext uri="{BB962C8B-B14F-4D97-AF65-F5344CB8AC3E}">
        <p14:creationId xmlns:p14="http://schemas.microsoft.com/office/powerpoint/2010/main" val="231659231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9" name="Content Placeholder 10"/>
          <p:cNvSpPr>
            <a:spLocks noGrp="1"/>
          </p:cNvSpPr>
          <p:nvPr>
            <p:ph sz="quarter" idx="16"/>
          </p:nvPr>
        </p:nvSpPr>
        <p:spPr>
          <a:xfrm>
            <a:off x="508000" y="1417320"/>
            <a:ext cx="54864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6197600" y="1417320"/>
            <a:ext cx="54864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Residual Income</a:t>
            </a:r>
          </a:p>
        </p:txBody>
      </p:sp>
      <p:sp>
        <p:nvSpPr>
          <p:cNvPr id="2" name="TextBox 1"/>
          <p:cNvSpPr txBox="1"/>
          <p:nvPr userDrawn="1"/>
        </p:nvSpPr>
        <p:spPr>
          <a:xfrm>
            <a:off x="2748041" y="537029"/>
            <a:ext cx="184731" cy="300082"/>
          </a:xfrm>
          <a:prstGeom prst="rect">
            <a:avLst/>
          </a:prstGeom>
          <a:noFill/>
        </p:spPr>
        <p:txBody>
          <a:bodyPr wrap="none" rtlCol="0">
            <a:spAutoFit/>
          </a:bodyPr>
          <a:lstStyle/>
          <a:p>
            <a:endParaRPr lang="en-US" sz="1350" dirty="0"/>
          </a:p>
        </p:txBody>
      </p:sp>
    </p:spTree>
    <p:extLst>
      <p:ext uri="{BB962C8B-B14F-4D97-AF65-F5344CB8AC3E}">
        <p14:creationId xmlns:p14="http://schemas.microsoft.com/office/powerpoint/2010/main" val="327762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5020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747111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605157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4"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419681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276784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5359126"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p:cNvSpPr/>
          <p:nvPr userDrawn="1"/>
        </p:nvSpPr>
        <p:spPr bwMode="auto">
          <a:xfrm rot="10800000">
            <a:off x="5427338" y="3778178"/>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2232063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813638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3369862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Residual Income</a:t>
            </a:r>
            <a:endParaRPr lang="en-US" dirty="0"/>
          </a:p>
        </p:txBody>
      </p:sp>
    </p:spTree>
    <p:extLst>
      <p:ext uri="{BB962C8B-B14F-4D97-AF65-F5344CB8AC3E}">
        <p14:creationId xmlns:p14="http://schemas.microsoft.com/office/powerpoint/2010/main" val="33137416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5750254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0957589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5" y="1397000"/>
            <a:ext cx="2317751"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747436"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4931836" y="1397000"/>
            <a:ext cx="2315633"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2"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9"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8748187"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6019803"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575735" y="4497388"/>
            <a:ext cx="3754967"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4226986" y="4497388"/>
            <a:ext cx="3754967"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7878235" y="4497388"/>
            <a:ext cx="3754967"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6848053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1810754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5892800" y="3632203"/>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6" name="Line 115"/>
          <p:cNvSpPr>
            <a:spLocks noChangeShapeType="1"/>
          </p:cNvSpPr>
          <p:nvPr userDrawn="1"/>
        </p:nvSpPr>
        <p:spPr bwMode="gray">
          <a:xfrm>
            <a:off x="3048000" y="3632203"/>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7" name="Line 118"/>
          <p:cNvSpPr>
            <a:spLocks noChangeShapeType="1"/>
          </p:cNvSpPr>
          <p:nvPr/>
        </p:nvSpPr>
        <p:spPr bwMode="gray">
          <a:xfrm>
            <a:off x="9004300" y="3632203"/>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grpSp>
        <p:nvGrpSpPr>
          <p:cNvPr id="18" name="Group 123"/>
          <p:cNvGrpSpPr>
            <a:grpSpLocks/>
          </p:cNvGrpSpPr>
          <p:nvPr userDrawn="1"/>
        </p:nvGrpSpPr>
        <p:grpSpPr bwMode="auto">
          <a:xfrm>
            <a:off x="611719" y="3478213"/>
            <a:ext cx="10358967"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66" name="Line 125"/>
          <p:cNvSpPr>
            <a:spLocks noChangeShapeType="1"/>
          </p:cNvSpPr>
          <p:nvPr userDrawn="1"/>
        </p:nvSpPr>
        <p:spPr bwMode="gray">
          <a:xfrm>
            <a:off x="4572000" y="3651253"/>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7" name="Line 4"/>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8" name="Line 108"/>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9" name="Line 111"/>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0" name="Line 139"/>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1" name="AutoShape 3"/>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1">
              <a:solidFill>
                <a:srgbClr val="4D4D4D"/>
              </a:solidFill>
              <a:latin typeface="Arial" charset="0"/>
            </a:endParaRPr>
          </a:p>
        </p:txBody>
      </p:sp>
      <p:grpSp>
        <p:nvGrpSpPr>
          <p:cNvPr id="72" name="Group 123"/>
          <p:cNvGrpSpPr>
            <a:grpSpLocks/>
          </p:cNvGrpSpPr>
          <p:nvPr userDrawn="1"/>
        </p:nvGrpSpPr>
        <p:grpSpPr bwMode="auto">
          <a:xfrm>
            <a:off x="814919" y="3460753"/>
            <a:ext cx="10358967"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25504714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2" y="129540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1219202" y="1800013"/>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1219202" y="2304626"/>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1219202" y="2809239"/>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1219202" y="3313852"/>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1219202" y="3818465"/>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1219202" y="4323078"/>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1219202" y="4827691"/>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3" y="5332304"/>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3" y="583692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8803322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684697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8" name="Freeform 4"/>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7368673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588435" y="1911353"/>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2" name="Freeform 4"/>
          <p:cNvSpPr>
            <a:spLocks/>
          </p:cNvSpPr>
          <p:nvPr userDrawn="1"/>
        </p:nvSpPr>
        <p:spPr bwMode="auto">
          <a:xfrm>
            <a:off x="3403601" y="1911353"/>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3" name="Freeform 4"/>
          <p:cNvSpPr>
            <a:spLocks/>
          </p:cNvSpPr>
          <p:nvPr userDrawn="1"/>
        </p:nvSpPr>
        <p:spPr bwMode="auto">
          <a:xfrm>
            <a:off x="6197602" y="1911353"/>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4" name="Freeform 4"/>
          <p:cNvSpPr>
            <a:spLocks/>
          </p:cNvSpPr>
          <p:nvPr userDrawn="1"/>
        </p:nvSpPr>
        <p:spPr bwMode="auto">
          <a:xfrm>
            <a:off x="9027586" y="1911353"/>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7681065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4364739"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3"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3"/>
            <a:ext cx="3364992"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0384182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2072618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39563555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3786579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3084783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6006945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2933033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p:cNvSpPr>
            <a:spLocks noChangeArrowheads="1"/>
          </p:cNvSpPr>
          <p:nvPr userDrawn="1"/>
        </p:nvSpPr>
        <p:spPr bwMode="auto">
          <a:xfrm rot="5400000">
            <a:off x="1741489"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p:cNvSpPr>
            <a:spLocks noChangeArrowheads="1"/>
          </p:cNvSpPr>
          <p:nvPr userDrawn="1"/>
        </p:nvSpPr>
        <p:spPr bwMode="auto">
          <a:xfrm rot="5400000">
            <a:off x="3758673"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p:cNvSpPr>
            <a:spLocks noChangeArrowheads="1"/>
          </p:cNvSpPr>
          <p:nvPr userDrawn="1"/>
        </p:nvSpPr>
        <p:spPr bwMode="auto">
          <a:xfrm rot="5400000">
            <a:off x="577797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4279756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5490858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7842821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9966714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4091520" y="1981203"/>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17" name="Freeform 13"/>
          <p:cNvSpPr>
            <a:spLocks/>
          </p:cNvSpPr>
          <p:nvPr userDrawn="1"/>
        </p:nvSpPr>
        <p:spPr bwMode="auto">
          <a:xfrm>
            <a:off x="609602" y="1982791"/>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1" name="Freeform 14"/>
          <p:cNvSpPr>
            <a:spLocks/>
          </p:cNvSpPr>
          <p:nvPr userDrawn="1"/>
        </p:nvSpPr>
        <p:spPr bwMode="auto">
          <a:xfrm>
            <a:off x="7579786" y="1981203"/>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8" name="Text Placeholder 12"/>
          <p:cNvSpPr>
            <a:spLocks noGrp="1"/>
          </p:cNvSpPr>
          <p:nvPr>
            <p:ph type="body" sz="quarter" idx="16"/>
          </p:nvPr>
        </p:nvSpPr>
        <p:spPr bwMode="gray">
          <a:xfrm>
            <a:off x="7574515"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7541684" y="1417327"/>
            <a:ext cx="4047744"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1" y="1988239"/>
            <a:ext cx="3183381"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2" y="1987175"/>
            <a:ext cx="372559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35135414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7342719"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37654961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7133168" y="1497016"/>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7598567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1340909" y="2289176"/>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881315" y="3486682"/>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4429126" y="4714877"/>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9" y="4986243"/>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4" y="1441358"/>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1" y="2622986"/>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5" y="3804614"/>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20498621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950385" y="1782765"/>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8" name="Parallelogram 7"/>
          <p:cNvSpPr/>
          <p:nvPr userDrawn="1"/>
        </p:nvSpPr>
        <p:spPr bwMode="auto">
          <a:xfrm>
            <a:off x="950385" y="5300666"/>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4" name="Parallelogram 13"/>
          <p:cNvSpPr/>
          <p:nvPr userDrawn="1"/>
        </p:nvSpPr>
        <p:spPr bwMode="auto">
          <a:xfrm>
            <a:off x="950385" y="4129091"/>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5" name="Parallelogram 14"/>
          <p:cNvSpPr/>
          <p:nvPr userDrawn="1"/>
        </p:nvSpPr>
        <p:spPr bwMode="auto">
          <a:xfrm>
            <a:off x="950385"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944921" y="5019705"/>
            <a:ext cx="9934099"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944921" y="3847018"/>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944921" y="2674337"/>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21306785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637117" y="3294066"/>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637117" y="6046791"/>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5"/>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9195340"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6819047"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4442752"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41461044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868086" y="1277938"/>
            <a:ext cx="8824383"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23" name="Straight Connector 9"/>
          <p:cNvCxnSpPr>
            <a:cxnSpLocks noChangeShapeType="1"/>
          </p:cNvCxnSpPr>
          <p:nvPr userDrawn="1"/>
        </p:nvCxnSpPr>
        <p:spPr bwMode="auto">
          <a:xfrm>
            <a:off x="2880785"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554302" y="3602304"/>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3445933" y="1576388"/>
            <a:ext cx="7374467"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sp>
        <p:nvSpPr>
          <p:cNvPr id="61" name="Rectangle 31"/>
          <p:cNvSpPr>
            <a:spLocks noChangeArrowheads="1"/>
          </p:cNvSpPr>
          <p:nvPr userDrawn="1"/>
        </p:nvSpPr>
        <p:spPr bwMode="auto">
          <a:xfrm>
            <a:off x="624419" y="1277938"/>
            <a:ext cx="2256367"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62" name="Straight Connector 28"/>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3" y="1282932"/>
            <a:ext cx="8496387"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4021496"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45887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8868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62907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5723400"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9127208"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7425304"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79926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96945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10829112"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868569" y="1278090"/>
            <a:ext cx="860776"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42010358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2074333" y="1828803"/>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sp>
        <p:nvSpPr>
          <p:cNvPr id="71" name="Rectangle 13"/>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grpSp>
        <p:nvGrpSpPr>
          <p:cNvPr id="72" name="Group 84"/>
          <p:cNvGrpSpPr>
            <a:grpSpLocks/>
          </p:cNvGrpSpPr>
          <p:nvPr userDrawn="1"/>
        </p:nvGrpSpPr>
        <p:grpSpPr bwMode="auto">
          <a:xfrm>
            <a:off x="590552" y="1819275"/>
            <a:ext cx="10979149"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683686" y="1566866"/>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683686"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2074335" y="1468440"/>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a:p>
        </p:txBody>
      </p:sp>
      <p:cxnSp>
        <p:nvCxnSpPr>
          <p:cNvPr id="100" name="Straight Connector 42"/>
          <p:cNvCxnSpPr>
            <a:cxnSpLocks noChangeShapeType="1"/>
          </p:cNvCxnSpPr>
          <p:nvPr userDrawn="1"/>
        </p:nvCxnSpPr>
        <p:spPr bwMode="auto">
          <a:xfrm>
            <a:off x="2061635"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937753" y="1835813"/>
            <a:ext cx="86251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3800275"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4662792" y="1835813"/>
            <a:ext cx="85603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8112868"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625654" y="223026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625654" y="259557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625654" y="296088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625654" y="332619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625654" y="369150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625654" y="405681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625654" y="5152742"/>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625654" y="442212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625654" y="478743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3753853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2372786"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8"/>
            <a:ext cx="73152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7"/>
            <a:ext cx="73152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471524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5" y="1447800"/>
            <a:ext cx="2250831"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603255" y="2667000"/>
            <a:ext cx="2250831"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603255" y="5105400"/>
            <a:ext cx="2250831"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9337925" y="1447800"/>
            <a:ext cx="2250831"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9337925" y="2667000"/>
            <a:ext cx="2250831"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9337925" y="3886200"/>
            <a:ext cx="2250831"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9337925" y="5105400"/>
            <a:ext cx="2250831"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603255" y="3886200"/>
            <a:ext cx="2250831"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684367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7" y="1419225"/>
            <a:ext cx="3376247"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1208149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6"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24578641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1783242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3" name="TextBox 13"/>
          <p:cNvSpPr txBox="1">
            <a:spLocks noChangeArrowheads="1"/>
          </p:cNvSpPr>
          <p:nvPr userDrawn="1"/>
        </p:nvSpPr>
        <p:spPr bwMode="auto">
          <a:xfrm>
            <a:off x="2755900" y="1108078"/>
            <a:ext cx="42672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7340600" y="1108078"/>
            <a:ext cx="42672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18190819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7" y="2982769"/>
            <a:ext cx="1904615"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4"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3" y="1246188"/>
            <a:ext cx="10917767"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6"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3" y="1589236"/>
            <a:ext cx="1426633"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9"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500"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8"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6"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90"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90"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7"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4"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6"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3"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9"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500"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8"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6"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90"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90" y="3962403"/>
            <a:ext cx="1426633"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1874399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PARTNERS</a:t>
            </a:r>
          </a:p>
        </p:txBody>
      </p:sp>
      <p:sp>
        <p:nvSpPr>
          <p:cNvPr id="11" name="Line 22"/>
          <p:cNvSpPr>
            <a:spLocks noChangeShapeType="1"/>
          </p:cNvSpPr>
          <p:nvPr/>
        </p:nvSpPr>
        <p:spPr bwMode="auto">
          <a:xfrm>
            <a:off x="584202"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2" name="Text Box 23"/>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ASSOCIATES</a:t>
            </a:r>
          </a:p>
        </p:txBody>
      </p:sp>
      <p:sp>
        <p:nvSpPr>
          <p:cNvPr id="13" name="Line 24"/>
          <p:cNvSpPr>
            <a:spLocks noChangeShapeType="1"/>
          </p:cNvSpPr>
          <p:nvPr/>
        </p:nvSpPr>
        <p:spPr bwMode="auto">
          <a:xfrm>
            <a:off x="584202"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Residual Income</a:t>
            </a:r>
          </a:p>
        </p:txBody>
      </p:sp>
    </p:spTree>
    <p:extLst>
      <p:ext uri="{BB962C8B-B14F-4D97-AF65-F5344CB8AC3E}">
        <p14:creationId xmlns:p14="http://schemas.microsoft.com/office/powerpoint/2010/main" val="22812283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2726552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23736031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41428956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31299008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Residual Income</a:t>
            </a:r>
          </a:p>
        </p:txBody>
      </p:sp>
    </p:spTree>
    <p:extLst>
      <p:ext uri="{BB962C8B-B14F-4D97-AF65-F5344CB8AC3E}">
        <p14:creationId xmlns:p14="http://schemas.microsoft.com/office/powerpoint/2010/main" val="10141601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Residual Income</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19447380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5" name="Footer Placeholder 4"/>
          <p:cNvSpPr>
            <a:spLocks noGrp="1"/>
          </p:cNvSpPr>
          <p:nvPr>
            <p:ph type="ftr" sz="quarter" idx="11"/>
          </p:nvPr>
        </p:nvSpPr>
        <p:spPr/>
        <p:txBody>
          <a:bodyPr/>
          <a:lstStyle/>
          <a:p>
            <a:r>
              <a:rPr lang="en-US"/>
              <a:t>Residual Income</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298551148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Residual Income</a:t>
            </a:r>
          </a:p>
        </p:txBody>
      </p:sp>
      <p:sp>
        <p:nvSpPr>
          <p:cNvPr id="6" name="Rectangle 6"/>
          <p:cNvSpPr>
            <a:spLocks noGrp="1" noChangeArrowheads="1"/>
          </p:cNvSpPr>
          <p:nvPr>
            <p:ph type="sldNum" sz="quarter" idx="11"/>
          </p:nvPr>
        </p:nvSpPr>
        <p:spPr>
          <a:ln/>
        </p:spPr>
        <p:txBody>
          <a:bodyPr/>
          <a:lstStyle>
            <a:lvl1pPr>
              <a:defRPr/>
            </a:lvl1pPr>
          </a:lstStyle>
          <a:p>
            <a:fld id="{1C809E66-74DF-0C42-A43A-AEFFC49125CF}" type="slidenum">
              <a:rPr lang="en-US"/>
              <a:pPr/>
              <a:t>‹#›</a:t>
            </a:fld>
            <a:endParaRPr lang="en-US"/>
          </a:p>
        </p:txBody>
      </p:sp>
    </p:spTree>
    <p:extLst>
      <p:ext uri="{BB962C8B-B14F-4D97-AF65-F5344CB8AC3E}">
        <p14:creationId xmlns:p14="http://schemas.microsoft.com/office/powerpoint/2010/main" val="14216397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304800" y="838200"/>
            <a:ext cx="112776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4800" y="3619500"/>
            <a:ext cx="112776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Residual Income</a:t>
            </a:r>
          </a:p>
        </p:txBody>
      </p:sp>
      <p:sp>
        <p:nvSpPr>
          <p:cNvPr id="6" name="Rectangle 6"/>
          <p:cNvSpPr>
            <a:spLocks noGrp="1" noChangeArrowheads="1"/>
          </p:cNvSpPr>
          <p:nvPr>
            <p:ph type="sldNum" sz="quarter" idx="11"/>
          </p:nvPr>
        </p:nvSpPr>
        <p:spPr>
          <a:ln/>
        </p:spPr>
        <p:txBody>
          <a:bodyPr/>
          <a:lstStyle>
            <a:lvl1pPr>
              <a:defRPr/>
            </a:lvl1pPr>
          </a:lstStyle>
          <a:p>
            <a:fld id="{1F6B9BC8-751C-6A46-B5B7-840FAB6C1A54}" type="slidenum">
              <a:rPr lang="en-US"/>
              <a:pPr/>
              <a:t>‹#›</a:t>
            </a:fld>
            <a:endParaRPr lang="en-US"/>
          </a:p>
        </p:txBody>
      </p:sp>
    </p:spTree>
    <p:extLst>
      <p:ext uri="{BB962C8B-B14F-4D97-AF65-F5344CB8AC3E}">
        <p14:creationId xmlns:p14="http://schemas.microsoft.com/office/powerpoint/2010/main" val="310166500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a:prstGeom prst="rect">
            <a:avLst/>
          </a:prstGeom>
        </p:spPr>
        <p:txBody>
          <a:bodyPr/>
          <a:lstStyle/>
          <a:p>
            <a:r>
              <a:rPr lang="en-US"/>
              <a:t>Click to edit Master title style</a:t>
            </a:r>
          </a:p>
        </p:txBody>
      </p:sp>
      <p:sp>
        <p:nvSpPr>
          <p:cNvPr id="3" name="Table Placeholder 2"/>
          <p:cNvSpPr>
            <a:spLocks noGrp="1"/>
          </p:cNvSpPr>
          <p:nvPr>
            <p:ph type="tbl" idx="1"/>
          </p:nvPr>
        </p:nvSpPr>
        <p:spPr>
          <a:xfrm>
            <a:off x="304800" y="838200"/>
            <a:ext cx="11277600" cy="5410200"/>
          </a:xfrm>
          <a:prstGeom prst="rect">
            <a:avLst/>
          </a:prstGeom>
        </p:spPr>
        <p:txBody>
          <a:bodyPr/>
          <a:lstStyle/>
          <a:p>
            <a:pPr lvl="0"/>
            <a:endParaRPr lang="en-US" noProof="0"/>
          </a:p>
        </p:txBody>
      </p:sp>
      <p:sp>
        <p:nvSpPr>
          <p:cNvPr id="4" name="Rectangle 5"/>
          <p:cNvSpPr>
            <a:spLocks noGrp="1" noChangeArrowheads="1"/>
          </p:cNvSpPr>
          <p:nvPr>
            <p:ph type="ftr" sz="quarter" idx="10"/>
          </p:nvPr>
        </p:nvSpPr>
        <p:spPr>
          <a:ln/>
        </p:spPr>
        <p:txBody>
          <a:bodyPr/>
          <a:lstStyle>
            <a:lvl1pPr>
              <a:defRPr/>
            </a:lvl1pPr>
          </a:lstStyle>
          <a:p>
            <a:r>
              <a:rPr lang="en-US"/>
              <a:t>Residual Income</a:t>
            </a:r>
          </a:p>
        </p:txBody>
      </p:sp>
      <p:sp>
        <p:nvSpPr>
          <p:cNvPr id="5" name="Rectangle 6"/>
          <p:cNvSpPr>
            <a:spLocks noGrp="1" noChangeArrowheads="1"/>
          </p:cNvSpPr>
          <p:nvPr>
            <p:ph type="sldNum" sz="quarter" idx="11"/>
          </p:nvPr>
        </p:nvSpPr>
        <p:spPr>
          <a:ln/>
        </p:spPr>
        <p:txBody>
          <a:bodyPr/>
          <a:lstStyle>
            <a:lvl1pPr>
              <a:defRPr/>
            </a:lvl1pPr>
          </a:lstStyle>
          <a:p>
            <a:fld id="{FFFC3B70-B114-674E-8EFF-281092C9D65E}" type="slidenum">
              <a:rPr lang="en-US"/>
              <a:pPr/>
              <a:t>‹#›</a:t>
            </a:fld>
            <a:endParaRPr lang="en-US"/>
          </a:p>
        </p:txBody>
      </p:sp>
    </p:spTree>
    <p:extLst>
      <p:ext uri="{BB962C8B-B14F-4D97-AF65-F5344CB8AC3E}">
        <p14:creationId xmlns:p14="http://schemas.microsoft.com/office/powerpoint/2010/main" val="22109831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 name="Slide Number Placeholder 9"/>
          <p:cNvSpPr>
            <a:spLocks noGrp="1"/>
          </p:cNvSpPr>
          <p:nvPr>
            <p:ph type="sldNum" sz="quarter" idx="4"/>
          </p:nvPr>
        </p:nvSpPr>
        <p:spPr>
          <a:xfrm>
            <a:off x="11480800" y="6436636"/>
            <a:ext cx="6096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sz="800" dirty="0"/>
          </a:p>
        </p:txBody>
      </p:sp>
      <p:sp>
        <p:nvSpPr>
          <p:cNvPr id="13" name="Footer Placeholder 12"/>
          <p:cNvSpPr>
            <a:spLocks noGrp="1"/>
          </p:cNvSpPr>
          <p:nvPr>
            <p:ph type="ftr" sz="quarter" idx="3"/>
          </p:nvPr>
        </p:nvSpPr>
        <p:spPr>
          <a:xfrm>
            <a:off x="4165600" y="6442489"/>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a:t>Residual Income</a:t>
            </a:r>
            <a:endParaRPr lang="en-US" dirty="0"/>
          </a:p>
        </p:txBody>
      </p:sp>
      <p:sp>
        <p:nvSpPr>
          <p:cNvPr id="9" name="Footer Placeholder 3"/>
          <p:cNvSpPr txBox="1">
            <a:spLocks/>
          </p:cNvSpPr>
          <p:nvPr userDrawn="1"/>
        </p:nvSpPr>
        <p:spPr>
          <a:xfrm>
            <a:off x="96545" y="6423030"/>
            <a:ext cx="31496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baseline="0" dirty="0">
                <a:latin typeface="+mn-lt"/>
              </a:rPr>
              <a:t>FIT_Residual_Income_2026F</a:t>
            </a:r>
            <a:endParaRPr lang="en-US" sz="800" dirty="0">
              <a:latin typeface="+mn-lt"/>
            </a:endParaRPr>
          </a:p>
        </p:txBody>
      </p:sp>
    </p:spTree>
    <p:extLst>
      <p:ext uri="{BB962C8B-B14F-4D97-AF65-F5344CB8AC3E}">
        <p14:creationId xmlns:p14="http://schemas.microsoft.com/office/powerpoint/2010/main" val="15375557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163F83-1D92-9913-E6C0-989EE8AD282E}"/>
              </a:ext>
            </a:extLst>
          </p:cNvPr>
          <p:cNvSpPr>
            <a:spLocks noGrp="1"/>
          </p:cNvSpPr>
          <p:nvPr>
            <p:ph type="sldNum" sz="quarter" idx="10"/>
          </p:nvPr>
        </p:nvSpPr>
        <p:spPr/>
        <p:txBody>
          <a:bodyPr/>
          <a:lstStyle/>
          <a:p>
            <a:fld id="{22D706CB-156B-8643-9A07-D8448DABBCBD}" type="slidenum">
              <a:rPr lang="en-US" altLang="en-US" smtClean="0"/>
              <a:pPr/>
              <a:t>1</a:t>
            </a:fld>
            <a:endParaRPr lang="en-US" altLang="en-US" dirty="0"/>
          </a:p>
        </p:txBody>
      </p:sp>
      <p:sp>
        <p:nvSpPr>
          <p:cNvPr id="3" name="Footer Placeholder 2">
            <a:extLst>
              <a:ext uri="{FF2B5EF4-FFF2-40B4-BE49-F238E27FC236}">
                <a16:creationId xmlns:a16="http://schemas.microsoft.com/office/drawing/2014/main" id="{C2F6B19C-E5DA-51BB-495E-8578A91C5D2D}"/>
              </a:ext>
            </a:extLst>
          </p:cNvPr>
          <p:cNvSpPr>
            <a:spLocks noGrp="1"/>
          </p:cNvSpPr>
          <p:nvPr>
            <p:ph type="ftr" sz="quarter" idx="11"/>
          </p:nvPr>
        </p:nvSpPr>
        <p:spPr/>
        <p:txBody>
          <a:bodyPr/>
          <a:lstStyle/>
          <a:p>
            <a:pPr>
              <a:defRPr/>
            </a:pPr>
            <a:r>
              <a:rPr lang="en-US"/>
              <a:t>Residual Income</a:t>
            </a:r>
            <a:endParaRPr lang="en-US" dirty="0"/>
          </a:p>
        </p:txBody>
      </p:sp>
      <p:sp>
        <p:nvSpPr>
          <p:cNvPr id="4" name="Title 1">
            <a:extLst>
              <a:ext uri="{FF2B5EF4-FFF2-40B4-BE49-F238E27FC236}">
                <a16:creationId xmlns:a16="http://schemas.microsoft.com/office/drawing/2014/main" id="{7F77031B-23E5-163E-71B2-1FDAA65F3F6F}"/>
              </a:ext>
            </a:extLst>
          </p:cNvPr>
          <p:cNvSpPr txBox="1">
            <a:spLocks/>
          </p:cNvSpPr>
          <p:nvPr/>
        </p:nvSpPr>
        <p:spPr>
          <a:xfrm>
            <a:off x="1464129" y="1155021"/>
            <a:ext cx="9263741" cy="2387600"/>
          </a:xfrm>
          <a:prstGeom prst="rect">
            <a:avLst/>
          </a:prstGeom>
        </p:spPr>
        <p:txBody>
          <a:bodyPr/>
          <a:lst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a:lstStyle>
          <a:p>
            <a:r>
              <a:rPr lang="en-US" sz="4400" dirty="0"/>
              <a:t>Federal </a:t>
            </a:r>
            <a:r>
              <a:rPr lang="en-US" sz="4800" dirty="0"/>
              <a:t>Income</a:t>
            </a:r>
            <a:r>
              <a:rPr lang="en-US" sz="4400" dirty="0"/>
              <a:t> Taxation</a:t>
            </a:r>
            <a:br>
              <a:rPr lang="en-US" sz="4400" dirty="0"/>
            </a:br>
            <a:r>
              <a:rPr lang="en-US" sz="4800" i="1" dirty="0"/>
              <a:t>Residual Income</a:t>
            </a:r>
            <a:endParaRPr lang="en-US" sz="4400" dirty="0"/>
          </a:p>
        </p:txBody>
      </p:sp>
      <p:sp>
        <p:nvSpPr>
          <p:cNvPr id="5" name="Subtitle 2">
            <a:extLst>
              <a:ext uri="{FF2B5EF4-FFF2-40B4-BE49-F238E27FC236}">
                <a16:creationId xmlns:a16="http://schemas.microsoft.com/office/drawing/2014/main" id="{4D824EC7-22FF-8085-4D25-F0249659D926}"/>
              </a:ext>
            </a:extLst>
          </p:cNvPr>
          <p:cNvSpPr txBox="1">
            <a:spLocks/>
          </p:cNvSpPr>
          <p:nvPr/>
        </p:nvSpPr>
        <p:spPr>
          <a:xfrm>
            <a:off x="2666999" y="3981226"/>
            <a:ext cx="6858000" cy="1027451"/>
          </a:xfrm>
          <a:prstGeom prst="rect">
            <a:avLst/>
          </a:prstGeom>
        </p:spPr>
        <p:txBody>
          <a:bodyPr>
            <a:normAutofit lnSpcReduction="10000"/>
          </a:bodyPr>
          <a:lst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ctr">
              <a:buNone/>
            </a:pPr>
            <a:r>
              <a:rPr lang="en-US" sz="2800" b="1" dirty="0"/>
              <a:t>Prof. Colon</a:t>
            </a:r>
          </a:p>
          <a:p>
            <a:pPr marL="0" indent="0" algn="ctr">
              <a:buNone/>
            </a:pPr>
            <a:r>
              <a:rPr lang="en-US" sz="2800" b="1"/>
              <a:t>Spring 2026</a:t>
            </a:r>
            <a:endParaRPr lang="en-US" sz="2800" b="1" dirty="0"/>
          </a:p>
        </p:txBody>
      </p:sp>
    </p:spTree>
    <p:extLst>
      <p:ext uri="{BB962C8B-B14F-4D97-AF65-F5344CB8AC3E}">
        <p14:creationId xmlns:p14="http://schemas.microsoft.com/office/powerpoint/2010/main" val="298632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close-up of a document&#10;&#10;AI-generated content may be incorrect.">
            <a:extLst>
              <a:ext uri="{FF2B5EF4-FFF2-40B4-BE49-F238E27FC236}">
                <a16:creationId xmlns:a16="http://schemas.microsoft.com/office/drawing/2014/main" id="{DCF99BD0-89E7-5796-F403-EAE21E7E60CC}"/>
              </a:ext>
            </a:extLst>
          </p:cNvPr>
          <p:cNvPicPr>
            <a:picLocks noGrp="1" noChangeAspect="1"/>
          </p:cNvPicPr>
          <p:nvPr>
            <p:ph idx="1"/>
          </p:nvPr>
        </p:nvPicPr>
        <p:blipFill>
          <a:blip r:embed="rId2"/>
          <a:stretch>
            <a:fillRect/>
          </a:stretch>
        </p:blipFill>
        <p:spPr>
          <a:xfrm>
            <a:off x="1986454" y="1562894"/>
            <a:ext cx="7188200" cy="2951956"/>
          </a:xfrm>
        </p:spPr>
      </p:pic>
      <p:sp>
        <p:nvSpPr>
          <p:cNvPr id="3" name="Title 2">
            <a:extLst>
              <a:ext uri="{FF2B5EF4-FFF2-40B4-BE49-F238E27FC236}">
                <a16:creationId xmlns:a16="http://schemas.microsoft.com/office/drawing/2014/main" id="{89491FEA-A5DA-91D7-9C5A-3C6233CD9EF8}"/>
              </a:ext>
            </a:extLst>
          </p:cNvPr>
          <p:cNvSpPr>
            <a:spLocks noGrp="1"/>
          </p:cNvSpPr>
          <p:nvPr>
            <p:ph type="title"/>
          </p:nvPr>
        </p:nvSpPr>
        <p:spPr/>
        <p:txBody>
          <a:bodyPr/>
          <a:lstStyle/>
          <a:p>
            <a:r>
              <a:rPr lang="en-US" dirty="0"/>
              <a:t>Section 61(a)(1)</a:t>
            </a:r>
          </a:p>
        </p:txBody>
      </p:sp>
      <p:sp>
        <p:nvSpPr>
          <p:cNvPr id="4" name="Slide Number Placeholder 3">
            <a:extLst>
              <a:ext uri="{FF2B5EF4-FFF2-40B4-BE49-F238E27FC236}">
                <a16:creationId xmlns:a16="http://schemas.microsoft.com/office/drawing/2014/main" id="{19E2375D-FEC4-2690-0609-66E4ACD77574}"/>
              </a:ext>
            </a:extLst>
          </p:cNvPr>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sp>
        <p:nvSpPr>
          <p:cNvPr id="5" name="Footer Placeholder 4">
            <a:extLst>
              <a:ext uri="{FF2B5EF4-FFF2-40B4-BE49-F238E27FC236}">
                <a16:creationId xmlns:a16="http://schemas.microsoft.com/office/drawing/2014/main" id="{7D8D1B58-85B0-645B-E900-A43C9FD4E011}"/>
              </a:ext>
            </a:extLst>
          </p:cNvPr>
          <p:cNvSpPr>
            <a:spLocks noGrp="1"/>
          </p:cNvSpPr>
          <p:nvPr>
            <p:ph type="ftr" sz="quarter" idx="11"/>
          </p:nvPr>
        </p:nvSpPr>
        <p:spPr/>
        <p:txBody>
          <a:bodyPr/>
          <a:lstStyle/>
          <a:p>
            <a:pPr>
              <a:defRPr/>
            </a:pPr>
            <a:r>
              <a:rPr lang="en-US"/>
              <a:t>Residual Income</a:t>
            </a:r>
            <a:endParaRPr lang="en-US" dirty="0"/>
          </a:p>
        </p:txBody>
      </p:sp>
      <p:cxnSp>
        <p:nvCxnSpPr>
          <p:cNvPr id="6" name="Straight Connector 5">
            <a:extLst>
              <a:ext uri="{FF2B5EF4-FFF2-40B4-BE49-F238E27FC236}">
                <a16:creationId xmlns:a16="http://schemas.microsoft.com/office/drawing/2014/main" id="{992F7FF0-B01B-A30F-FF0A-A3AFE09E960E}"/>
              </a:ext>
            </a:extLst>
          </p:cNvPr>
          <p:cNvCxnSpPr/>
          <p:nvPr/>
        </p:nvCxnSpPr>
        <p:spPr>
          <a:xfrm>
            <a:off x="2950590" y="3685880"/>
            <a:ext cx="199848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9528971-6476-70B7-C68A-9F0877D9546D}"/>
              </a:ext>
            </a:extLst>
          </p:cNvPr>
          <p:cNvCxnSpPr>
            <a:cxnSpLocks/>
          </p:cNvCxnSpPr>
          <p:nvPr/>
        </p:nvCxnSpPr>
        <p:spPr>
          <a:xfrm>
            <a:off x="5807676" y="3685880"/>
            <a:ext cx="1235675"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8415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5AA256-69E0-6C96-754D-38B03F4B0A88}"/>
              </a:ext>
            </a:extLst>
          </p:cNvPr>
          <p:cNvSpPr>
            <a:spLocks noGrp="1"/>
          </p:cNvSpPr>
          <p:nvPr>
            <p:ph type="title"/>
          </p:nvPr>
        </p:nvSpPr>
        <p:spPr/>
        <p:txBody>
          <a:bodyPr/>
          <a:lstStyle/>
          <a:p>
            <a:r>
              <a:rPr lang="en-US" dirty="0"/>
              <a:t>Historical Antecedents of Income</a:t>
            </a:r>
          </a:p>
        </p:txBody>
      </p:sp>
      <p:sp>
        <p:nvSpPr>
          <p:cNvPr id="4" name="Slide Number Placeholder 3">
            <a:extLst>
              <a:ext uri="{FF2B5EF4-FFF2-40B4-BE49-F238E27FC236}">
                <a16:creationId xmlns:a16="http://schemas.microsoft.com/office/drawing/2014/main" id="{21BD8B85-5A7C-A626-C240-6AB9E7F759BD}"/>
              </a:ext>
            </a:extLst>
          </p:cNvPr>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
        <p:nvSpPr>
          <p:cNvPr id="5" name="Footer Placeholder 4">
            <a:extLst>
              <a:ext uri="{FF2B5EF4-FFF2-40B4-BE49-F238E27FC236}">
                <a16:creationId xmlns:a16="http://schemas.microsoft.com/office/drawing/2014/main" id="{0AC40920-7705-FDB0-74BE-F04D44AB2D8D}"/>
              </a:ext>
            </a:extLst>
          </p:cNvPr>
          <p:cNvSpPr>
            <a:spLocks noGrp="1"/>
          </p:cNvSpPr>
          <p:nvPr>
            <p:ph type="ftr" sz="quarter" idx="11"/>
          </p:nvPr>
        </p:nvSpPr>
        <p:spPr/>
        <p:txBody>
          <a:bodyPr/>
          <a:lstStyle/>
          <a:p>
            <a:pPr>
              <a:defRPr/>
            </a:pPr>
            <a:r>
              <a:rPr lang="en-US"/>
              <a:t>Residual Income</a:t>
            </a:r>
            <a:endParaRPr lang="en-US" dirty="0"/>
          </a:p>
        </p:txBody>
      </p:sp>
      <p:sp>
        <p:nvSpPr>
          <p:cNvPr id="6" name="Regular Pentagon 5">
            <a:extLst>
              <a:ext uri="{FF2B5EF4-FFF2-40B4-BE49-F238E27FC236}">
                <a16:creationId xmlns:a16="http://schemas.microsoft.com/office/drawing/2014/main" id="{9DC7A865-11C5-8194-0BE2-BEE13B48A269}"/>
              </a:ext>
            </a:extLst>
          </p:cNvPr>
          <p:cNvSpPr/>
          <p:nvPr/>
        </p:nvSpPr>
        <p:spPr>
          <a:xfrm>
            <a:off x="5282513" y="1174922"/>
            <a:ext cx="2681417" cy="2150075"/>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Trust</a:t>
            </a:r>
          </a:p>
        </p:txBody>
      </p:sp>
      <p:cxnSp>
        <p:nvCxnSpPr>
          <p:cNvPr id="8" name="Straight Connector 7">
            <a:extLst>
              <a:ext uri="{FF2B5EF4-FFF2-40B4-BE49-F238E27FC236}">
                <a16:creationId xmlns:a16="http://schemas.microsoft.com/office/drawing/2014/main" id="{92D6253A-E66A-057B-0923-CD4756A021C0}"/>
              </a:ext>
            </a:extLst>
          </p:cNvPr>
          <p:cNvCxnSpPr>
            <a:cxnSpLocks/>
            <a:stCxn id="6" idx="3"/>
          </p:cNvCxnSpPr>
          <p:nvPr/>
        </p:nvCxnSpPr>
        <p:spPr>
          <a:xfrm flipH="1">
            <a:off x="6623221" y="3324997"/>
            <a:ext cx="1" cy="2349631"/>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300CB51-3B08-52AF-B3E4-67EB3A23C07D}"/>
              </a:ext>
            </a:extLst>
          </p:cNvPr>
          <p:cNvSpPr txBox="1"/>
          <p:nvPr/>
        </p:nvSpPr>
        <p:spPr>
          <a:xfrm>
            <a:off x="7287229" y="3719236"/>
            <a:ext cx="4355761" cy="646331"/>
          </a:xfrm>
          <a:prstGeom prst="rect">
            <a:avLst/>
          </a:prstGeom>
          <a:noFill/>
        </p:spPr>
        <p:txBody>
          <a:bodyPr wrap="square" rtlCol="0">
            <a:spAutoFit/>
          </a:bodyPr>
          <a:lstStyle/>
          <a:p>
            <a:r>
              <a:rPr lang="en-US" b="1" dirty="0"/>
              <a:t>Income</a:t>
            </a:r>
            <a:r>
              <a:rPr lang="en-US" dirty="0"/>
              <a:t>:  </a:t>
            </a:r>
            <a:r>
              <a:rPr lang="en-US" b="1" i="1" dirty="0"/>
              <a:t>Periodic Return </a:t>
            </a:r>
            <a:r>
              <a:rPr lang="en-US" dirty="0"/>
              <a:t>from </a:t>
            </a:r>
            <a:r>
              <a:rPr lang="en-US" i="1" dirty="0"/>
              <a:t>Capital, </a:t>
            </a:r>
            <a:r>
              <a:rPr lang="en-US" dirty="0"/>
              <a:t>such as dividends, rents, interest</a:t>
            </a:r>
          </a:p>
        </p:txBody>
      </p:sp>
      <p:sp>
        <p:nvSpPr>
          <p:cNvPr id="10" name="TextBox 9">
            <a:extLst>
              <a:ext uri="{FF2B5EF4-FFF2-40B4-BE49-F238E27FC236}">
                <a16:creationId xmlns:a16="http://schemas.microsoft.com/office/drawing/2014/main" id="{A813A537-9D98-00C0-FE0C-70D3D0779A0F}"/>
              </a:ext>
            </a:extLst>
          </p:cNvPr>
          <p:cNvSpPr txBox="1"/>
          <p:nvPr/>
        </p:nvSpPr>
        <p:spPr>
          <a:xfrm>
            <a:off x="2107159" y="3719236"/>
            <a:ext cx="4355761" cy="1200329"/>
          </a:xfrm>
          <a:prstGeom prst="rect">
            <a:avLst/>
          </a:prstGeom>
          <a:noFill/>
        </p:spPr>
        <p:txBody>
          <a:bodyPr wrap="square" rtlCol="0">
            <a:spAutoFit/>
          </a:bodyPr>
          <a:lstStyle/>
          <a:p>
            <a:r>
              <a:rPr lang="en-US" b="1" dirty="0"/>
              <a:t>Capital or Corpus</a:t>
            </a:r>
            <a:r>
              <a:rPr lang="en-US" dirty="0"/>
              <a:t>:  Assets of the trust that produce income, either contributed  by settlor or purchased by proceeds of sale of capital  </a:t>
            </a:r>
          </a:p>
        </p:txBody>
      </p:sp>
    </p:spTree>
    <p:extLst>
      <p:ext uri="{BB962C8B-B14F-4D97-AF65-F5344CB8AC3E}">
        <p14:creationId xmlns:p14="http://schemas.microsoft.com/office/powerpoint/2010/main" val="4133145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77F52C-46A7-0E58-88FB-47727363487E}"/>
              </a:ext>
            </a:extLst>
          </p:cNvPr>
          <p:cNvSpPr>
            <a:spLocks noGrp="1"/>
          </p:cNvSpPr>
          <p:nvPr>
            <p:ph idx="1"/>
          </p:nvPr>
        </p:nvSpPr>
        <p:spPr/>
        <p:txBody>
          <a:bodyPr/>
          <a:lstStyle/>
          <a:p>
            <a:r>
              <a:rPr lang="en-US" sz="3600" i="1" dirty="0"/>
              <a:t>Income is defined as the gain derived from capital, from labor, or from both combines, provided it to be understood to include profit gained through a sale or conversion of capital assets.</a:t>
            </a:r>
          </a:p>
        </p:txBody>
      </p:sp>
      <p:sp>
        <p:nvSpPr>
          <p:cNvPr id="3" name="Title 2">
            <a:extLst>
              <a:ext uri="{FF2B5EF4-FFF2-40B4-BE49-F238E27FC236}">
                <a16:creationId xmlns:a16="http://schemas.microsoft.com/office/drawing/2014/main" id="{430FC78C-8301-02C7-CABA-5BCF724B57D2}"/>
              </a:ext>
            </a:extLst>
          </p:cNvPr>
          <p:cNvSpPr>
            <a:spLocks noGrp="1"/>
          </p:cNvSpPr>
          <p:nvPr>
            <p:ph type="title"/>
          </p:nvPr>
        </p:nvSpPr>
        <p:spPr/>
        <p:txBody>
          <a:bodyPr/>
          <a:lstStyle/>
          <a:p>
            <a:r>
              <a:rPr lang="en-US" dirty="0"/>
              <a:t>Eisner v. Macomber, 252 U.S. 189 (1920)</a:t>
            </a:r>
          </a:p>
        </p:txBody>
      </p:sp>
      <p:sp>
        <p:nvSpPr>
          <p:cNvPr id="4" name="Slide Number Placeholder 3">
            <a:extLst>
              <a:ext uri="{FF2B5EF4-FFF2-40B4-BE49-F238E27FC236}">
                <a16:creationId xmlns:a16="http://schemas.microsoft.com/office/drawing/2014/main" id="{366048A8-73C7-9D3E-166F-49F5EBDB2893}"/>
              </a:ext>
            </a:extLst>
          </p:cNvPr>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
        <p:nvSpPr>
          <p:cNvPr id="5" name="Footer Placeholder 4">
            <a:extLst>
              <a:ext uri="{FF2B5EF4-FFF2-40B4-BE49-F238E27FC236}">
                <a16:creationId xmlns:a16="http://schemas.microsoft.com/office/drawing/2014/main" id="{9513CFBE-0447-0AD5-BAFA-96A366F0AC4A}"/>
              </a:ext>
            </a:extLst>
          </p:cNvPr>
          <p:cNvSpPr>
            <a:spLocks noGrp="1"/>
          </p:cNvSpPr>
          <p:nvPr>
            <p:ph type="ftr" sz="quarter" idx="11"/>
          </p:nvPr>
        </p:nvSpPr>
        <p:spPr/>
        <p:txBody>
          <a:bodyPr/>
          <a:lstStyle/>
          <a:p>
            <a:pPr>
              <a:defRPr/>
            </a:pPr>
            <a:r>
              <a:rPr lang="en-US"/>
              <a:t>Residual Income</a:t>
            </a:r>
            <a:endParaRPr lang="en-US" dirty="0"/>
          </a:p>
        </p:txBody>
      </p:sp>
    </p:spTree>
    <p:extLst>
      <p:ext uri="{BB962C8B-B14F-4D97-AF65-F5344CB8AC3E}">
        <p14:creationId xmlns:p14="http://schemas.microsoft.com/office/powerpoint/2010/main" val="874702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BD64D4-43E0-EF66-1E41-0E6EB139C076}"/>
              </a:ext>
            </a:extLst>
          </p:cNvPr>
          <p:cNvSpPr>
            <a:spLocks noGrp="1"/>
          </p:cNvSpPr>
          <p:nvPr>
            <p:ph type="title"/>
          </p:nvPr>
        </p:nvSpPr>
        <p:spPr/>
        <p:txBody>
          <a:bodyPr/>
          <a:lstStyle/>
          <a:p>
            <a:r>
              <a:rPr lang="en-US" dirty="0"/>
              <a:t>CIR v. Glenshaw Glass, 348 U.S. 426, </a:t>
            </a:r>
            <a:r>
              <a:rPr lang="en-US" i="1" dirty="0"/>
              <a:t>reh’g denied,</a:t>
            </a:r>
            <a:r>
              <a:rPr lang="en-US" dirty="0"/>
              <a:t> 349 U.S. 925 (1955)</a:t>
            </a:r>
          </a:p>
        </p:txBody>
      </p:sp>
      <p:sp>
        <p:nvSpPr>
          <p:cNvPr id="4" name="Slide Number Placeholder 3">
            <a:extLst>
              <a:ext uri="{FF2B5EF4-FFF2-40B4-BE49-F238E27FC236}">
                <a16:creationId xmlns:a16="http://schemas.microsoft.com/office/drawing/2014/main" id="{1591E2ED-5DE7-B7B0-BDBF-C7EBA7358692}"/>
              </a:ext>
            </a:extLst>
          </p:cNvPr>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5" name="Footer Placeholder 4">
            <a:extLst>
              <a:ext uri="{FF2B5EF4-FFF2-40B4-BE49-F238E27FC236}">
                <a16:creationId xmlns:a16="http://schemas.microsoft.com/office/drawing/2014/main" id="{77AEADC1-3E25-9922-BBAE-52F4B7D51A1D}"/>
              </a:ext>
            </a:extLst>
          </p:cNvPr>
          <p:cNvSpPr>
            <a:spLocks noGrp="1"/>
          </p:cNvSpPr>
          <p:nvPr>
            <p:ph type="ftr" sz="quarter" idx="11"/>
          </p:nvPr>
        </p:nvSpPr>
        <p:spPr/>
        <p:txBody>
          <a:bodyPr/>
          <a:lstStyle/>
          <a:p>
            <a:pPr>
              <a:defRPr/>
            </a:pPr>
            <a:r>
              <a:rPr lang="en-US"/>
              <a:t>Residual Income</a:t>
            </a:r>
            <a:endParaRPr lang="en-US" dirty="0"/>
          </a:p>
        </p:txBody>
      </p:sp>
      <p:sp>
        <p:nvSpPr>
          <p:cNvPr id="6" name="Rectangle 5">
            <a:extLst>
              <a:ext uri="{FF2B5EF4-FFF2-40B4-BE49-F238E27FC236}">
                <a16:creationId xmlns:a16="http://schemas.microsoft.com/office/drawing/2014/main" id="{906206E9-4951-95BD-14A4-E86EF6082635}"/>
              </a:ext>
            </a:extLst>
          </p:cNvPr>
          <p:cNvSpPr/>
          <p:nvPr/>
        </p:nvSpPr>
        <p:spPr>
          <a:xfrm>
            <a:off x="1691318" y="1328911"/>
            <a:ext cx="2066925" cy="12024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Glenshaw Glass</a:t>
            </a:r>
          </a:p>
        </p:txBody>
      </p:sp>
      <p:sp>
        <p:nvSpPr>
          <p:cNvPr id="12" name="Rectangle 11">
            <a:extLst>
              <a:ext uri="{FF2B5EF4-FFF2-40B4-BE49-F238E27FC236}">
                <a16:creationId xmlns:a16="http://schemas.microsoft.com/office/drawing/2014/main" id="{2F27C1D7-8412-0ACE-8EFE-EDCC6E9A2721}"/>
              </a:ext>
            </a:extLst>
          </p:cNvPr>
          <p:cNvSpPr/>
          <p:nvPr/>
        </p:nvSpPr>
        <p:spPr>
          <a:xfrm>
            <a:off x="8433757" y="1328911"/>
            <a:ext cx="2066925" cy="12024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Hartford-Empire Co.</a:t>
            </a:r>
          </a:p>
        </p:txBody>
      </p:sp>
      <p:cxnSp>
        <p:nvCxnSpPr>
          <p:cNvPr id="17" name="Straight Arrow Connector 16">
            <a:extLst>
              <a:ext uri="{FF2B5EF4-FFF2-40B4-BE49-F238E27FC236}">
                <a16:creationId xmlns:a16="http://schemas.microsoft.com/office/drawing/2014/main" id="{9F1CAD66-1532-A696-B511-C88D13F61C2F}"/>
              </a:ext>
            </a:extLst>
          </p:cNvPr>
          <p:cNvCxnSpPr>
            <a:cxnSpLocks/>
          </p:cNvCxnSpPr>
          <p:nvPr/>
        </p:nvCxnSpPr>
        <p:spPr>
          <a:xfrm flipH="1">
            <a:off x="4015946" y="1618735"/>
            <a:ext cx="4324865"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6E8687C-FCD9-A730-06CA-024AAB24DDC5}"/>
              </a:ext>
            </a:extLst>
          </p:cNvPr>
          <p:cNvSpPr txBox="1"/>
          <p:nvPr/>
        </p:nvSpPr>
        <p:spPr>
          <a:xfrm>
            <a:off x="4145637" y="1720767"/>
            <a:ext cx="4010454" cy="1754326"/>
          </a:xfrm>
          <a:prstGeom prst="rect">
            <a:avLst/>
          </a:prstGeom>
          <a:noFill/>
          <a:ln w="22225">
            <a:solidFill>
              <a:schemeClr val="accent1">
                <a:shade val="95000"/>
                <a:satMod val="105000"/>
              </a:schemeClr>
            </a:solidFill>
          </a:ln>
        </p:spPr>
        <p:txBody>
          <a:bodyPr wrap="square" rtlCol="0">
            <a:spAutoFit/>
          </a:bodyPr>
          <a:lstStyle/>
          <a:p>
            <a:r>
              <a:rPr lang="en-US" dirty="0"/>
              <a:t>In anti-trust litigation, Hartford paid Glenshaw Glass a total payment of 800K, of which 325K represented payment for fraud &amp; punitive damages and the remainder was for compensatory (lost profits) damages.</a:t>
            </a:r>
          </a:p>
        </p:txBody>
      </p:sp>
      <p:sp>
        <p:nvSpPr>
          <p:cNvPr id="20" name="TextBox 19">
            <a:extLst>
              <a:ext uri="{FF2B5EF4-FFF2-40B4-BE49-F238E27FC236}">
                <a16:creationId xmlns:a16="http://schemas.microsoft.com/office/drawing/2014/main" id="{B43FBA7E-96C6-9530-70F8-924A111DC883}"/>
              </a:ext>
            </a:extLst>
          </p:cNvPr>
          <p:cNvSpPr txBox="1"/>
          <p:nvPr/>
        </p:nvSpPr>
        <p:spPr>
          <a:xfrm>
            <a:off x="2780270" y="3740457"/>
            <a:ext cx="6796215" cy="1815882"/>
          </a:xfrm>
          <a:prstGeom prst="rect">
            <a:avLst/>
          </a:prstGeom>
          <a:noFill/>
          <a:ln w="25400">
            <a:solidFill>
              <a:schemeClr val="accent1">
                <a:shade val="95000"/>
                <a:satMod val="105000"/>
              </a:schemeClr>
            </a:solidFill>
          </a:ln>
        </p:spPr>
        <p:txBody>
          <a:bodyPr wrap="square" rtlCol="0">
            <a:spAutoFit/>
          </a:bodyPr>
          <a:lstStyle/>
          <a:p>
            <a:pPr algn="just"/>
            <a:r>
              <a:rPr lang="en-US" sz="2800" i="1" dirty="0"/>
              <a:t>Here we have instances of </a:t>
            </a:r>
            <a:r>
              <a:rPr lang="en-US" sz="2800" i="1" u="sng" dirty="0"/>
              <a:t>undeniable accessions to wealth</a:t>
            </a:r>
            <a:r>
              <a:rPr lang="en-US" sz="2800" i="1" dirty="0"/>
              <a:t>, </a:t>
            </a:r>
            <a:r>
              <a:rPr lang="en-US" sz="2800" i="1" u="sng" dirty="0"/>
              <a:t>clearly realized</a:t>
            </a:r>
            <a:r>
              <a:rPr lang="en-US" sz="2800" i="1" dirty="0"/>
              <a:t>, and over which the taxpayers have </a:t>
            </a:r>
            <a:r>
              <a:rPr lang="en-US" sz="2800" i="1" u="sng" dirty="0"/>
              <a:t>complete dominion</a:t>
            </a:r>
            <a:r>
              <a:rPr lang="en-US" sz="2800" i="1" dirty="0"/>
              <a:t>.</a:t>
            </a:r>
            <a:endParaRPr lang="en-US" sz="2800" dirty="0"/>
          </a:p>
        </p:txBody>
      </p:sp>
    </p:spTree>
    <p:extLst>
      <p:ext uri="{BB962C8B-B14F-4D97-AF65-F5344CB8AC3E}">
        <p14:creationId xmlns:p14="http://schemas.microsoft.com/office/powerpoint/2010/main" val="1666075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F51392-08B1-FFF0-5FB7-ADF6D0C127F7}"/>
              </a:ext>
            </a:extLst>
          </p:cNvPr>
          <p:cNvSpPr>
            <a:spLocks noGrp="1"/>
          </p:cNvSpPr>
          <p:nvPr>
            <p:ph type="title"/>
          </p:nvPr>
        </p:nvSpPr>
        <p:spPr/>
        <p:txBody>
          <a:bodyPr/>
          <a:lstStyle/>
          <a:p>
            <a:r>
              <a:rPr lang="en-US" dirty="0"/>
              <a:t>Rev. Rul. 76-131</a:t>
            </a:r>
          </a:p>
        </p:txBody>
      </p:sp>
      <p:sp>
        <p:nvSpPr>
          <p:cNvPr id="4" name="Slide Number Placeholder 3">
            <a:extLst>
              <a:ext uri="{FF2B5EF4-FFF2-40B4-BE49-F238E27FC236}">
                <a16:creationId xmlns:a16="http://schemas.microsoft.com/office/drawing/2014/main" id="{B05EE28A-96DE-B0C7-FA7F-8748CF82E88C}"/>
              </a:ext>
            </a:extLst>
          </p:cNvPr>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sp>
        <p:nvSpPr>
          <p:cNvPr id="5" name="Footer Placeholder 4">
            <a:extLst>
              <a:ext uri="{FF2B5EF4-FFF2-40B4-BE49-F238E27FC236}">
                <a16:creationId xmlns:a16="http://schemas.microsoft.com/office/drawing/2014/main" id="{4BE80950-3E1F-DB45-ADBF-BCF52CDEEB0A}"/>
              </a:ext>
            </a:extLst>
          </p:cNvPr>
          <p:cNvSpPr>
            <a:spLocks noGrp="1"/>
          </p:cNvSpPr>
          <p:nvPr>
            <p:ph type="ftr" sz="quarter" idx="11"/>
          </p:nvPr>
        </p:nvSpPr>
        <p:spPr/>
        <p:txBody>
          <a:bodyPr/>
          <a:lstStyle/>
          <a:p>
            <a:pPr>
              <a:defRPr/>
            </a:pPr>
            <a:r>
              <a:rPr lang="en-US"/>
              <a:t>Residual Income</a:t>
            </a:r>
            <a:endParaRPr lang="en-US" dirty="0"/>
          </a:p>
        </p:txBody>
      </p:sp>
      <p:pic>
        <p:nvPicPr>
          <p:cNvPr id="1026" name="Picture 2" descr="Physical Map of Alaska. It shows the physical features of Alaska including its mountain ranges, rivers and major lakes. ">
            <a:extLst>
              <a:ext uri="{FF2B5EF4-FFF2-40B4-BE49-F238E27FC236}">
                <a16:creationId xmlns:a16="http://schemas.microsoft.com/office/drawing/2014/main" id="{7074066D-5F72-7DC6-C3BD-AF12DE48FCC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255081" y="922253"/>
            <a:ext cx="4263081" cy="43434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742153C-7E3E-70DF-F606-0A622A942AD2}"/>
              </a:ext>
            </a:extLst>
          </p:cNvPr>
          <p:cNvSpPr txBox="1"/>
          <p:nvPr/>
        </p:nvSpPr>
        <p:spPr>
          <a:xfrm>
            <a:off x="4683211" y="3216897"/>
            <a:ext cx="2233772" cy="1631216"/>
          </a:xfrm>
          <a:prstGeom prst="rect">
            <a:avLst/>
          </a:prstGeom>
          <a:noFill/>
        </p:spPr>
        <p:txBody>
          <a:bodyPr wrap="square" rtlCol="0">
            <a:spAutoFit/>
          </a:bodyPr>
          <a:lstStyle/>
          <a:p>
            <a:r>
              <a:rPr lang="en-US" sz="2000" b="1" dirty="0"/>
              <a:t>Monthly stipend ($) paid to long-term Alaskan residents 65 or older</a:t>
            </a:r>
          </a:p>
        </p:txBody>
      </p:sp>
      <p:cxnSp>
        <p:nvCxnSpPr>
          <p:cNvPr id="8" name="Straight Arrow Connector 7">
            <a:extLst>
              <a:ext uri="{FF2B5EF4-FFF2-40B4-BE49-F238E27FC236}">
                <a16:creationId xmlns:a16="http://schemas.microsoft.com/office/drawing/2014/main" id="{C873F8F1-843F-E780-267E-B161EE1289D2}"/>
              </a:ext>
            </a:extLst>
          </p:cNvPr>
          <p:cNvCxnSpPr>
            <a:cxnSpLocks/>
            <a:stCxn id="1026" idx="1"/>
          </p:cNvCxnSpPr>
          <p:nvPr/>
        </p:nvCxnSpPr>
        <p:spPr>
          <a:xfrm flipH="1">
            <a:off x="4857871" y="3093953"/>
            <a:ext cx="2397210"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pic>
        <p:nvPicPr>
          <p:cNvPr id="1028" name="Picture 4" descr="Alaska Wildlife Conservation Center | Portage | ALASKA.ORG">
            <a:extLst>
              <a:ext uri="{FF2B5EF4-FFF2-40B4-BE49-F238E27FC236}">
                <a16:creationId xmlns:a16="http://schemas.microsoft.com/office/drawing/2014/main" id="{E4734647-5E43-7741-D15A-A0F451E36A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551" y="2004665"/>
            <a:ext cx="4035222" cy="2607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091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D33A0A-DAB6-5660-9977-4B584FC3E5A2}"/>
              </a:ext>
            </a:extLst>
          </p:cNvPr>
          <p:cNvSpPr>
            <a:spLocks noGrp="1"/>
          </p:cNvSpPr>
          <p:nvPr>
            <p:ph idx="1"/>
          </p:nvPr>
        </p:nvSpPr>
        <p:spPr/>
        <p:txBody>
          <a:bodyPr>
            <a:normAutofit lnSpcReduction="10000"/>
          </a:bodyPr>
          <a:lstStyle/>
          <a:p>
            <a:r>
              <a:rPr lang="en-US" sz="2800" dirty="0"/>
              <a:t>(1) The only payments received by the individual with respect to the work activity are </a:t>
            </a:r>
            <a:r>
              <a:rPr lang="en-US" sz="2800" b="1" dirty="0"/>
              <a:t>received directly from the state or local welfare agency </a:t>
            </a:r>
            <a:r>
              <a:rPr lang="en-US" sz="2800" dirty="0"/>
              <a:t>(for this purpose, an entity with which a state or local welfare agency contracts to administer the state TANF program on behalf of the state will be treated as the state or local welfare agency); </a:t>
            </a:r>
          </a:p>
          <a:p>
            <a:r>
              <a:rPr lang="en-US" sz="2800" dirty="0"/>
              <a:t>(2) The determination of the individual’s eligibility to receive </a:t>
            </a:r>
            <a:r>
              <a:rPr lang="en-US" sz="2800" b="1" dirty="0"/>
              <a:t>any payment is based on need and the only payments received by the individual with respect to the work activity are funded entirely under a TANF program </a:t>
            </a:r>
            <a:r>
              <a:rPr lang="en-US" sz="2800" dirty="0"/>
              <a:t>(including any payments with respect to qualified state expenditures…; and </a:t>
            </a:r>
          </a:p>
          <a:p>
            <a:r>
              <a:rPr lang="en-US" sz="2800" dirty="0"/>
              <a:t>(3) The </a:t>
            </a:r>
            <a:r>
              <a:rPr lang="en-US" sz="2800" b="1" dirty="0"/>
              <a:t>size of the individual’s payment is determined by the applicable welfare law</a:t>
            </a:r>
            <a:r>
              <a:rPr lang="en-US" sz="2800" dirty="0"/>
              <a:t>, and the number of hours the individual may engage in the work activity is limited by the size of the individual’s payment (as determined by applicable welfare law) divided by the higher of the federal or state minimum wage.</a:t>
            </a:r>
          </a:p>
        </p:txBody>
      </p:sp>
      <p:sp>
        <p:nvSpPr>
          <p:cNvPr id="3" name="Title 2">
            <a:extLst>
              <a:ext uri="{FF2B5EF4-FFF2-40B4-BE49-F238E27FC236}">
                <a16:creationId xmlns:a16="http://schemas.microsoft.com/office/drawing/2014/main" id="{3A8E3FDB-331B-E0E2-22A2-8F5033A4DE6A}"/>
              </a:ext>
            </a:extLst>
          </p:cNvPr>
          <p:cNvSpPr>
            <a:spLocks noGrp="1"/>
          </p:cNvSpPr>
          <p:nvPr>
            <p:ph type="title"/>
          </p:nvPr>
        </p:nvSpPr>
        <p:spPr/>
        <p:txBody>
          <a:bodyPr/>
          <a:lstStyle/>
          <a:p>
            <a:r>
              <a:rPr lang="en-US" dirty="0"/>
              <a:t>Notice 99-3: Temp. Ass. Needy Fam. (TANF)</a:t>
            </a:r>
          </a:p>
        </p:txBody>
      </p:sp>
      <p:sp>
        <p:nvSpPr>
          <p:cNvPr id="4" name="Slide Number Placeholder 3">
            <a:extLst>
              <a:ext uri="{FF2B5EF4-FFF2-40B4-BE49-F238E27FC236}">
                <a16:creationId xmlns:a16="http://schemas.microsoft.com/office/drawing/2014/main" id="{05546487-2FB2-39A3-6148-6B6D1652F115}"/>
              </a:ext>
            </a:extLst>
          </p:cNvPr>
          <p:cNvSpPr>
            <a:spLocks noGrp="1"/>
          </p:cNvSpPr>
          <p:nvPr>
            <p:ph type="sldNum" sz="quarter" idx="10"/>
          </p:nvPr>
        </p:nvSpPr>
        <p:spPr/>
        <p:txBody>
          <a:bodyPr/>
          <a:lstStyle/>
          <a:p>
            <a:fld id="{7B3E355C-57B9-BC4B-95D8-406A1F834537}" type="slidenum">
              <a:rPr lang="en-US" altLang="en-US" smtClean="0"/>
              <a:pPr/>
              <a:t>7</a:t>
            </a:fld>
            <a:endParaRPr lang="en-US" altLang="en-US" dirty="0"/>
          </a:p>
        </p:txBody>
      </p:sp>
      <p:sp>
        <p:nvSpPr>
          <p:cNvPr id="5" name="Footer Placeholder 4">
            <a:extLst>
              <a:ext uri="{FF2B5EF4-FFF2-40B4-BE49-F238E27FC236}">
                <a16:creationId xmlns:a16="http://schemas.microsoft.com/office/drawing/2014/main" id="{C1F66E1B-933E-036C-CB18-280F30BA06A6}"/>
              </a:ext>
            </a:extLst>
          </p:cNvPr>
          <p:cNvSpPr>
            <a:spLocks noGrp="1"/>
          </p:cNvSpPr>
          <p:nvPr>
            <p:ph type="ftr" sz="quarter" idx="11"/>
          </p:nvPr>
        </p:nvSpPr>
        <p:spPr/>
        <p:txBody>
          <a:bodyPr/>
          <a:lstStyle/>
          <a:p>
            <a:pPr>
              <a:defRPr/>
            </a:pPr>
            <a:r>
              <a:rPr lang="en-US"/>
              <a:t>Residual Income</a:t>
            </a:r>
            <a:endParaRPr lang="en-US" dirty="0"/>
          </a:p>
        </p:txBody>
      </p:sp>
    </p:spTree>
    <p:extLst>
      <p:ext uri="{BB962C8B-B14F-4D97-AF65-F5344CB8AC3E}">
        <p14:creationId xmlns:p14="http://schemas.microsoft.com/office/powerpoint/2010/main" val="1387834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F95B94-0320-4327-F068-C2B023A51D3E}"/>
              </a:ext>
            </a:extLst>
          </p:cNvPr>
          <p:cNvSpPr>
            <a:spLocks noGrp="1"/>
          </p:cNvSpPr>
          <p:nvPr>
            <p:ph idx="1"/>
          </p:nvPr>
        </p:nvSpPr>
        <p:spPr/>
        <p:txBody>
          <a:bodyPr/>
          <a:lstStyle/>
          <a:p>
            <a:r>
              <a:rPr lang="en-US" dirty="0"/>
              <a:t>Unemployment compensation?  </a:t>
            </a:r>
            <a:r>
              <a:rPr lang="en-US" dirty="0">
                <a:latin typeface="Calibri" panose="020F0502020204030204" pitchFamily="34" charset="0"/>
                <a:cs typeface="Calibri" panose="020F0502020204030204" pitchFamily="34" charset="0"/>
              </a:rPr>
              <a:t>§85</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Social Security? §86</a:t>
            </a:r>
          </a:p>
          <a:p>
            <a:pPr lvl="1"/>
            <a:r>
              <a:rPr lang="en-US" dirty="0">
                <a:latin typeface="Calibri" panose="020F0502020204030204" pitchFamily="34" charset="0"/>
                <a:cs typeface="Calibri" panose="020F0502020204030204" pitchFamily="34" charset="0"/>
              </a:rPr>
              <a:t>H&amp;W have SS earnings of 40k/year and an AGI of alternatively 60K or 100k.  How much of their SS earnings </a:t>
            </a:r>
            <a:r>
              <a:rPr lang="en-US">
                <a:latin typeface="Calibri" panose="020F0502020204030204" pitchFamily="34" charset="0"/>
                <a:cs typeface="Calibri" panose="020F0502020204030204" pitchFamily="34" charset="0"/>
              </a:rPr>
              <a:t>are subject to tax?</a:t>
            </a:r>
            <a:endParaRPr lang="en-US" dirty="0"/>
          </a:p>
        </p:txBody>
      </p:sp>
      <p:sp>
        <p:nvSpPr>
          <p:cNvPr id="3" name="Title 2">
            <a:extLst>
              <a:ext uri="{FF2B5EF4-FFF2-40B4-BE49-F238E27FC236}">
                <a16:creationId xmlns:a16="http://schemas.microsoft.com/office/drawing/2014/main" id="{A464C86A-DE3F-DA83-2B0A-3E8D6599635B}"/>
              </a:ext>
            </a:extLst>
          </p:cNvPr>
          <p:cNvSpPr>
            <a:spLocks noGrp="1"/>
          </p:cNvSpPr>
          <p:nvPr>
            <p:ph type="title"/>
          </p:nvPr>
        </p:nvSpPr>
        <p:spPr/>
        <p:txBody>
          <a:bodyPr/>
          <a:lstStyle/>
          <a:p>
            <a:r>
              <a:rPr lang="en-US" dirty="0"/>
              <a:t>General Welfare or Gross Income</a:t>
            </a:r>
          </a:p>
        </p:txBody>
      </p:sp>
      <p:sp>
        <p:nvSpPr>
          <p:cNvPr id="4" name="Slide Number Placeholder 3">
            <a:extLst>
              <a:ext uri="{FF2B5EF4-FFF2-40B4-BE49-F238E27FC236}">
                <a16:creationId xmlns:a16="http://schemas.microsoft.com/office/drawing/2014/main" id="{226C471E-6E87-F4C8-FC14-158FEC1A30A1}"/>
              </a:ext>
            </a:extLst>
          </p:cNvPr>
          <p:cNvSpPr>
            <a:spLocks noGrp="1"/>
          </p:cNvSpPr>
          <p:nvPr>
            <p:ph type="sldNum" sz="quarter" idx="10"/>
          </p:nvPr>
        </p:nvSpPr>
        <p:spPr/>
        <p:txBody>
          <a:bodyPr/>
          <a:lstStyle/>
          <a:p>
            <a:fld id="{7B3E355C-57B9-BC4B-95D8-406A1F834537}" type="slidenum">
              <a:rPr lang="en-US" altLang="en-US" smtClean="0"/>
              <a:pPr/>
              <a:t>8</a:t>
            </a:fld>
            <a:endParaRPr lang="en-US" altLang="en-US" dirty="0"/>
          </a:p>
        </p:txBody>
      </p:sp>
      <p:sp>
        <p:nvSpPr>
          <p:cNvPr id="5" name="Footer Placeholder 4">
            <a:extLst>
              <a:ext uri="{FF2B5EF4-FFF2-40B4-BE49-F238E27FC236}">
                <a16:creationId xmlns:a16="http://schemas.microsoft.com/office/drawing/2014/main" id="{B76CF894-E06C-8224-5458-0CB9F5C3A0DC}"/>
              </a:ext>
            </a:extLst>
          </p:cNvPr>
          <p:cNvSpPr>
            <a:spLocks noGrp="1"/>
          </p:cNvSpPr>
          <p:nvPr>
            <p:ph type="ftr" sz="quarter" idx="11"/>
          </p:nvPr>
        </p:nvSpPr>
        <p:spPr/>
        <p:txBody>
          <a:bodyPr/>
          <a:lstStyle/>
          <a:p>
            <a:pPr>
              <a:defRPr/>
            </a:pPr>
            <a:r>
              <a:rPr lang="en-US"/>
              <a:t>Residual Income</a:t>
            </a:r>
            <a:endParaRPr lang="en-US" dirty="0"/>
          </a:p>
        </p:txBody>
      </p:sp>
    </p:spTree>
    <p:extLst>
      <p:ext uri="{BB962C8B-B14F-4D97-AF65-F5344CB8AC3E}">
        <p14:creationId xmlns:p14="http://schemas.microsoft.com/office/powerpoint/2010/main" val="1860664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721911-1DB8-4868-8DAB-5E0FB2C8D2C7}"/>
              </a:ext>
            </a:extLst>
          </p:cNvPr>
          <p:cNvSpPr>
            <a:spLocks noGrp="1"/>
          </p:cNvSpPr>
          <p:nvPr>
            <p:ph idx="1"/>
          </p:nvPr>
        </p:nvSpPr>
        <p:spPr/>
        <p:txBody>
          <a:bodyPr/>
          <a:lstStyle/>
          <a:p>
            <a:r>
              <a:rPr lang="en-US" sz="2400" dirty="0">
                <a:effectLst/>
                <a:latin typeface="Calibri" panose="020F0502020204030204" pitchFamily="34" charset="0"/>
                <a:cs typeface="Calibri" panose="020F0502020204030204" pitchFamily="34" charset="0"/>
              </a:rPr>
              <a:t>(d) </a:t>
            </a:r>
            <a:r>
              <a:rPr lang="en-US" sz="2400" b="1" i="1" dirty="0">
                <a:effectLst/>
                <a:latin typeface="Calibri" panose="020F0502020204030204" pitchFamily="34" charset="0"/>
                <a:cs typeface="Calibri" panose="020F0502020204030204" pitchFamily="34" charset="0"/>
              </a:rPr>
              <a:t>Compensation paid other than in cash</a:t>
            </a:r>
            <a:r>
              <a:rPr lang="en-US" sz="2400" dirty="0">
                <a:effectLst/>
                <a:latin typeface="Calibri" panose="020F0502020204030204" pitchFamily="34" charset="0"/>
                <a:cs typeface="Calibri" panose="020F0502020204030204" pitchFamily="34" charset="0"/>
              </a:rPr>
              <a:t>.—(1) …if </a:t>
            </a:r>
            <a:r>
              <a:rPr lang="en-US" sz="2400" b="1" dirty="0">
                <a:effectLst/>
                <a:latin typeface="Calibri" panose="020F0502020204030204" pitchFamily="34" charset="0"/>
                <a:cs typeface="Calibri" panose="020F0502020204030204" pitchFamily="34" charset="0"/>
              </a:rPr>
              <a:t>services are paid for in property</a:t>
            </a:r>
            <a:r>
              <a:rPr lang="en-US" sz="2400" dirty="0">
                <a:effectLst/>
                <a:latin typeface="Calibri" panose="020F0502020204030204" pitchFamily="34" charset="0"/>
                <a:cs typeface="Calibri" panose="020F0502020204030204" pitchFamily="34" charset="0"/>
              </a:rPr>
              <a:t>, the fair market value of the property taken in payment must be included in income as compensation.  Reg. §1.61-2(d)(1)</a:t>
            </a:r>
          </a:p>
          <a:p>
            <a:endParaRPr lang="en-US" sz="2400" dirty="0">
              <a:latin typeface="Calibri" panose="020F0502020204030204" pitchFamily="34" charset="0"/>
              <a:cs typeface="Calibri" panose="020F0502020204030204" pitchFamily="34" charset="0"/>
            </a:endParaRPr>
          </a:p>
          <a:p>
            <a:r>
              <a:rPr lang="en-US" sz="2800" dirty="0">
                <a:latin typeface="Calibri" panose="020F0502020204030204" pitchFamily="34" charset="0"/>
                <a:cs typeface="Calibri" panose="020F0502020204030204" pitchFamily="34" charset="0"/>
              </a:rPr>
              <a:t>Is all in-kind consumption an </a:t>
            </a:r>
            <a:r>
              <a:rPr lang="en-US" sz="2800" i="1" dirty="0">
                <a:latin typeface="Calibri" panose="020F0502020204030204" pitchFamily="34" charset="0"/>
                <a:cs typeface="Calibri" panose="020F0502020204030204" pitchFamily="34" charset="0"/>
              </a:rPr>
              <a:t>accession to wealth—a substitute for cash—and </a:t>
            </a:r>
            <a:r>
              <a:rPr lang="en-US" sz="2800" dirty="0">
                <a:latin typeface="Calibri" panose="020F0502020204030204" pitchFamily="34" charset="0"/>
                <a:cs typeface="Calibri" panose="020F0502020204030204" pitchFamily="34" charset="0"/>
              </a:rPr>
              <a:t>therefore taxable under the residual clause of  §61 (and not otherwise exempted by a specific code section, e.g., gift, prize)?</a:t>
            </a:r>
          </a:p>
          <a:p>
            <a:pPr lvl="1"/>
            <a:r>
              <a:rPr lang="en-US" sz="2400" dirty="0">
                <a:latin typeface="Calibri" panose="020F0502020204030204" pitchFamily="34" charset="0"/>
                <a:cs typeface="Calibri" panose="020F0502020204030204" pitchFamily="34" charset="0"/>
              </a:rPr>
              <a:t>Oscar gift bag?</a:t>
            </a:r>
          </a:p>
          <a:p>
            <a:pPr lvl="1"/>
            <a:r>
              <a:rPr lang="en-US" sz="2400" dirty="0">
                <a:latin typeface="Calibri" panose="020F0502020204030204" pitchFamily="34" charset="0"/>
                <a:cs typeface="Calibri" panose="020F0502020204030204" pitchFamily="34" charset="0"/>
              </a:rPr>
              <a:t>Receipt of medical care under Medicare?</a:t>
            </a:r>
          </a:p>
          <a:p>
            <a:pPr lvl="1"/>
            <a:r>
              <a:rPr lang="en-US" sz="2400" dirty="0">
                <a:latin typeface="Calibri" panose="020F0502020204030204" pitchFamily="34" charset="0"/>
                <a:cs typeface="Calibri" panose="020F0502020204030204" pitchFamily="34" charset="0"/>
              </a:rPr>
              <a:t>Free concert in the park?</a:t>
            </a:r>
          </a:p>
          <a:p>
            <a:pPr lvl="1"/>
            <a:r>
              <a:rPr lang="en-US" sz="2400" dirty="0">
                <a:latin typeface="Calibri" panose="020F0502020204030204" pitchFamily="34" charset="0"/>
                <a:cs typeface="Calibri" panose="020F0502020204030204" pitchFamily="34" charset="0"/>
              </a:rPr>
              <a:t>Self-grown produce?</a:t>
            </a:r>
          </a:p>
          <a:p>
            <a:pPr lvl="1"/>
            <a:r>
              <a:rPr lang="en-US" sz="2400" dirty="0">
                <a:latin typeface="Calibri" panose="020F0502020204030204" pitchFamily="34" charset="0"/>
                <a:cs typeface="Calibri" panose="020F0502020204030204" pitchFamily="34" charset="0"/>
              </a:rPr>
              <a:t>Prizes? §85</a:t>
            </a:r>
          </a:p>
          <a:p>
            <a:pPr lvl="1"/>
            <a:r>
              <a:rPr lang="en-US" sz="2400" dirty="0">
                <a:latin typeface="Calibri" panose="020F0502020204030204" pitchFamily="34" charset="0"/>
                <a:cs typeface="Calibri" panose="020F0502020204030204" pitchFamily="34" charset="0"/>
              </a:rPr>
              <a:t>Lunch paid for by your lawyer?</a:t>
            </a:r>
          </a:p>
          <a:p>
            <a:pPr lvl="1"/>
            <a:endParaRPr lang="en-US" sz="2400"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963B3086-AD9E-D45E-E9BA-5C87869C37F4}"/>
              </a:ext>
            </a:extLst>
          </p:cNvPr>
          <p:cNvSpPr>
            <a:spLocks noGrp="1"/>
          </p:cNvSpPr>
          <p:nvPr>
            <p:ph type="title"/>
          </p:nvPr>
        </p:nvSpPr>
        <p:spPr/>
        <p:txBody>
          <a:bodyPr/>
          <a:lstStyle/>
          <a:p>
            <a:r>
              <a:rPr lang="en-US" sz="1800" dirty="0"/>
              <a:t>In-kind Consumption</a:t>
            </a:r>
          </a:p>
        </p:txBody>
      </p:sp>
      <p:sp>
        <p:nvSpPr>
          <p:cNvPr id="4" name="Slide Number Placeholder 3">
            <a:extLst>
              <a:ext uri="{FF2B5EF4-FFF2-40B4-BE49-F238E27FC236}">
                <a16:creationId xmlns:a16="http://schemas.microsoft.com/office/drawing/2014/main" id="{3B1AFDC7-0B76-1312-4600-9FC777F6F95E}"/>
              </a:ext>
            </a:extLst>
          </p:cNvPr>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
        <p:nvSpPr>
          <p:cNvPr id="5" name="Footer Placeholder 4">
            <a:extLst>
              <a:ext uri="{FF2B5EF4-FFF2-40B4-BE49-F238E27FC236}">
                <a16:creationId xmlns:a16="http://schemas.microsoft.com/office/drawing/2014/main" id="{3B44F846-459C-111F-F040-FCBEFD2A8F73}"/>
              </a:ext>
            </a:extLst>
          </p:cNvPr>
          <p:cNvSpPr>
            <a:spLocks noGrp="1"/>
          </p:cNvSpPr>
          <p:nvPr>
            <p:ph type="ftr" sz="quarter" idx="11"/>
          </p:nvPr>
        </p:nvSpPr>
        <p:spPr/>
        <p:txBody>
          <a:bodyPr/>
          <a:lstStyle/>
          <a:p>
            <a:pPr>
              <a:defRPr/>
            </a:pPr>
            <a:r>
              <a:rPr lang="en-US"/>
              <a:t>Residual Income</a:t>
            </a:r>
            <a:endParaRPr lang="en-US" dirty="0"/>
          </a:p>
        </p:txBody>
      </p:sp>
    </p:spTree>
    <p:extLst>
      <p:ext uri="{BB962C8B-B14F-4D97-AF65-F5344CB8AC3E}">
        <p14:creationId xmlns:p14="http://schemas.microsoft.com/office/powerpoint/2010/main" val="2381105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D78C8A-00D6-9E77-808A-CD6B6A6FE235}"/>
              </a:ext>
            </a:extLst>
          </p:cNvPr>
          <p:cNvSpPr>
            <a:spLocks noGrp="1"/>
          </p:cNvSpPr>
          <p:nvPr>
            <p:ph type="title"/>
          </p:nvPr>
        </p:nvSpPr>
        <p:spPr/>
        <p:txBody>
          <a:bodyPr/>
          <a:lstStyle/>
          <a:p>
            <a:r>
              <a:rPr lang="en-US" dirty="0"/>
              <a:t>United States v. </a:t>
            </a:r>
            <a:r>
              <a:rPr lang="en-US" dirty="0" err="1"/>
              <a:t>Gotcher</a:t>
            </a:r>
            <a:r>
              <a:rPr lang="en-US" dirty="0"/>
              <a:t>, 401 F.2d 118 (5</a:t>
            </a:r>
            <a:r>
              <a:rPr lang="en-US" baseline="30000" dirty="0"/>
              <a:t>th</a:t>
            </a:r>
            <a:r>
              <a:rPr lang="en-US" dirty="0"/>
              <a:t> Cir. 1968)</a:t>
            </a:r>
          </a:p>
        </p:txBody>
      </p:sp>
      <p:sp>
        <p:nvSpPr>
          <p:cNvPr id="4" name="Slide Number Placeholder 3">
            <a:extLst>
              <a:ext uri="{FF2B5EF4-FFF2-40B4-BE49-F238E27FC236}">
                <a16:creationId xmlns:a16="http://schemas.microsoft.com/office/drawing/2014/main" id="{0B41C77A-523E-D4CC-02B0-85F578BBF718}"/>
              </a:ext>
            </a:extLst>
          </p:cNvPr>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sp>
        <p:nvSpPr>
          <p:cNvPr id="5" name="Footer Placeholder 4">
            <a:extLst>
              <a:ext uri="{FF2B5EF4-FFF2-40B4-BE49-F238E27FC236}">
                <a16:creationId xmlns:a16="http://schemas.microsoft.com/office/drawing/2014/main" id="{F70EBF9F-026A-6DD9-C12F-9F84740C43D8}"/>
              </a:ext>
            </a:extLst>
          </p:cNvPr>
          <p:cNvSpPr>
            <a:spLocks noGrp="1"/>
          </p:cNvSpPr>
          <p:nvPr>
            <p:ph type="ftr" sz="quarter" idx="11"/>
          </p:nvPr>
        </p:nvSpPr>
        <p:spPr/>
        <p:txBody>
          <a:bodyPr/>
          <a:lstStyle/>
          <a:p>
            <a:pPr>
              <a:defRPr/>
            </a:pPr>
            <a:r>
              <a:rPr lang="en-US"/>
              <a:t>Residual Income</a:t>
            </a:r>
            <a:endParaRPr lang="en-US" dirty="0"/>
          </a:p>
        </p:txBody>
      </p:sp>
      <p:pic>
        <p:nvPicPr>
          <p:cNvPr id="2050" name="Picture 2" descr="The detailed map of Germany with regions. Vector illustration isolated on white background. Administrative territory of the country.">
            <a:extLst>
              <a:ext uri="{FF2B5EF4-FFF2-40B4-BE49-F238E27FC236}">
                <a16:creationId xmlns:a16="http://schemas.microsoft.com/office/drawing/2014/main" id="{E5606D8D-E918-DEA2-0A82-79E735A9E8F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68806" y="849767"/>
            <a:ext cx="3820857" cy="486039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 front-three quarters view of a pale-yellow Volkswagen Käfer. It features 165/80R15 tires, which shod 15x4. 5&quot; silver, circular wheels. The Käfer features a beetle-like body, and its window is open. The picture is taken with much greenery in the background, and the photo was edited to give it a more warmer tone.">
            <a:extLst>
              <a:ext uri="{FF2B5EF4-FFF2-40B4-BE49-F238E27FC236}">
                <a16:creationId xmlns:a16="http://schemas.microsoft.com/office/drawing/2014/main" id="{23B0FF1E-E33C-CD4F-D4BF-7493A22F2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6219" y="4012289"/>
            <a:ext cx="3211256" cy="205600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New Owners of Automobile Posing in Dealership Stock Image - Image of  caucasian, dealer: 174202611">
            <a:extLst>
              <a:ext uri="{FF2B5EF4-FFF2-40B4-BE49-F238E27FC236}">
                <a16:creationId xmlns:a16="http://schemas.microsoft.com/office/drawing/2014/main" id="{CC9AB8B0-C8BA-6864-DD7E-5DA3C52E82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7863" y="1029899"/>
            <a:ext cx="3211256" cy="2425311"/>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F8CD9CAB-7BCB-A31B-8120-D74DE5C19637}"/>
              </a:ext>
            </a:extLst>
          </p:cNvPr>
          <p:cNvCxnSpPr>
            <a:cxnSpLocks/>
          </p:cNvCxnSpPr>
          <p:nvPr/>
        </p:nvCxnSpPr>
        <p:spPr>
          <a:xfrm flipH="1">
            <a:off x="4947138" y="3279967"/>
            <a:ext cx="307926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83FFDE-0830-E915-AD40-293F1EFD9003}"/>
              </a:ext>
            </a:extLst>
          </p:cNvPr>
          <p:cNvSpPr txBox="1"/>
          <p:nvPr/>
        </p:nvSpPr>
        <p:spPr>
          <a:xfrm>
            <a:off x="4947138" y="3473680"/>
            <a:ext cx="3332338" cy="1077218"/>
          </a:xfrm>
          <a:prstGeom prst="rect">
            <a:avLst/>
          </a:prstGeom>
          <a:noFill/>
          <a:ln>
            <a:solidFill>
              <a:schemeClr val="accent1">
                <a:shade val="95000"/>
                <a:satMod val="105000"/>
              </a:schemeClr>
            </a:solidFill>
          </a:ln>
        </p:spPr>
        <p:txBody>
          <a:bodyPr wrap="square" rtlCol="0">
            <a:spAutoFit/>
          </a:bodyPr>
          <a:lstStyle/>
          <a:p>
            <a:pPr algn="just"/>
            <a:r>
              <a:rPr lang="en-US" sz="1600" dirty="0"/>
              <a:t>10-day expense paid trip to the Gotchers to visit VW manufacturing facilities to encourage investment in US VW dealerships.</a:t>
            </a:r>
          </a:p>
        </p:txBody>
      </p:sp>
    </p:spTree>
    <p:extLst>
      <p:ext uri="{BB962C8B-B14F-4D97-AF65-F5344CB8AC3E}">
        <p14:creationId xmlns:p14="http://schemas.microsoft.com/office/powerpoint/2010/main" val="1902281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75D686-4F07-BA4E-7832-0BAF34A39179}"/>
              </a:ext>
            </a:extLst>
          </p:cNvPr>
          <p:cNvSpPr>
            <a:spLocks noGrp="1"/>
          </p:cNvSpPr>
          <p:nvPr>
            <p:ph type="title"/>
          </p:nvPr>
        </p:nvSpPr>
        <p:spPr/>
        <p:txBody>
          <a:bodyPr/>
          <a:lstStyle/>
          <a:p>
            <a:r>
              <a:rPr lang="en-US" dirty="0"/>
              <a:t>Haverly v. US, 513 F.2d 224 (7</a:t>
            </a:r>
            <a:r>
              <a:rPr lang="en-US" baseline="30000" dirty="0"/>
              <a:t>th</a:t>
            </a:r>
            <a:r>
              <a:rPr lang="en-US" dirty="0"/>
              <a:t> Cir. 1975)</a:t>
            </a:r>
          </a:p>
        </p:txBody>
      </p:sp>
      <p:sp>
        <p:nvSpPr>
          <p:cNvPr id="4" name="Slide Number Placeholder 3">
            <a:extLst>
              <a:ext uri="{FF2B5EF4-FFF2-40B4-BE49-F238E27FC236}">
                <a16:creationId xmlns:a16="http://schemas.microsoft.com/office/drawing/2014/main" id="{523C8107-8D35-0F68-5CB5-3C52659726D0}"/>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sp>
        <p:nvSpPr>
          <p:cNvPr id="5" name="Footer Placeholder 4">
            <a:extLst>
              <a:ext uri="{FF2B5EF4-FFF2-40B4-BE49-F238E27FC236}">
                <a16:creationId xmlns:a16="http://schemas.microsoft.com/office/drawing/2014/main" id="{1CBBDC6B-041D-B57E-B2E0-AD2270CBF1E5}"/>
              </a:ext>
            </a:extLst>
          </p:cNvPr>
          <p:cNvSpPr>
            <a:spLocks noGrp="1"/>
          </p:cNvSpPr>
          <p:nvPr>
            <p:ph type="ftr" sz="quarter" idx="11"/>
          </p:nvPr>
        </p:nvSpPr>
        <p:spPr/>
        <p:txBody>
          <a:bodyPr/>
          <a:lstStyle/>
          <a:p>
            <a:pPr>
              <a:defRPr/>
            </a:pPr>
            <a:r>
              <a:rPr lang="en-US"/>
              <a:t>Residual Income</a:t>
            </a:r>
            <a:endParaRPr lang="en-US" dirty="0"/>
          </a:p>
        </p:txBody>
      </p:sp>
      <p:pic>
        <p:nvPicPr>
          <p:cNvPr id="3074" name="Picture 2" descr="New Edition of Tax Casebook Authored by Professor Peter Wiedenbeck - WashU  Law">
            <a:extLst>
              <a:ext uri="{FF2B5EF4-FFF2-40B4-BE49-F238E27FC236}">
                <a16:creationId xmlns:a16="http://schemas.microsoft.com/office/drawing/2014/main" id="{DDEFF914-697E-656F-228A-80CE60DACE1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2064" y="1895301"/>
            <a:ext cx="2041438" cy="269153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3d cartoon portrait of person ...">
            <a:extLst>
              <a:ext uri="{FF2B5EF4-FFF2-40B4-BE49-F238E27FC236}">
                <a16:creationId xmlns:a16="http://schemas.microsoft.com/office/drawing/2014/main" id="{BE4D553F-0894-A8AD-2A33-DB1C28C839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3317" y="1766396"/>
            <a:ext cx="2300108" cy="23241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850E24B1-D552-4D84-69AE-30AB40CF06B3}"/>
              </a:ext>
            </a:extLst>
          </p:cNvPr>
          <p:cNvCxnSpPr>
            <a:cxnSpLocks/>
          </p:cNvCxnSpPr>
          <p:nvPr/>
        </p:nvCxnSpPr>
        <p:spPr>
          <a:xfrm>
            <a:off x="2553502" y="2876204"/>
            <a:ext cx="2145382"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1C9824C-472A-E97A-2C4B-F4556031B541}"/>
              </a:ext>
            </a:extLst>
          </p:cNvPr>
          <p:cNvCxnSpPr>
            <a:cxnSpLocks/>
          </p:cNvCxnSpPr>
          <p:nvPr/>
        </p:nvCxnSpPr>
        <p:spPr>
          <a:xfrm>
            <a:off x="6932815" y="2876204"/>
            <a:ext cx="2800718"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pic>
        <p:nvPicPr>
          <p:cNvPr id="3078" name="Picture 6" descr="Long Hill Township Public Library">
            <a:extLst>
              <a:ext uri="{FF2B5EF4-FFF2-40B4-BE49-F238E27FC236}">
                <a16:creationId xmlns:a16="http://schemas.microsoft.com/office/drawing/2014/main" id="{95324339-7906-4C26-75F6-A9AB0F2CB7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92393" y="2410700"/>
            <a:ext cx="1828683" cy="202679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5DA8526-83B5-EDB7-4843-30B10BDCAE4C}"/>
              </a:ext>
            </a:extLst>
          </p:cNvPr>
          <p:cNvSpPr txBox="1"/>
          <p:nvPr/>
        </p:nvSpPr>
        <p:spPr>
          <a:xfrm>
            <a:off x="2719872" y="3082705"/>
            <a:ext cx="2145382" cy="646331"/>
          </a:xfrm>
          <a:prstGeom prst="rect">
            <a:avLst/>
          </a:prstGeom>
          <a:noFill/>
        </p:spPr>
        <p:txBody>
          <a:bodyPr wrap="square" rtlCol="0">
            <a:spAutoFit/>
          </a:bodyPr>
          <a:lstStyle/>
          <a:p>
            <a:r>
              <a:rPr lang="en-US" dirty="0"/>
              <a:t>Check out our tax great book</a:t>
            </a:r>
          </a:p>
        </p:txBody>
      </p:sp>
      <p:sp>
        <p:nvSpPr>
          <p:cNvPr id="11" name="TextBox 10">
            <a:extLst>
              <a:ext uri="{FF2B5EF4-FFF2-40B4-BE49-F238E27FC236}">
                <a16:creationId xmlns:a16="http://schemas.microsoft.com/office/drawing/2014/main" id="{578331A8-F7E2-369C-3AE1-7EA3473F4802}"/>
              </a:ext>
            </a:extLst>
          </p:cNvPr>
          <p:cNvSpPr txBox="1"/>
          <p:nvPr/>
        </p:nvSpPr>
        <p:spPr>
          <a:xfrm>
            <a:off x="7224222" y="2962431"/>
            <a:ext cx="2509311" cy="1200329"/>
          </a:xfrm>
          <a:prstGeom prst="rect">
            <a:avLst/>
          </a:prstGeom>
          <a:noFill/>
        </p:spPr>
        <p:txBody>
          <a:bodyPr wrap="square" rtlCol="0">
            <a:spAutoFit/>
          </a:bodyPr>
          <a:lstStyle/>
          <a:p>
            <a:r>
              <a:rPr lang="en-US" dirty="0"/>
              <a:t>Thanks, but I think that I’ll donate it to the library and take a charitable deduction</a:t>
            </a:r>
          </a:p>
        </p:txBody>
      </p:sp>
      <p:pic>
        <p:nvPicPr>
          <p:cNvPr id="12" name="Picture 6" descr="Long Hill Township Public Library">
            <a:extLst>
              <a:ext uri="{FF2B5EF4-FFF2-40B4-BE49-F238E27FC236}">
                <a16:creationId xmlns:a16="http://schemas.microsoft.com/office/drawing/2014/main" id="{97E9CA13-B5EE-E0C5-4685-638C6714FC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51253" y="2069308"/>
            <a:ext cx="1828683" cy="2026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615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497913-D32F-4A11-FE4E-A82590381EC1}"/>
              </a:ext>
            </a:extLst>
          </p:cNvPr>
          <p:cNvSpPr>
            <a:spLocks noGrp="1"/>
          </p:cNvSpPr>
          <p:nvPr>
            <p:ph type="title"/>
          </p:nvPr>
        </p:nvSpPr>
        <p:spPr/>
        <p:txBody>
          <a:bodyPr/>
          <a:lstStyle/>
          <a:p>
            <a:r>
              <a:rPr lang="en-US" dirty="0"/>
              <a:t>Rev. Rul. 76-96</a:t>
            </a:r>
          </a:p>
        </p:txBody>
      </p:sp>
      <p:sp>
        <p:nvSpPr>
          <p:cNvPr id="4" name="Slide Number Placeholder 3">
            <a:extLst>
              <a:ext uri="{FF2B5EF4-FFF2-40B4-BE49-F238E27FC236}">
                <a16:creationId xmlns:a16="http://schemas.microsoft.com/office/drawing/2014/main" id="{61938A07-5A73-99D6-B2E5-8CEA394090D6}"/>
              </a:ext>
            </a:extLst>
          </p:cNvPr>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
        <p:nvSpPr>
          <p:cNvPr id="5" name="Footer Placeholder 4">
            <a:extLst>
              <a:ext uri="{FF2B5EF4-FFF2-40B4-BE49-F238E27FC236}">
                <a16:creationId xmlns:a16="http://schemas.microsoft.com/office/drawing/2014/main" id="{7F032C33-6E21-90D2-199D-2F13D8442ABB}"/>
              </a:ext>
            </a:extLst>
          </p:cNvPr>
          <p:cNvSpPr>
            <a:spLocks noGrp="1"/>
          </p:cNvSpPr>
          <p:nvPr>
            <p:ph type="ftr" sz="quarter" idx="11"/>
          </p:nvPr>
        </p:nvSpPr>
        <p:spPr/>
        <p:txBody>
          <a:bodyPr/>
          <a:lstStyle/>
          <a:p>
            <a:pPr>
              <a:defRPr/>
            </a:pPr>
            <a:r>
              <a:rPr lang="en-US"/>
              <a:t>Residual Income</a:t>
            </a:r>
            <a:endParaRPr lang="en-US" dirty="0"/>
          </a:p>
        </p:txBody>
      </p:sp>
      <p:pic>
        <p:nvPicPr>
          <p:cNvPr id="4098" name="Picture 2" descr="Carrs Ferrari opens new dealership in Exeter">
            <a:extLst>
              <a:ext uri="{FF2B5EF4-FFF2-40B4-BE49-F238E27FC236}">
                <a16:creationId xmlns:a16="http://schemas.microsoft.com/office/drawing/2014/main" id="{EE6421D8-EAA1-C953-B1AE-2CEC0DF7C9E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7556" y="796270"/>
            <a:ext cx="4206240" cy="303684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A1A8E403-4BE1-6A0A-4817-BA77194329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7606" y="1083887"/>
            <a:ext cx="2641600" cy="246160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The History of the Maranello Ferrari ...">
            <a:extLst>
              <a:ext uri="{FF2B5EF4-FFF2-40B4-BE49-F238E27FC236}">
                <a16:creationId xmlns:a16="http://schemas.microsoft.com/office/drawing/2014/main" id="{6677425D-AF3C-3B08-02DC-B1D31B9E46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8977" y="4079830"/>
            <a:ext cx="3810000" cy="213360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16370482-9992-63E0-7569-40C3D1D4034F}"/>
              </a:ext>
            </a:extLst>
          </p:cNvPr>
          <p:cNvCxnSpPr>
            <a:cxnSpLocks/>
          </p:cNvCxnSpPr>
          <p:nvPr/>
        </p:nvCxnSpPr>
        <p:spPr>
          <a:xfrm flipV="1">
            <a:off x="8223824" y="3833111"/>
            <a:ext cx="1219434" cy="1254278"/>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A66D191-A2B9-6426-7092-E754F57EC5DF}"/>
              </a:ext>
            </a:extLst>
          </p:cNvPr>
          <p:cNvCxnSpPr>
            <a:cxnSpLocks/>
          </p:cNvCxnSpPr>
          <p:nvPr/>
        </p:nvCxnSpPr>
        <p:spPr>
          <a:xfrm flipH="1">
            <a:off x="4887884" y="1662550"/>
            <a:ext cx="2560322"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296D666-6EC2-F9EA-1104-D59371B17E14}"/>
              </a:ext>
            </a:extLst>
          </p:cNvPr>
          <p:cNvSpPr txBox="1"/>
          <p:nvPr/>
        </p:nvSpPr>
        <p:spPr>
          <a:xfrm>
            <a:off x="4988791" y="1698657"/>
            <a:ext cx="2560322" cy="646331"/>
          </a:xfrm>
          <a:prstGeom prst="rect">
            <a:avLst/>
          </a:prstGeom>
          <a:noFill/>
        </p:spPr>
        <p:txBody>
          <a:bodyPr wrap="square" rtlCol="0">
            <a:spAutoFit/>
          </a:bodyPr>
          <a:lstStyle/>
          <a:p>
            <a:r>
              <a:rPr lang="en-US" b="1" dirty="0"/>
              <a:t>Buys a car at arm’s length price</a:t>
            </a:r>
          </a:p>
        </p:txBody>
      </p:sp>
      <p:sp>
        <p:nvSpPr>
          <p:cNvPr id="12" name="TextBox 11">
            <a:extLst>
              <a:ext uri="{FF2B5EF4-FFF2-40B4-BE49-F238E27FC236}">
                <a16:creationId xmlns:a16="http://schemas.microsoft.com/office/drawing/2014/main" id="{525E6D84-60CB-5938-F7B3-9681C6A6F5A8}"/>
              </a:ext>
            </a:extLst>
          </p:cNvPr>
          <p:cNvSpPr txBox="1"/>
          <p:nvPr/>
        </p:nvSpPr>
        <p:spPr>
          <a:xfrm>
            <a:off x="8833541" y="4460250"/>
            <a:ext cx="2484581" cy="707886"/>
          </a:xfrm>
          <a:prstGeom prst="rect">
            <a:avLst/>
          </a:prstGeom>
          <a:noFill/>
        </p:spPr>
        <p:txBody>
          <a:bodyPr wrap="square" rtlCol="0">
            <a:spAutoFit/>
          </a:bodyPr>
          <a:lstStyle/>
          <a:p>
            <a:r>
              <a:rPr lang="en-US" sz="2000" b="1" dirty="0"/>
              <a:t>Manufacturer rebates to purchasers</a:t>
            </a:r>
          </a:p>
        </p:txBody>
      </p:sp>
      <p:sp>
        <p:nvSpPr>
          <p:cNvPr id="13" name="TextBox 12">
            <a:extLst>
              <a:ext uri="{FF2B5EF4-FFF2-40B4-BE49-F238E27FC236}">
                <a16:creationId xmlns:a16="http://schemas.microsoft.com/office/drawing/2014/main" id="{0D127055-6430-1727-EC8F-B495966AF074}"/>
              </a:ext>
            </a:extLst>
          </p:cNvPr>
          <p:cNvSpPr txBox="1"/>
          <p:nvPr/>
        </p:nvSpPr>
        <p:spPr>
          <a:xfrm>
            <a:off x="5735782" y="1230289"/>
            <a:ext cx="769763" cy="369332"/>
          </a:xfrm>
          <a:prstGeom prst="rect">
            <a:avLst/>
          </a:prstGeom>
          <a:noFill/>
        </p:spPr>
        <p:txBody>
          <a:bodyPr wrap="none" rtlCol="0">
            <a:spAutoFit/>
          </a:bodyPr>
          <a:lstStyle/>
          <a:p>
            <a:r>
              <a:rPr lang="en-US" b="1" dirty="0"/>
              <a:t>$$$$$</a:t>
            </a:r>
          </a:p>
        </p:txBody>
      </p:sp>
      <p:cxnSp>
        <p:nvCxnSpPr>
          <p:cNvPr id="14" name="Straight Arrow Connector 13">
            <a:extLst>
              <a:ext uri="{FF2B5EF4-FFF2-40B4-BE49-F238E27FC236}">
                <a16:creationId xmlns:a16="http://schemas.microsoft.com/office/drawing/2014/main" id="{DAED6B60-17B4-28A2-248C-E2133BBB5AC5}"/>
              </a:ext>
            </a:extLst>
          </p:cNvPr>
          <p:cNvCxnSpPr>
            <a:cxnSpLocks/>
          </p:cNvCxnSpPr>
          <p:nvPr/>
        </p:nvCxnSpPr>
        <p:spPr>
          <a:xfrm>
            <a:off x="4871258" y="3119021"/>
            <a:ext cx="2839722"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D6E0C5D-D948-84D5-6B61-588F023B74E2}"/>
              </a:ext>
            </a:extLst>
          </p:cNvPr>
          <p:cNvSpPr txBox="1"/>
          <p:nvPr/>
        </p:nvSpPr>
        <p:spPr>
          <a:xfrm>
            <a:off x="5846572" y="3155128"/>
            <a:ext cx="538930" cy="400110"/>
          </a:xfrm>
          <a:prstGeom prst="rect">
            <a:avLst/>
          </a:prstGeom>
          <a:noFill/>
        </p:spPr>
        <p:txBody>
          <a:bodyPr wrap="none" rtlCol="0">
            <a:spAutoFit/>
          </a:bodyPr>
          <a:lstStyle/>
          <a:p>
            <a:pPr algn="ctr"/>
            <a:r>
              <a:rPr lang="en-US" sz="2000" b="1" dirty="0"/>
              <a:t>Car</a:t>
            </a:r>
            <a:endParaRPr lang="en-US" b="1" dirty="0"/>
          </a:p>
        </p:txBody>
      </p:sp>
    </p:spTree>
    <p:extLst>
      <p:ext uri="{BB962C8B-B14F-4D97-AF65-F5344CB8AC3E}">
        <p14:creationId xmlns:p14="http://schemas.microsoft.com/office/powerpoint/2010/main" val="3845407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4C8560-90D8-9E2C-3CE5-F552588755C8}"/>
              </a:ext>
            </a:extLst>
          </p:cNvPr>
          <p:cNvSpPr>
            <a:spLocks noGrp="1"/>
          </p:cNvSpPr>
          <p:nvPr>
            <p:ph type="title"/>
          </p:nvPr>
        </p:nvSpPr>
        <p:spPr/>
        <p:txBody>
          <a:bodyPr/>
          <a:lstStyle/>
          <a:p>
            <a:r>
              <a:rPr lang="en-US" dirty="0" err="1"/>
              <a:t>Helvering</a:t>
            </a:r>
            <a:r>
              <a:rPr lang="en-US" dirty="0"/>
              <a:t> v. Bruun, 309 U.S. 461 (1940)</a:t>
            </a:r>
          </a:p>
        </p:txBody>
      </p:sp>
      <p:sp>
        <p:nvSpPr>
          <p:cNvPr id="4" name="Slide Number Placeholder 3">
            <a:extLst>
              <a:ext uri="{FF2B5EF4-FFF2-40B4-BE49-F238E27FC236}">
                <a16:creationId xmlns:a16="http://schemas.microsoft.com/office/drawing/2014/main" id="{9BDA87B6-D8B8-38E4-0EA7-973B36C05DB5}"/>
              </a:ext>
            </a:extLst>
          </p:cNvPr>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
        <p:nvSpPr>
          <p:cNvPr id="5" name="Footer Placeholder 4">
            <a:extLst>
              <a:ext uri="{FF2B5EF4-FFF2-40B4-BE49-F238E27FC236}">
                <a16:creationId xmlns:a16="http://schemas.microsoft.com/office/drawing/2014/main" id="{E9540BA1-70FB-EE4B-50A3-632A50F70639}"/>
              </a:ext>
            </a:extLst>
          </p:cNvPr>
          <p:cNvSpPr>
            <a:spLocks noGrp="1"/>
          </p:cNvSpPr>
          <p:nvPr>
            <p:ph type="ftr" sz="quarter" idx="11"/>
          </p:nvPr>
        </p:nvSpPr>
        <p:spPr/>
        <p:txBody>
          <a:bodyPr/>
          <a:lstStyle/>
          <a:p>
            <a:pPr>
              <a:defRPr/>
            </a:pPr>
            <a:r>
              <a:rPr lang="en-US"/>
              <a:t>Residual Income</a:t>
            </a:r>
            <a:endParaRPr lang="en-US" dirty="0"/>
          </a:p>
        </p:txBody>
      </p:sp>
      <p:pic>
        <p:nvPicPr>
          <p:cNvPr id="6146" name="Picture 2" descr="Demolition Demolition vehicle amid the dust and rubble of the wasteland it has created. On the end of its hydraulic arm is a powerful jackhammer. torn down building stock pictures, royalty-free photos &amp; images">
            <a:extLst>
              <a:ext uri="{FF2B5EF4-FFF2-40B4-BE49-F238E27FC236}">
                <a16:creationId xmlns:a16="http://schemas.microsoft.com/office/drawing/2014/main" id="{70067C7C-F323-3B2F-61AD-D6389EDA3EF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47985" y="633573"/>
            <a:ext cx="2568392" cy="245895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Space For Lease Commercial space for lease. small builing leased stock pictures, royalty-free photos &amp; images">
            <a:extLst>
              <a:ext uri="{FF2B5EF4-FFF2-40B4-BE49-F238E27FC236}">
                <a16:creationId xmlns:a16="http://schemas.microsoft.com/office/drawing/2014/main" id="{AE352923-E03B-22EB-8C56-25DD6BDBD1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064" y="703423"/>
            <a:ext cx="2568392" cy="245895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Modern Entreprise Exterior  new building leased stock pictures, royalty-free photos &amp; images">
            <a:extLst>
              <a:ext uri="{FF2B5EF4-FFF2-40B4-BE49-F238E27FC236}">
                <a16:creationId xmlns:a16="http://schemas.microsoft.com/office/drawing/2014/main" id="{7A67FAEF-EDA1-9344-7C59-FFF43F5446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83906" y="633573"/>
            <a:ext cx="3205758" cy="245895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54535988-6A6A-5712-7A4C-C1D729FE9D73}"/>
              </a:ext>
            </a:extLst>
          </p:cNvPr>
          <p:cNvCxnSpPr>
            <a:cxnSpLocks/>
          </p:cNvCxnSpPr>
          <p:nvPr/>
        </p:nvCxnSpPr>
        <p:spPr>
          <a:xfrm>
            <a:off x="3080456" y="1955239"/>
            <a:ext cx="1467529"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FEF8812-5791-E5A2-BB47-DD13474F8F22}"/>
              </a:ext>
            </a:extLst>
          </p:cNvPr>
          <p:cNvCxnSpPr>
            <a:cxnSpLocks/>
          </p:cNvCxnSpPr>
          <p:nvPr/>
        </p:nvCxnSpPr>
        <p:spPr>
          <a:xfrm>
            <a:off x="7116377" y="1951445"/>
            <a:ext cx="1467529" cy="1"/>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50742A5-FBB5-FFFD-7166-8338F636F532}"/>
              </a:ext>
            </a:extLst>
          </p:cNvPr>
          <p:cNvSpPr txBox="1"/>
          <p:nvPr/>
        </p:nvSpPr>
        <p:spPr>
          <a:xfrm>
            <a:off x="1409839" y="3300304"/>
            <a:ext cx="10075025" cy="3108543"/>
          </a:xfrm>
          <a:prstGeom prst="rect">
            <a:avLst/>
          </a:prstGeom>
          <a:noFill/>
          <a:ln w="28575">
            <a:solidFill>
              <a:schemeClr val="accent1">
                <a:shade val="95000"/>
                <a:satMod val="105000"/>
              </a:schemeClr>
            </a:solidFill>
          </a:ln>
        </p:spPr>
        <p:txBody>
          <a:bodyPr wrap="square" rtlCol="0">
            <a:spAutoFit/>
          </a:bodyPr>
          <a:lstStyle/>
          <a:p>
            <a:r>
              <a:rPr lang="en-US" sz="2800" dirty="0"/>
              <a:t>Owner leases building in 1915.  In 1929, Tennant demolished building pursuant to lease and constructs a new building.  In 1933, lease cancelled for rent default.</a:t>
            </a:r>
            <a:br>
              <a:rPr lang="en-US" sz="2800" dirty="0"/>
            </a:br>
            <a:br>
              <a:rPr lang="en-US" sz="2800" dirty="0"/>
            </a:br>
            <a:r>
              <a:rPr lang="en-US" sz="2800" dirty="0"/>
              <a:t>New building had FMV of 64K in 1933, and the unamortized cost of old building was 13K.  CIR argues that owner had GI of 51K in year of repossession.</a:t>
            </a:r>
          </a:p>
        </p:txBody>
      </p:sp>
    </p:spTree>
    <p:extLst>
      <p:ext uri="{BB962C8B-B14F-4D97-AF65-F5344CB8AC3E}">
        <p14:creationId xmlns:p14="http://schemas.microsoft.com/office/powerpoint/2010/main" val="3545145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EDA875-C8BF-14CA-BBF7-73EC83EB2213}"/>
              </a:ext>
            </a:extLst>
          </p:cNvPr>
          <p:cNvSpPr>
            <a:spLocks noGrp="1"/>
          </p:cNvSpPr>
          <p:nvPr>
            <p:ph idx="1"/>
          </p:nvPr>
        </p:nvSpPr>
        <p:spPr>
          <a:xfrm>
            <a:off x="512064" y="4688378"/>
            <a:ext cx="11277600" cy="1657086"/>
          </a:xfrm>
        </p:spPr>
        <p:txBody>
          <a:bodyPr/>
          <a:lstStyle/>
          <a:p>
            <a:r>
              <a:rPr lang="en-US" b="1" i="1" dirty="0"/>
              <a:t>Illegal gains </a:t>
            </a:r>
            <a:r>
              <a:rPr lang="en-US" i="1" dirty="0"/>
              <a:t>constitute gross income. </a:t>
            </a:r>
            <a:r>
              <a:rPr lang="en-US" b="1" i="1" dirty="0"/>
              <a:t>Treasure trove</a:t>
            </a:r>
            <a:r>
              <a:rPr lang="en-US" i="1" dirty="0"/>
              <a:t>, to the extent of its value in United States currency, constitutes gross income for the taxable year in which it is reduced to undisputed possession</a:t>
            </a:r>
            <a:r>
              <a:rPr lang="en-US" dirty="0"/>
              <a:t>.  Reg. </a:t>
            </a:r>
            <a:r>
              <a:rPr lang="en-US" sz="2400" dirty="0">
                <a:effectLst/>
                <a:latin typeface="Calibri" panose="020F0502020204030204" pitchFamily="34" charset="0"/>
                <a:cs typeface="Calibri" panose="020F0502020204030204" pitchFamily="34" charset="0"/>
              </a:rPr>
              <a:t>§1.61-14</a:t>
            </a:r>
            <a:endParaRPr lang="en-US" dirty="0"/>
          </a:p>
        </p:txBody>
      </p:sp>
      <p:sp>
        <p:nvSpPr>
          <p:cNvPr id="3" name="Title 2">
            <a:extLst>
              <a:ext uri="{FF2B5EF4-FFF2-40B4-BE49-F238E27FC236}">
                <a16:creationId xmlns:a16="http://schemas.microsoft.com/office/drawing/2014/main" id="{4DAC532D-1E63-16B4-E596-EE6DF2741459}"/>
              </a:ext>
            </a:extLst>
          </p:cNvPr>
          <p:cNvSpPr>
            <a:spLocks noGrp="1"/>
          </p:cNvSpPr>
          <p:nvPr>
            <p:ph type="title"/>
          </p:nvPr>
        </p:nvSpPr>
        <p:spPr/>
        <p:txBody>
          <a:bodyPr/>
          <a:lstStyle/>
          <a:p>
            <a:r>
              <a:rPr lang="en-US" dirty="0"/>
              <a:t>Treasure Trove</a:t>
            </a:r>
          </a:p>
        </p:txBody>
      </p:sp>
      <p:sp>
        <p:nvSpPr>
          <p:cNvPr id="4" name="Slide Number Placeholder 3">
            <a:extLst>
              <a:ext uri="{FF2B5EF4-FFF2-40B4-BE49-F238E27FC236}">
                <a16:creationId xmlns:a16="http://schemas.microsoft.com/office/drawing/2014/main" id="{24BC9DBB-8B73-B5A5-325C-6986ED82CF18}"/>
              </a:ext>
            </a:extLst>
          </p:cNvPr>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sp>
        <p:nvSpPr>
          <p:cNvPr id="5" name="Footer Placeholder 4">
            <a:extLst>
              <a:ext uri="{FF2B5EF4-FFF2-40B4-BE49-F238E27FC236}">
                <a16:creationId xmlns:a16="http://schemas.microsoft.com/office/drawing/2014/main" id="{9CDA338B-AC15-1B77-2F88-0FBD85AAC6D2}"/>
              </a:ext>
            </a:extLst>
          </p:cNvPr>
          <p:cNvSpPr>
            <a:spLocks noGrp="1"/>
          </p:cNvSpPr>
          <p:nvPr>
            <p:ph type="ftr" sz="quarter" idx="11"/>
          </p:nvPr>
        </p:nvSpPr>
        <p:spPr/>
        <p:txBody>
          <a:bodyPr/>
          <a:lstStyle/>
          <a:p>
            <a:pPr>
              <a:defRPr/>
            </a:pPr>
            <a:r>
              <a:rPr lang="en-US"/>
              <a:t>Residual Income</a:t>
            </a:r>
            <a:endParaRPr lang="en-US" dirty="0"/>
          </a:p>
        </p:txBody>
      </p:sp>
      <p:pic>
        <p:nvPicPr>
          <p:cNvPr id="5122" name="Picture 2" descr="Ohio has obscure law regarding found treasure trove">
            <a:extLst>
              <a:ext uri="{FF2B5EF4-FFF2-40B4-BE49-F238E27FC236}">
                <a16:creationId xmlns:a16="http://schemas.microsoft.com/office/drawing/2014/main" id="{534D5E7D-F8A7-9137-A548-862A10455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5090" y="988866"/>
            <a:ext cx="4893425" cy="3167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6989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79C5B-6CE1-D51A-FA71-6B51052804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415AE5-CB10-33B5-FBD8-CA05B5005B0F}"/>
              </a:ext>
            </a:extLst>
          </p:cNvPr>
          <p:cNvSpPr>
            <a:spLocks noGrp="1"/>
          </p:cNvSpPr>
          <p:nvPr>
            <p:ph type="title"/>
          </p:nvPr>
        </p:nvSpPr>
        <p:spPr>
          <a:xfrm>
            <a:off x="512064" y="41935"/>
            <a:ext cx="16976978" cy="335919"/>
          </a:xfrm>
        </p:spPr>
        <p:txBody>
          <a:bodyPr/>
          <a:lstStyle/>
          <a:p>
            <a:r>
              <a:rPr lang="en-US" dirty="0"/>
              <a:t>Are caught baseballs income?</a:t>
            </a:r>
          </a:p>
        </p:txBody>
      </p:sp>
      <p:sp>
        <p:nvSpPr>
          <p:cNvPr id="4" name="Slide Number Placeholder 3">
            <a:extLst>
              <a:ext uri="{FF2B5EF4-FFF2-40B4-BE49-F238E27FC236}">
                <a16:creationId xmlns:a16="http://schemas.microsoft.com/office/drawing/2014/main" id="{AA1E6281-787B-D7E6-86AF-701642734CBD}"/>
              </a:ext>
            </a:extLst>
          </p:cNvPr>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
        <p:nvSpPr>
          <p:cNvPr id="5" name="Footer Placeholder 4">
            <a:extLst>
              <a:ext uri="{FF2B5EF4-FFF2-40B4-BE49-F238E27FC236}">
                <a16:creationId xmlns:a16="http://schemas.microsoft.com/office/drawing/2014/main" id="{C4C8C912-5DE5-BA92-DE61-815AE2E21B04}"/>
              </a:ext>
            </a:extLst>
          </p:cNvPr>
          <p:cNvSpPr>
            <a:spLocks noGrp="1"/>
          </p:cNvSpPr>
          <p:nvPr>
            <p:ph type="ftr" sz="quarter" idx="11"/>
          </p:nvPr>
        </p:nvSpPr>
        <p:spPr/>
        <p:txBody>
          <a:bodyPr/>
          <a:lstStyle/>
          <a:p>
            <a:pPr>
              <a:defRPr/>
            </a:pPr>
            <a:r>
              <a:rPr lang="en-US"/>
              <a:t>Residual Income</a:t>
            </a:r>
            <a:endParaRPr lang="en-US" dirty="0"/>
          </a:p>
        </p:txBody>
      </p:sp>
      <p:pic>
        <p:nvPicPr>
          <p:cNvPr id="7170" name="Picture 2" descr="fan Phil Ozersky. After the Cardinals ...">
            <a:extLst>
              <a:ext uri="{FF2B5EF4-FFF2-40B4-BE49-F238E27FC236}">
                <a16:creationId xmlns:a16="http://schemas.microsoft.com/office/drawing/2014/main" id="{55530A62-D082-405B-5D65-BAB2CCB6C3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2064" y="889736"/>
            <a:ext cx="3079230" cy="2842641"/>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Rovell] Phil Ozersky, a fan making $30K a year, caught McGwire's 70th HR  ball. Trade the Cardinals ask for: The ball for a signed bat, ball &amp;  jersey. Ozersky says he also">
            <a:extLst>
              <a:ext uri="{FF2B5EF4-FFF2-40B4-BE49-F238E27FC236}">
                <a16:creationId xmlns:a16="http://schemas.microsoft.com/office/drawing/2014/main" id="{0B3E1835-4864-CFBD-9E19-3C8DD57B5C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7010" y="889737"/>
            <a:ext cx="2367854" cy="28426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6F9E4F4-516E-1879-A513-C53F1E1651CC}"/>
              </a:ext>
            </a:extLst>
          </p:cNvPr>
          <p:cNvSpPr txBox="1"/>
          <p:nvPr/>
        </p:nvSpPr>
        <p:spPr>
          <a:xfrm>
            <a:off x="3868646" y="701008"/>
            <a:ext cx="4971011" cy="3108543"/>
          </a:xfrm>
          <a:prstGeom prst="rect">
            <a:avLst/>
          </a:prstGeom>
          <a:noFill/>
          <a:ln w="28575">
            <a:solidFill>
              <a:schemeClr val="accent1">
                <a:shade val="95000"/>
                <a:satMod val="105000"/>
              </a:schemeClr>
            </a:solidFill>
          </a:ln>
        </p:spPr>
        <p:txBody>
          <a:bodyPr wrap="square" rtlCol="0">
            <a:spAutoFit/>
          </a:bodyPr>
          <a:lstStyle/>
          <a:p>
            <a:r>
              <a:rPr lang="en-US" sz="2800"/>
              <a:t>McGwire </a:t>
            </a:r>
            <a:r>
              <a:rPr lang="en-US" sz="2800" dirty="0"/>
              <a:t>hits 70 HRs in 1998.  Phil </a:t>
            </a:r>
            <a:r>
              <a:rPr lang="en-US" sz="2800" dirty="0" err="1"/>
              <a:t>Ozersky</a:t>
            </a:r>
            <a:r>
              <a:rPr lang="en-US" sz="2800" dirty="0"/>
              <a:t> catches the ball of the 70</a:t>
            </a:r>
            <a:r>
              <a:rPr lang="en-US" sz="2800" baseline="30000" dirty="0"/>
              <a:t>th</a:t>
            </a:r>
            <a:r>
              <a:rPr lang="en-US" sz="2800" dirty="0"/>
              <a:t> HR.  He latter sells it for $3MM.</a:t>
            </a:r>
            <a:br>
              <a:rPr lang="en-US" sz="2800" dirty="0"/>
            </a:br>
            <a:br>
              <a:rPr lang="en-US" sz="2800" dirty="0"/>
            </a:br>
            <a:r>
              <a:rPr lang="en-US" sz="2800" dirty="0"/>
              <a:t>Should it be income at the time he caught it?  </a:t>
            </a:r>
          </a:p>
        </p:txBody>
      </p:sp>
      <p:sp>
        <p:nvSpPr>
          <p:cNvPr id="8" name="TextBox 7">
            <a:extLst>
              <a:ext uri="{FF2B5EF4-FFF2-40B4-BE49-F238E27FC236}">
                <a16:creationId xmlns:a16="http://schemas.microsoft.com/office/drawing/2014/main" id="{85F0F486-4923-981C-33B8-D2AD0DDA6A3B}"/>
              </a:ext>
            </a:extLst>
          </p:cNvPr>
          <p:cNvSpPr txBox="1"/>
          <p:nvPr/>
        </p:nvSpPr>
        <p:spPr>
          <a:xfrm>
            <a:off x="1213658" y="4055531"/>
            <a:ext cx="10271206" cy="2246769"/>
          </a:xfrm>
          <a:prstGeom prst="rect">
            <a:avLst/>
          </a:prstGeom>
          <a:noFill/>
          <a:ln w="25400">
            <a:solidFill>
              <a:schemeClr val="accent1">
                <a:shade val="95000"/>
                <a:satMod val="105000"/>
              </a:schemeClr>
            </a:solidFill>
          </a:ln>
        </p:spPr>
        <p:txBody>
          <a:bodyPr wrap="square">
            <a:spAutoFit/>
          </a:bodyPr>
          <a:lstStyle/>
          <a:p>
            <a:r>
              <a:rPr lang="en-US" sz="2800" b="0" i="0" dirty="0">
                <a:solidFill>
                  <a:srgbClr val="222222"/>
                </a:solidFill>
                <a:effectLst/>
                <a:latin typeface="Calibri" panose="020F0502020204030204" pitchFamily="34" charset="0"/>
                <a:cs typeface="Calibri" panose="020F0502020204030204" pitchFamily="34" charset="0"/>
              </a:rPr>
              <a:t>Todd McFarlane, a well-known comic book artist, bought the 70th home run ball at an auction for about $3 million right after the 1998 season. But since McGwire was put through the wringer of the sport’s steroids scandal plus Barry Bonds breaking his mark, the ball’s value has significantly decreased to around $300K.</a:t>
            </a:r>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04272149"/>
      </p:ext>
    </p:extLst>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5868</TotalTime>
  <Words>933</Words>
  <Application>Microsoft Macintosh PowerPoint</Application>
  <PresentationFormat>Widescreen</PresentationFormat>
  <Paragraphs>84</Paragraphs>
  <Slides>15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NSimSun</vt:lpstr>
      <vt:lpstr>Aptos</vt:lpstr>
      <vt:lpstr>Arial</vt:lpstr>
      <vt:lpstr>Calibri</vt:lpstr>
      <vt:lpstr>Courier New</vt:lpstr>
      <vt:lpstr>Times New Roman</vt:lpstr>
      <vt:lpstr>Wingdings</vt:lpstr>
      <vt:lpstr>Wingdings 2</vt:lpstr>
      <vt:lpstr>CG Body - Standard</vt:lpstr>
      <vt:lpstr>PowerPoint Presentation</vt:lpstr>
      <vt:lpstr>Section 61(a)(1)</vt:lpstr>
      <vt:lpstr>Historical Antecedents of Income</vt:lpstr>
      <vt:lpstr>Eisner v. Macomber, 252 U.S. 189 (1920)</vt:lpstr>
      <vt:lpstr>CIR v. Glenshaw Glass, 348 U.S. 426, reh’g denied, 349 U.S. 925 (1955)</vt:lpstr>
      <vt:lpstr>Rev. Rul. 76-131</vt:lpstr>
      <vt:lpstr>Notice 99-3: Temp. Ass. Needy Fam. (TANF)</vt:lpstr>
      <vt:lpstr>General Welfare or Gross Income</vt:lpstr>
      <vt:lpstr>In-kind Consumption</vt:lpstr>
      <vt:lpstr>United States v. Gotcher, 401 F.2d 118 (5th Cir. 1968)</vt:lpstr>
      <vt:lpstr>Haverly v. US, 513 F.2d 224 (7th Cir. 1975)</vt:lpstr>
      <vt:lpstr>Rev. Rul. 76-96</vt:lpstr>
      <vt:lpstr>Helvering v. Bruun, 309 U.S. 461 (1940)</vt:lpstr>
      <vt:lpstr>Treasure Trove</vt:lpstr>
      <vt:lpstr>Are caught baseballs income?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Jeffrey M. Colon</dc:creator>
  <cp:lastModifiedBy>Colon, Jeffrey M.</cp:lastModifiedBy>
  <cp:revision>4</cp:revision>
  <dcterms:created xsi:type="dcterms:W3CDTF">2025-01-19T12:38:16Z</dcterms:created>
  <dcterms:modified xsi:type="dcterms:W3CDTF">2026-09-20T14:51:36Z</dcterms:modified>
</cp:coreProperties>
</file>