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95" r:id="rId2"/>
    <p:sldId id="256" r:id="rId3"/>
    <p:sldId id="296" r:id="rId4"/>
    <p:sldId id="305" r:id="rId5"/>
    <p:sldId id="297" r:id="rId6"/>
    <p:sldId id="306" r:id="rId7"/>
    <p:sldId id="298" r:id="rId8"/>
    <p:sldId id="307" r:id="rId9"/>
    <p:sldId id="310" r:id="rId10"/>
    <p:sldId id="308" r:id="rId11"/>
    <p:sldId id="304" r:id="rId12"/>
    <p:sldId id="309" r:id="rId13"/>
    <p:sldId id="311" r:id="rId14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690F8-3CE0-1343-868A-D0ED1D453E80}" v="173" dt="2026-02-11T15:07:54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75"/>
    <p:restoredTop sz="96064"/>
  </p:normalViewPr>
  <p:slideViewPr>
    <p:cSldViewPr snapToGrid="0" snapToObjects="1">
      <p:cViewPr varScale="1">
        <p:scale>
          <a:sx n="100" d="100"/>
          <a:sy n="100" d="100"/>
        </p:scale>
        <p:origin x="168" y="2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">
      <pc:chgData name="Colon, Jeffrey M." userId="615143b1-cdee-493d-9a9d-1565ce8666d9" providerId="ADAL" clId="{DC1DB158-BAB1-5930-B714-AEF472873853}" dt="2026-02-11T15:07:54.297" v="172" actId="6549"/>
      <pc:docMkLst>
        <pc:docMk/>
      </pc:docMkLst>
      <pc:sldChg chg="modSp modAnim">
        <pc:chgData name="Colon, Jeffrey M." userId="615143b1-cdee-493d-9a9d-1565ce8666d9" providerId="ADAL" clId="{DC1DB158-BAB1-5930-B714-AEF472873853}" dt="2026-02-11T14:57:21.522" v="171" actId="6549"/>
        <pc:sldMkLst>
          <pc:docMk/>
          <pc:sldMk cId="3861927868" sldId="305"/>
        </pc:sldMkLst>
        <pc:spChg chg="mod">
          <ac:chgData name="Colon, Jeffrey M." userId="615143b1-cdee-493d-9a9d-1565ce8666d9" providerId="ADAL" clId="{DC1DB158-BAB1-5930-B714-AEF472873853}" dt="2026-02-11T14:57:21.522" v="171" actId="6549"/>
          <ac:spMkLst>
            <pc:docMk/>
            <pc:sldMk cId="3861927868" sldId="305"/>
            <ac:spMk id="2" creationId="{CA3BD92D-FE7B-AC44-DEBB-84B93FB725D6}"/>
          </ac:spMkLst>
        </pc:spChg>
      </pc:sldChg>
      <pc:sldChg chg="modSp">
        <pc:chgData name="Colon, Jeffrey M." userId="615143b1-cdee-493d-9a9d-1565ce8666d9" providerId="ADAL" clId="{DC1DB158-BAB1-5930-B714-AEF472873853}" dt="2026-02-11T15:07:54.297" v="172" actId="6549"/>
        <pc:sldMkLst>
          <pc:docMk/>
          <pc:sldMk cId="3991600121" sldId="308"/>
        </pc:sldMkLst>
        <pc:spChg chg="mod">
          <ac:chgData name="Colon, Jeffrey M." userId="615143b1-cdee-493d-9a9d-1565ce8666d9" providerId="ADAL" clId="{DC1DB158-BAB1-5930-B714-AEF472873853}" dt="2026-02-11T15:07:54.297" v="172" actId="6549"/>
          <ac:spMkLst>
            <pc:docMk/>
            <pc:sldMk cId="3991600121" sldId="308"/>
            <ac:spMk id="2" creationId="{26B78285-1DED-2B9F-ABDE-DF45F008DF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pPr>
              <a:defRPr/>
            </a:pPr>
            <a:r>
              <a:rPr lang="en-US" dirty="0"/>
              <a:t>Gifts and Bequests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Gifts and Bequests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Gifts and Bequests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Gifts and Bequests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Gifts and Bequests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FIT_GiftBequest_2026S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Gifts and Bequests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 dirty="0"/>
              <a:t>Spring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Gifts and Bequests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3FBF68-7D82-46C9-031C-7788E30BD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Inter </a:t>
            </a:r>
            <a:r>
              <a:rPr lang="en-US" sz="1800" dirty="0" err="1"/>
              <a:t>vivos</a:t>
            </a:r>
            <a:r>
              <a:rPr lang="en-US" sz="1800" dirty="0"/>
              <a:t> Gifts &amp; Bequests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7B2750-8A97-E829-25F2-FA711FE96B1F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sz="1800" dirty="0"/>
              <a:t>Issues</a:t>
            </a:r>
            <a:endParaRPr lang="en-US" dirty="0"/>
          </a:p>
        </p:txBody>
      </p:sp>
      <p:pic>
        <p:nvPicPr>
          <p:cNvPr id="7" name="Content Placeholder 6" descr="A person giving a gift to another person&#10;&#10;Description automatically generated">
            <a:extLst>
              <a:ext uri="{FF2B5EF4-FFF2-40B4-BE49-F238E27FC236}">
                <a16:creationId xmlns:a16="http://schemas.microsoft.com/office/drawing/2014/main" id="{4F535EED-5960-9BBD-CC9E-13FBD19EED9E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3"/>
          <a:stretch>
            <a:fillRect/>
          </a:stretch>
        </p:blipFill>
        <p:spPr>
          <a:xfrm>
            <a:off x="506413" y="1692272"/>
            <a:ext cx="5387975" cy="3962406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0528E35-F0B1-087E-DF37-D699E52DB5D0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sz="2000" b="1" dirty="0"/>
              <a:t>Income tax consequences</a:t>
            </a:r>
          </a:p>
          <a:p>
            <a:pPr marL="228600" lvl="1" indent="0">
              <a:buNone/>
            </a:pPr>
            <a:endParaRPr lang="en-US" sz="2000" b="1" dirty="0"/>
          </a:p>
          <a:p>
            <a:r>
              <a:rPr lang="en-US" sz="2000" b="1" dirty="0"/>
              <a:t>Gift/Estate tax consequences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Gifts</a:t>
            </a:r>
          </a:p>
        </p:txBody>
      </p:sp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4921AB-AE17-7639-8934-77D02F58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Income Tax</a:t>
            </a:r>
          </a:p>
          <a:p>
            <a:pPr lvl="1"/>
            <a:r>
              <a:rPr lang="en-US" i="1" dirty="0"/>
              <a:t>Same dollars should not be taxed to the same person.</a:t>
            </a:r>
          </a:p>
          <a:p>
            <a:pPr lvl="1"/>
            <a:r>
              <a:rPr lang="en-US" dirty="0"/>
              <a:t>Implemented through the concept of </a:t>
            </a:r>
            <a:r>
              <a:rPr lang="en-US" b="1" dirty="0"/>
              <a:t>basis</a:t>
            </a:r>
          </a:p>
          <a:p>
            <a:pPr lvl="2"/>
            <a:r>
              <a:rPr lang="en-US" dirty="0"/>
              <a:t>I buy a stock for 100 and sell for 150.  </a:t>
            </a:r>
          </a:p>
          <a:p>
            <a:pPr lvl="2"/>
            <a:r>
              <a:rPr lang="en-US" dirty="0"/>
              <a:t>Since stock purchase is not deductible, 100 purchase is made with </a:t>
            </a:r>
            <a:r>
              <a:rPr lang="en-US" b="1" dirty="0"/>
              <a:t>after-tax dollars</a:t>
            </a:r>
            <a:r>
              <a:rPr lang="en-US" dirty="0"/>
              <a:t>, and become the basis of the stock. </a:t>
            </a:r>
          </a:p>
          <a:p>
            <a:pPr lvl="2"/>
            <a:r>
              <a:rPr lang="en-US" dirty="0"/>
              <a:t>When the stock is sold, only 50 of 150 sales price is taxed as gain.  The 100 of basis has already been taxed isn’t taxed again.</a:t>
            </a:r>
          </a:p>
          <a:p>
            <a:r>
              <a:rPr lang="en-US" dirty="0"/>
              <a:t>But in an income tax, the </a:t>
            </a:r>
            <a:r>
              <a:rPr lang="en-US" i="1" dirty="0"/>
              <a:t>same dollars can be taxed to different persons</a:t>
            </a:r>
          </a:p>
          <a:p>
            <a:pPr lvl="1"/>
            <a:r>
              <a:rPr lang="en-US" dirty="0"/>
              <a:t>I earn 1K and pay 200 of taxes.  </a:t>
            </a:r>
            <a:r>
              <a:rPr lang="en-US"/>
              <a:t>I use </a:t>
            </a:r>
            <a:r>
              <a:rPr lang="en-US" dirty="0"/>
              <a:t>100 of those 800 after-tax dollars to pay for a personal dinner at a restaurant.</a:t>
            </a:r>
          </a:p>
          <a:p>
            <a:r>
              <a:rPr lang="en-US" dirty="0"/>
              <a:t>But the </a:t>
            </a:r>
            <a:r>
              <a:rPr lang="en-US" i="1" dirty="0"/>
              <a:t>same dollars can be taxed to the same person under separate tax systems</a:t>
            </a:r>
          </a:p>
          <a:p>
            <a:pPr lvl="1"/>
            <a:r>
              <a:rPr lang="en-US" dirty="0"/>
              <a:t>I earn 10K at my job as salary, but those same 10K are subject to payroll taxes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043A9B-F6A7-0103-EBF8-46FB90BF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Gifts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E75E-E662-72B5-E95E-3A2BF8B0E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A179-A96D-EA26-3C62-F3110977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99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3BD92D-FE7B-AC44-DEBB-84B93FB7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G&amp;E Exclusion amounts for 2026:</a:t>
            </a:r>
          </a:p>
          <a:p>
            <a:pPr lvl="1"/>
            <a:r>
              <a:rPr lang="en-US" sz="2800" dirty="0"/>
              <a:t>$15MM (S) [7.35MM NYS, but if greater than 105%, NY tax applied to full amount of estate]</a:t>
            </a:r>
          </a:p>
          <a:p>
            <a:pPr lvl="1"/>
            <a:r>
              <a:rPr lang="en-US" sz="2800" dirty="0"/>
              <a:t>$30MM (M)</a:t>
            </a:r>
          </a:p>
          <a:p>
            <a:pPr lvl="1"/>
            <a:r>
              <a:rPr lang="en-US" sz="2800" dirty="0"/>
              <a:t>$19K/yr per done [38K if married couples elect to split gifts]</a:t>
            </a:r>
          </a:p>
          <a:p>
            <a:pPr lvl="1"/>
            <a:r>
              <a:rPr lang="en-US" sz="2800" dirty="0"/>
              <a:t>Rate:  40%</a:t>
            </a:r>
          </a:p>
          <a:p>
            <a:r>
              <a:rPr lang="en-US" sz="3000" dirty="0"/>
              <a:t>Gift tax imposed on the donor; estate tax imposed on the transfer of  an estate</a:t>
            </a:r>
          </a:p>
          <a:p>
            <a:r>
              <a:rPr lang="en-US" sz="3000" dirty="0"/>
              <a:t>Gifts do not include direct payments for health and education (§2503(e))</a:t>
            </a:r>
          </a:p>
          <a:p>
            <a:r>
              <a:rPr lang="en-US" sz="3000" dirty="0"/>
              <a:t>Gifts do not include transfers to spouses (§2523(a))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BE2A68-5460-89D0-9708-791919E9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i="1" dirty="0"/>
              <a:t>Unified</a:t>
            </a:r>
            <a:r>
              <a:rPr lang="en-US" sz="2400" dirty="0"/>
              <a:t> G&amp;E taxation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D7A9A-9F05-5F11-68FC-8C3C54BE3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9A83-17F6-1CBD-ED89-87F24808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92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82492E-9046-3373-064B-9996C548F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Gross income doesn’t include property acquired by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gift or bequest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 §102(a)  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basis of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property acquired by gift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is generally a carry over basis, except if the basis is greater than the FMV at the time of the gift, for the purposes of determining loss the basis is FMV. §1015(a)  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happens to any unrealized gain at the time of the gift?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holding period of property acquired by gift includes the period the property was held by the donor. §1223(2)  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basis of property acquired from a decedent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by bequest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is the FMV of the property at the decedent’s death. §1014(a)(1) and (b)(1).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happens to any unrealized gain at death?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holding period of property acquired by bequest is long term. §1223(9)  </a:t>
            </a:r>
          </a:p>
          <a:p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6F757-E837-E732-DD57-5AB50C6D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Taxation of Gifts and Bequests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47761-64F9-9139-6806-5044F77EC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C82A-DD43-BB8C-997E-C9963A30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2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AD214-5D8B-180D-96B9-6481CE572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Alternatives:</a:t>
            </a:r>
          </a:p>
          <a:p>
            <a:pPr lvl="1"/>
            <a:r>
              <a:rPr lang="en-US" sz="3200" dirty="0"/>
              <a:t>Include gifts as income</a:t>
            </a:r>
          </a:p>
          <a:p>
            <a:pPr lvl="1"/>
            <a:r>
              <a:rPr lang="en-US" sz="3200" dirty="0"/>
              <a:t>Include bequests as income</a:t>
            </a:r>
          </a:p>
          <a:p>
            <a:pPr lvl="1"/>
            <a:r>
              <a:rPr lang="en-US" sz="3200" dirty="0"/>
              <a:t>Make gifting a realization event</a:t>
            </a:r>
          </a:p>
          <a:p>
            <a:pPr lvl="1"/>
            <a:r>
              <a:rPr lang="en-US" sz="3200" dirty="0"/>
              <a:t>Treat bequests as a realization event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C68200-D102-55EB-495F-427E90B3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Taxation of Gifts and Bequests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C5BDF-1B1A-3654-6E37-CEDBEA02A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A7B2-3125-E40E-5D41-FDEB59F1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3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B909-A58B-A0DC-33C1-B8283AD3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FD05B-6871-31BF-C507-2D0AA69C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CIR v. Duberstein</a:t>
            </a:r>
            <a:r>
              <a:rPr lang="en-US" dirty="0"/>
              <a:t>, 363 U.S. 278 (1960)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CF34D-4E5D-C23F-4FB1-FA34C9BBB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B9B0A-0CEB-993F-957B-07A623EE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  <p:pic>
        <p:nvPicPr>
          <p:cNvPr id="8" name="Picture 2" descr="Old Cadillac Photos, Images &amp; Pictures | Shutterstock">
            <a:extLst>
              <a:ext uri="{FF2B5EF4-FFF2-40B4-BE49-F238E27FC236}">
                <a16:creationId xmlns:a16="http://schemas.microsoft.com/office/drawing/2014/main" id="{E7D2EE10-9D41-AC6C-BCE9-36690BD5E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3"/>
          <a:stretch/>
        </p:blipFill>
        <p:spPr bwMode="auto">
          <a:xfrm>
            <a:off x="4495800" y="1178560"/>
            <a:ext cx="2525184" cy="18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nior executive 1950s hi-res stock photography and images ...">
            <a:extLst>
              <a:ext uri="{FF2B5EF4-FFF2-40B4-BE49-F238E27FC236}">
                <a16:creationId xmlns:a16="http://schemas.microsoft.com/office/drawing/2014/main" id="{2A326F24-5E65-C2C3-73EE-30A575875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560" y="1193800"/>
            <a:ext cx="22352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ffice office executives office 1950s hi-res stock ...">
            <a:extLst>
              <a:ext uri="{FF2B5EF4-FFF2-40B4-BE49-F238E27FC236}">
                <a16:creationId xmlns:a16="http://schemas.microsoft.com/office/drawing/2014/main" id="{5CB5AEE4-771A-F963-170A-D93547232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22" y="1325880"/>
            <a:ext cx="25527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B1BC81-51F4-82E4-1172-CAFE27B17CF4}"/>
              </a:ext>
            </a:extLst>
          </p:cNvPr>
          <p:cNvSpPr txBox="1"/>
          <p:nvPr/>
        </p:nvSpPr>
        <p:spPr>
          <a:xfrm>
            <a:off x="702527" y="763771"/>
            <a:ext cx="4112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Duberstein (Duberstein Iron)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653C0C-A724-54D7-BC23-9F20E9DC2D62}"/>
              </a:ext>
            </a:extLst>
          </p:cNvPr>
          <p:cNvSpPr txBox="1"/>
          <p:nvPr/>
        </p:nvSpPr>
        <p:spPr>
          <a:xfrm>
            <a:off x="8219100" y="687030"/>
            <a:ext cx="2765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Berman (Mohawk)</a:t>
            </a:r>
            <a:endParaRPr lang="en-US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A284E7-D74A-5C29-6C23-45CA4069D113}"/>
              </a:ext>
            </a:extLst>
          </p:cNvPr>
          <p:cNvCxnSpPr>
            <a:cxnSpLocks/>
          </p:cNvCxnSpPr>
          <p:nvPr/>
        </p:nvCxnSpPr>
        <p:spPr>
          <a:xfrm flipH="1">
            <a:off x="3703320" y="2153920"/>
            <a:ext cx="79248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4" descr="Senior executive 1950s hi-res stock photography and images ...">
            <a:extLst>
              <a:ext uri="{FF2B5EF4-FFF2-40B4-BE49-F238E27FC236}">
                <a16:creationId xmlns:a16="http://schemas.microsoft.com/office/drawing/2014/main" id="{2900A7EF-C6A1-F0B8-D824-B9039EAA0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560" y="1178560"/>
            <a:ext cx="22352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0E84B5-5B8D-C268-AEF8-02F6D0C5755F}"/>
              </a:ext>
            </a:extLst>
          </p:cNvPr>
          <p:cNvCxnSpPr>
            <a:cxnSpLocks/>
          </p:cNvCxnSpPr>
          <p:nvPr/>
        </p:nvCxnSpPr>
        <p:spPr>
          <a:xfrm flipH="1">
            <a:off x="7020984" y="2209800"/>
            <a:ext cx="1235937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FB597E-271F-A8BD-7B70-57F80DE4BC99}"/>
              </a:ext>
            </a:extLst>
          </p:cNvPr>
          <p:cNvCxnSpPr/>
          <p:nvPr/>
        </p:nvCxnSpPr>
        <p:spPr>
          <a:xfrm>
            <a:off x="702527" y="3891776"/>
            <a:ext cx="113184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Trinity Church NYC updated their... - Trinity Church NYC">
            <a:extLst>
              <a:ext uri="{FF2B5EF4-FFF2-40B4-BE49-F238E27FC236}">
                <a16:creationId xmlns:a16="http://schemas.microsoft.com/office/drawing/2014/main" id="{A7937594-74F4-910D-8AB2-B036A6F89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4089400"/>
            <a:ext cx="243806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2848CA0-4E08-D639-D58E-2C13F2FA9A18}"/>
              </a:ext>
            </a:extLst>
          </p:cNvPr>
          <p:cNvSpPr txBox="1"/>
          <p:nvPr/>
        </p:nvSpPr>
        <p:spPr>
          <a:xfrm>
            <a:off x="3996333" y="2987537"/>
            <a:ext cx="4104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Thanks for sending leads my way.  A small token of our appreciation.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5D767F-922A-1A14-41DF-6CE9E0CD0758}"/>
              </a:ext>
            </a:extLst>
          </p:cNvPr>
          <p:cNvCxnSpPr>
            <a:cxnSpLocks/>
          </p:cNvCxnSpPr>
          <p:nvPr/>
        </p:nvCxnSpPr>
        <p:spPr>
          <a:xfrm flipH="1">
            <a:off x="6797040" y="5021416"/>
            <a:ext cx="910613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80+ 20000 Dollars Stock Photos ...">
            <a:extLst>
              <a:ext uri="{FF2B5EF4-FFF2-40B4-BE49-F238E27FC236}">
                <a16:creationId xmlns:a16="http://schemas.microsoft.com/office/drawing/2014/main" id="{9280499C-B475-644C-AEB5-539E6A475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185726"/>
            <a:ext cx="2235200" cy="167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CB62A68-8865-D698-24E4-AE2ABAE0C388}"/>
              </a:ext>
            </a:extLst>
          </p:cNvPr>
          <p:cNvCxnSpPr>
            <a:cxnSpLocks/>
          </p:cNvCxnSpPr>
          <p:nvPr/>
        </p:nvCxnSpPr>
        <p:spPr>
          <a:xfrm flipH="1">
            <a:off x="3541026" y="5028872"/>
            <a:ext cx="910613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About the New York State Comptroller's Office | Office of the New York  State Comptroller">
            <a:extLst>
              <a:ext uri="{FF2B5EF4-FFF2-40B4-BE49-F238E27FC236}">
                <a16:creationId xmlns:a16="http://schemas.microsoft.com/office/drawing/2014/main" id="{6F41E1FD-809E-5E2E-A6FF-4B9AF4535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79" y="4578073"/>
            <a:ext cx="2235200" cy="129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8F8F977-E972-237F-3D52-18138A19E721}"/>
              </a:ext>
            </a:extLst>
          </p:cNvPr>
          <p:cNvSpPr txBox="1"/>
          <p:nvPr/>
        </p:nvSpPr>
        <p:spPr>
          <a:xfrm>
            <a:off x="3331762" y="5654536"/>
            <a:ext cx="4104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Thanks for service as comptroller of our RE sub.  Here’s a gratuity of 20K.</a:t>
            </a:r>
          </a:p>
        </p:txBody>
      </p:sp>
    </p:spTree>
    <p:extLst>
      <p:ext uri="{BB962C8B-B14F-4D97-AF65-F5344CB8AC3E}">
        <p14:creationId xmlns:p14="http://schemas.microsoft.com/office/powerpoint/2010/main" val="363995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95B5FF-FFE0-FF35-23C9-17613864C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What did the court say was the most important consideration?</a:t>
            </a:r>
          </a:p>
          <a:p>
            <a:r>
              <a:rPr lang="en-US" sz="2800" dirty="0"/>
              <a:t>Did the court follow the common-law definition of gift?</a:t>
            </a:r>
          </a:p>
          <a:p>
            <a:r>
              <a:rPr lang="en-US" sz="2800" dirty="0"/>
              <a:t>Is the mere absence of a legal or moral obligation sufficient to make a transfer a gift?</a:t>
            </a:r>
          </a:p>
          <a:p>
            <a:r>
              <a:rPr lang="en-US" sz="2800" dirty="0"/>
              <a:t>How relevant is the donor’s characterization of the transfer?</a:t>
            </a:r>
          </a:p>
          <a:p>
            <a:r>
              <a:rPr lang="en-US" sz="2800" dirty="0"/>
              <a:t>What was the government’s proposed test?</a:t>
            </a:r>
          </a:p>
          <a:p>
            <a:r>
              <a:rPr lang="en-US" sz="2800" dirty="0"/>
              <a:t>How are these cases to be decided in the future?</a:t>
            </a:r>
          </a:p>
          <a:p>
            <a:r>
              <a:rPr lang="en-US" sz="2800" dirty="0"/>
              <a:t>What happened to Duberstein? Stanton?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247DBA-E886-3070-6F82-5734D75D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CIR v. Duberstein</a:t>
            </a:r>
            <a:r>
              <a:rPr lang="en-US" dirty="0"/>
              <a:t>, 363 U.S. 278 (1960)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82C64-D586-1F1F-6FE0-D2DDDF4ED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6D522-7C3D-41D2-6D61-7C5620C7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93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439A6-6F79-793E-2D1A-CE683E290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This Court has indicated that a voluntary executed transfer of his property by one to another, without any consideration or compensation therefor, though a common-law gift, is not necessarily a “gift” within the meaning of the statute. For the Court has shown that the mere absence of a legal or moral obligation to make such a payment does not establish that it is a gift. And, importantly, if the payment proceeds primarily from “the constraining force of any moral or legal duty,” or from “the incentive of anticipated benefit” of an economic nature, it is not a gift. And, conversely, “where the payment is in return for services rendered, it is irrelevant that the donor derives no economic benefit from it.” </a:t>
            </a:r>
            <a:r>
              <a:rPr lang="en-US" b="1" i="1" dirty="0"/>
              <a:t>A gift in the statutory sense, on the other hand, proceeds from a “detached and disinterested generosity,” “out of affection, respect, admiration, charity or like impulses.”</a:t>
            </a:r>
            <a:r>
              <a:rPr lang="en-US" i="1" dirty="0"/>
              <a:t>  </a:t>
            </a:r>
            <a:r>
              <a:rPr lang="en-US" b="1" i="1" dirty="0"/>
              <a:t>And in this regard, the most critical consideration, as the Court was agreed in the leading case here, is the transferor’s “intention.” 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42171A-4288-6C40-BDD0-667B6DBE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CIR v. Duberstein</a:t>
            </a:r>
            <a:r>
              <a:rPr lang="en-US" dirty="0"/>
              <a:t>, 363 U.S. 278 (1960)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CE5EB-5740-9540-DCC3-26BAF9E85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A26FE-8B91-90E6-5CD1-3421E84A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2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B78285-1DED-2B9F-ABDE-DF45F008D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Section 274(b)(1):  no deduction under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§162 or §212 for gift (under §102) that exceed $25/year.  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Excludes items costing less than $4 on which the TP’s name is imprinted, or</a:t>
            </a:r>
          </a:p>
          <a:p>
            <a:pPr lvl="1"/>
            <a:r>
              <a:rPr lang="en-US" sz="2800" dirty="0"/>
              <a:t>Excludes sign, display rack or other promotional materials used on the business premises of recipient.</a:t>
            </a:r>
          </a:p>
          <a:p>
            <a:pPr lvl="1"/>
            <a:endParaRPr lang="en-US" sz="2800" dirty="0"/>
          </a:p>
          <a:p>
            <a:r>
              <a:rPr lang="en-US" sz="3200" dirty="0"/>
              <a:t>Section 102(c): amounts transferred from employer to employee can’t be excluded as gifts, unless it constitutes</a:t>
            </a:r>
            <a:r>
              <a:rPr lang="en-US" sz="2800" dirty="0"/>
              <a:t>: </a:t>
            </a:r>
          </a:p>
          <a:p>
            <a:pPr lvl="1"/>
            <a:r>
              <a:rPr lang="en-US" sz="2800" dirty="0"/>
              <a:t>(1) an employee achievement award under §74(c), or </a:t>
            </a:r>
          </a:p>
          <a:p>
            <a:pPr lvl="1"/>
            <a:r>
              <a:rPr lang="en-US" sz="2800" dirty="0"/>
              <a:t>(2) an excludible fringe under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§132(e)</a:t>
            </a:r>
            <a:endParaRPr lang="en-US" sz="2800" dirty="0"/>
          </a:p>
          <a:p>
            <a:pPr marL="0" indent="0">
              <a:buNone/>
            </a:pPr>
            <a:endParaRPr lang="en-US" sz="2600" dirty="0"/>
          </a:p>
          <a:p>
            <a:pPr lvl="1"/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F8BEA5-30D1-D8A7-D46A-087B35FC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</a:t>
            </a:r>
            <a:r>
              <a:rPr lang="en-US" i="1" dirty="0"/>
              <a:t>Duberstein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4F386-8ED5-FE50-8F27-489C3004F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8B7C5-3E1C-2BE9-0C4E-A6C3EF22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60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EB61A5-DD11-3DFF-4ED4-8E827C69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Jue-Ya Yang v. CIR, TC Sum. Op. 2008-156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2859C-4E27-21EE-B742-4D8E0D726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6F9DD-CA4E-A433-9018-2D10806D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  <p:pic>
        <p:nvPicPr>
          <p:cNvPr id="2050" name="Picture 2" descr="10000 Cash Being Stacked On Table Stock ...">
            <a:extLst>
              <a:ext uri="{FF2B5EF4-FFF2-40B4-BE49-F238E27FC236}">
                <a16:creationId xmlns:a16="http://schemas.microsoft.com/office/drawing/2014/main" id="{7047EC4F-1896-D9CD-AF8A-8F5817F11B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0" y="1922780"/>
            <a:ext cx="2143760" cy="149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B3B66D-0102-DBE7-16A1-3A8A60C46150}"/>
              </a:ext>
            </a:extLst>
          </p:cNvPr>
          <p:cNvCxnSpPr>
            <a:cxnSpLocks/>
          </p:cNvCxnSpPr>
          <p:nvPr/>
        </p:nvCxnSpPr>
        <p:spPr>
          <a:xfrm flipH="1">
            <a:off x="3962400" y="2687252"/>
            <a:ext cx="79248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479B81-1758-64FB-3247-F0B5446512E4}"/>
              </a:ext>
            </a:extLst>
          </p:cNvPr>
          <p:cNvCxnSpPr>
            <a:cxnSpLocks/>
          </p:cNvCxnSpPr>
          <p:nvPr/>
        </p:nvCxnSpPr>
        <p:spPr>
          <a:xfrm flipH="1">
            <a:off x="7630160" y="2656772"/>
            <a:ext cx="79248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1099 Form 2024 PDF (NEC or MISC) With Simple Instructions | OnPay">
            <a:extLst>
              <a:ext uri="{FF2B5EF4-FFF2-40B4-BE49-F238E27FC236}">
                <a16:creationId xmlns:a16="http://schemas.microsoft.com/office/drawing/2014/main" id="{AA621CC5-E8AD-F7E8-99C7-2969373C8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880" y="3927449"/>
            <a:ext cx="3751263" cy="201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ntitled (Calligraphy) – Works – eMuseum">
            <a:extLst>
              <a:ext uri="{FF2B5EF4-FFF2-40B4-BE49-F238E27FC236}">
                <a16:creationId xmlns:a16="http://schemas.microsoft.com/office/drawing/2014/main" id="{334FAD45-BE2C-A93F-D485-D5D1AB96C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171" y="1922780"/>
            <a:ext cx="1703229" cy="14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C67A67-E9C0-E726-8CE9-1B0D4DB0A52F}"/>
              </a:ext>
            </a:extLst>
          </p:cNvPr>
          <p:cNvCxnSpPr>
            <a:cxnSpLocks/>
            <a:stCxn id="2054" idx="2"/>
            <a:endCxn id="2052" idx="0"/>
          </p:cNvCxnSpPr>
          <p:nvPr/>
        </p:nvCxnSpPr>
        <p:spPr>
          <a:xfrm flipH="1">
            <a:off x="9170512" y="3421380"/>
            <a:ext cx="290274" cy="50606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4C1416-807A-1E62-9EC2-E38EEE2DCE05}"/>
              </a:ext>
            </a:extLst>
          </p:cNvPr>
          <p:cNvCxnSpPr>
            <a:cxnSpLocks/>
          </p:cNvCxnSpPr>
          <p:nvPr/>
        </p:nvCxnSpPr>
        <p:spPr>
          <a:xfrm flipH="1">
            <a:off x="6502400" y="4909459"/>
            <a:ext cx="79248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IRS: Hack Much Wider Than First Thought ...">
            <a:extLst>
              <a:ext uri="{FF2B5EF4-FFF2-40B4-BE49-F238E27FC236}">
                <a16:creationId xmlns:a16="http://schemas.microsoft.com/office/drawing/2014/main" id="{127B21CF-F391-EC7D-B372-4AD4439D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0" y="4356847"/>
            <a:ext cx="1667351" cy="133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person with flowers in her hair&#10;&#10;AI-generated content may be incorrect.">
            <a:extLst>
              <a:ext uri="{FF2B5EF4-FFF2-40B4-BE49-F238E27FC236}">
                <a16:creationId xmlns:a16="http://schemas.microsoft.com/office/drawing/2014/main" id="{5AA7F3A6-11A8-096D-77E1-1F7D86183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735" y="1917701"/>
            <a:ext cx="2143760" cy="15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82CC86-B145-A618-2D29-099BBAC3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Olk</a:t>
            </a:r>
            <a:r>
              <a:rPr lang="en-US" i="1" dirty="0"/>
              <a:t> v. US</a:t>
            </a:r>
            <a:r>
              <a:rPr lang="en-US" dirty="0"/>
              <a:t>, 536 F.2d 876 (9</a:t>
            </a:r>
            <a:r>
              <a:rPr lang="en-US" baseline="30000" dirty="0"/>
              <a:t>th</a:t>
            </a:r>
            <a:r>
              <a:rPr lang="en-US" dirty="0"/>
              <a:t> Cir. 1976)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69878-D096-FC65-4596-73D7A63A1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FDC1-3F75-FBA6-DDD6-6FBA74A9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  <p:pic>
        <p:nvPicPr>
          <p:cNvPr id="3074" name="Picture 2" descr="14 Croupiers Tool Stock Photos, High-Res Pictures, and ...">
            <a:extLst>
              <a:ext uri="{FF2B5EF4-FFF2-40B4-BE49-F238E27FC236}">
                <a16:creationId xmlns:a16="http://schemas.microsoft.com/office/drawing/2014/main" id="{F708863E-E873-B37B-5ABA-5CD811A3D8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625" y="3378922"/>
            <a:ext cx="2821940" cy="262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mericans are getting tired of tipping ...">
            <a:extLst>
              <a:ext uri="{FF2B5EF4-FFF2-40B4-BE49-F238E27FC236}">
                <a16:creationId xmlns:a16="http://schemas.microsoft.com/office/drawing/2014/main" id="{B04027F9-9A24-9517-E74B-145CECFBD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24" y="1015922"/>
            <a:ext cx="2893341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iverse Group Of People Playing Craps ...">
            <a:extLst>
              <a:ext uri="{FF2B5EF4-FFF2-40B4-BE49-F238E27FC236}">
                <a16:creationId xmlns:a16="http://schemas.microsoft.com/office/drawing/2014/main" id="{FCE439D3-5C90-7D2B-8119-A13933960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361" y="2136531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5F33C4-4157-590F-E193-8E6A38EAF423}"/>
              </a:ext>
            </a:extLst>
          </p:cNvPr>
          <p:cNvCxnSpPr>
            <a:cxnSpLocks/>
            <a:stCxn id="3078" idx="3"/>
            <a:endCxn id="3076" idx="1"/>
          </p:cNvCxnSpPr>
          <p:nvPr/>
        </p:nvCxnSpPr>
        <p:spPr>
          <a:xfrm flipV="1">
            <a:off x="4759861" y="2082722"/>
            <a:ext cx="1223363" cy="121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7454A5-E0E1-56EA-AC8E-E93FA63AEC2A}"/>
              </a:ext>
            </a:extLst>
          </p:cNvPr>
          <p:cNvCxnSpPr>
            <a:cxnSpLocks/>
            <a:stCxn id="3078" idx="3"/>
            <a:endCxn id="3074" idx="1"/>
          </p:cNvCxnSpPr>
          <p:nvPr/>
        </p:nvCxnSpPr>
        <p:spPr>
          <a:xfrm>
            <a:off x="4759861" y="3298581"/>
            <a:ext cx="1294764" cy="1395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3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06E420-0AFA-6F93-F1D7-D4E04D582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Amounts received under a life insurance contract are exempt from gross income if such amounts are paid by reason of the death of the insured.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§101(a)(1).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a life insurance contract is transferred for valuable consideration, the transferee can exclude only the amounts paid plus any premiums paid by the transferee. 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§101(a)(2).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8CE72-23F6-A3E6-3557-D8B3A96C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Insurance Proceeds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2890-7007-B838-056F-B8CE053AC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D1D17-9097-B051-F5B6-34B62277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Gifts and Bequests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16058"/>
      </p:ext>
    </p:extLst>
  </p:cSld>
  <p:clrMapOvr>
    <a:masterClrMapping/>
  </p:clrMapOvr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22031</TotalTime>
  <Words>1100</Words>
  <Application>Microsoft Macintosh PowerPoint</Application>
  <PresentationFormat>Widescreen</PresentationFormat>
  <Paragraphs>102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NSimSun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Federal Income Taxation Gifts and Bequests</vt:lpstr>
      <vt:lpstr>Gifts</vt:lpstr>
      <vt:lpstr>Gifts</vt:lpstr>
      <vt:lpstr>Unified G&amp;E taxation</vt:lpstr>
      <vt:lpstr>Income Taxation of Gifts and Bequests</vt:lpstr>
      <vt:lpstr>Income Taxation of Gifts and Bequests</vt:lpstr>
      <vt:lpstr>CIR v. Duberstein, 363 U.S. 278 (1960)</vt:lpstr>
      <vt:lpstr>CIR v. Duberstein, 363 U.S. 278 (1960)</vt:lpstr>
      <vt:lpstr>CIR v. Duberstein, 363 U.S. 278 (1960)</vt:lpstr>
      <vt:lpstr>Consequences of Duberstein</vt:lpstr>
      <vt:lpstr>Jue-Ya Yang v. CIR, TC Sum. Op. 2008-156</vt:lpstr>
      <vt:lpstr>Olk v. US, 536 F.2d 876 (9th Cir. 1976) </vt:lpstr>
      <vt:lpstr>Life Insurance Proceeds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198</cp:revision>
  <cp:lastPrinted>2020-11-30T15:41:57Z</cp:lastPrinted>
  <dcterms:created xsi:type="dcterms:W3CDTF">2016-08-01T04:04:31Z</dcterms:created>
  <dcterms:modified xsi:type="dcterms:W3CDTF">2026-02-11T15:08:04Z</dcterms:modified>
  <cp:category/>
</cp:coreProperties>
</file>