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95" r:id="rId2"/>
    <p:sldId id="315" r:id="rId3"/>
    <p:sldId id="332" r:id="rId4"/>
    <p:sldId id="356" r:id="rId5"/>
    <p:sldId id="333" r:id="rId6"/>
    <p:sldId id="357" r:id="rId7"/>
    <p:sldId id="360" r:id="rId8"/>
    <p:sldId id="359" r:id="rId9"/>
    <p:sldId id="362" r:id="rId10"/>
    <p:sldId id="361" r:id="rId11"/>
    <p:sldId id="363" r:id="rId12"/>
    <p:sldId id="364" r:id="rId13"/>
    <p:sldId id="365" r:id="rId14"/>
    <p:sldId id="366" r:id="rId15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13"/>
    <p:restoredTop sz="94890"/>
  </p:normalViewPr>
  <p:slideViewPr>
    <p:cSldViewPr snapToGrid="0" snapToObjects="1">
      <p:cViewPr varScale="1">
        <p:scale>
          <a:sx n="144" d="100"/>
          <a:sy n="144" d="100"/>
        </p:scale>
        <p:origin x="216" y="1456"/>
      </p:cViewPr>
      <p:guideLst/>
    </p:cSldViewPr>
  </p:slideViewPr>
  <p:outlineViewPr>
    <p:cViewPr>
      <p:scale>
        <a:sx n="33" d="100"/>
        <a:sy n="33" d="100"/>
      </p:scale>
      <p:origin x="0" y="-142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">
      <pc:chgData name="Colon, Jeffrey M." userId="615143b1-cdee-493d-9a9d-1565ce8666d9" providerId="ADAL" clId="{DC1DB158-BAB1-5930-B714-AEF472873853}" dt="2026-10-15T17:44:21.751" v="3" actId="20577"/>
      <pc:docMkLst>
        <pc:docMk/>
      </pc:docMkLst>
      <pc:sldChg chg="modSp mod">
        <pc:chgData name="Colon, Jeffrey M." userId="615143b1-cdee-493d-9a9d-1565ce8666d9" providerId="ADAL" clId="{DC1DB158-BAB1-5930-B714-AEF472873853}" dt="2026-10-15T17:44:13.938" v="1" actId="20577"/>
        <pc:sldMkLst>
          <pc:docMk/>
          <pc:sldMk cId="493222872" sldId="360"/>
        </pc:sldMkLst>
        <pc:spChg chg="mod">
          <ac:chgData name="Colon, Jeffrey M." userId="615143b1-cdee-493d-9a9d-1565ce8666d9" providerId="ADAL" clId="{DC1DB158-BAB1-5930-B714-AEF472873853}" dt="2026-10-15T17:44:13.938" v="1" actId="20577"/>
          <ac:spMkLst>
            <pc:docMk/>
            <pc:sldMk cId="493222872" sldId="360"/>
            <ac:spMk id="3" creationId="{A74A044C-3895-3542-ED65-F95952CC5745}"/>
          </ac:spMkLst>
        </pc:spChg>
      </pc:sldChg>
      <pc:sldChg chg="modSp mod">
        <pc:chgData name="Colon, Jeffrey M." userId="615143b1-cdee-493d-9a9d-1565ce8666d9" providerId="ADAL" clId="{DC1DB158-BAB1-5930-B714-AEF472873853}" dt="2026-10-15T17:44:21.751" v="3" actId="20577"/>
        <pc:sldMkLst>
          <pc:docMk/>
          <pc:sldMk cId="1896724683" sldId="362"/>
        </pc:sldMkLst>
        <pc:spChg chg="mod">
          <ac:chgData name="Colon, Jeffrey M." userId="615143b1-cdee-493d-9a9d-1565ce8666d9" providerId="ADAL" clId="{DC1DB158-BAB1-5930-B714-AEF472873853}" dt="2026-10-15T17:44:21.751" v="3" actId="20577"/>
          <ac:spMkLst>
            <pc:docMk/>
            <pc:sldMk cId="1896724683" sldId="362"/>
            <ac:spMk id="3" creationId="{0FA627C9-B3D2-0ECF-D76D-0717104F4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 smtClean="0"/>
            </a:lvl1pPr>
          </a:lstStyle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Bad Debt COD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227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 Debt COD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baseline="0" dirty="0">
                <a:latin typeface="+mn-lt"/>
              </a:rPr>
              <a:t>FIT_BadDebt_COD_2025S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Federal Income Taxation</a:t>
            </a:r>
            <a:br>
              <a:rPr lang="en-US" dirty="0"/>
            </a:br>
            <a:r>
              <a:rPr lang="en-US" i="1" dirty="0"/>
              <a:t>Bad Debt Deduction and COD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8533" y="5013325"/>
            <a:ext cx="6858000" cy="609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Prof. Colon</a:t>
            </a:r>
          </a:p>
          <a:p>
            <a:r>
              <a:rPr lang="en-US" sz="2100" b="1" dirty="0"/>
              <a:t>Spring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80FCD-05A6-764D-BFDB-63AA23C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 Debt COD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F7C4-7F9E-D84A-9606-10CB55E9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92E31E-24E9-008F-BFC1-BDEDC469B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Chapter 10</a:t>
            </a:r>
            <a:r>
              <a:rPr lang="en-US" sz="3200" dirty="0"/>
              <a:t>: Consequences of not repaying principal or interest</a:t>
            </a:r>
          </a:p>
          <a:p>
            <a:endParaRPr lang="en-US" sz="3200" dirty="0"/>
          </a:p>
          <a:p>
            <a:r>
              <a:rPr lang="en-US" sz="3200" b="1" dirty="0"/>
              <a:t>Chapter 11</a:t>
            </a:r>
            <a:r>
              <a:rPr lang="en-US" sz="3200" dirty="0"/>
              <a:t>: Applying debt rules in the context of purchase, ownership, and disposition of property.</a:t>
            </a:r>
            <a:endParaRPr lang="en-US" sz="3200" b="1" dirty="0"/>
          </a:p>
          <a:p>
            <a:endParaRPr lang="en-US" sz="3200" dirty="0"/>
          </a:p>
          <a:p>
            <a:endParaRPr lang="en-US" sz="3200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54EFFC-7FD5-9DFC-37E4-7FC70DF2B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Borrowing and Lending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A8663-5E2A-7C39-D26B-DC94A23CB7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07617-B0E6-DF2A-0756-03063935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283468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EFC4C9-8AAF-9CC6-4882-48A0C7766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Bank make a loan to Amy of 100K.  What’s the bank basis in the loan?</a:t>
            </a:r>
          </a:p>
          <a:p>
            <a:r>
              <a:rPr lang="en-US" sz="2800" dirty="0"/>
              <a:t>When Amy repays principal, what happens to the loan’s basis?</a:t>
            </a:r>
          </a:p>
          <a:p>
            <a:r>
              <a:rPr lang="en-US" sz="2800" dirty="0"/>
              <a:t>Lending is generally either a trade or business (e.g., bank or a store selling on credit) or an investment activity (Amy buys a bond of Apple)</a:t>
            </a:r>
          </a:p>
          <a:p>
            <a:r>
              <a:rPr lang="en-US" sz="2800" dirty="0"/>
              <a:t>What should happen to Bank when Amy doesn’t pay back some or all of the loan principal?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1409D3-F896-CB70-79FF-C9E040C8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Lender’s Deduction for Bad Debt (or Worthless Security)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34CAC-AD4B-7B6D-69A6-D60902DA0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1350-3BD0-57A9-5F50-91C157A0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Bad Debt COD</a:t>
            </a:r>
          </a:p>
        </p:txBody>
      </p:sp>
    </p:spTree>
    <p:extLst>
      <p:ext uri="{BB962C8B-B14F-4D97-AF65-F5344CB8AC3E}">
        <p14:creationId xmlns:p14="http://schemas.microsoft.com/office/powerpoint/2010/main" val="2101870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4E08FA-E5F0-7BE0-712E-82FDFF858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If a security that is a capital asset becomes worthless during the taxable year, loss </a:t>
            </a:r>
            <a:r>
              <a:rPr lang="en-US" sz="2800" i="1" dirty="0"/>
              <a:t>treated as </a:t>
            </a:r>
            <a:r>
              <a:rPr lang="en-US" sz="2800" dirty="0"/>
              <a:t>loss from S/X on last day of year. 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§165(g)(1).</a:t>
            </a:r>
          </a:p>
          <a:p>
            <a:pPr lvl="1"/>
            <a:r>
              <a:rPr lang="en-US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Security: Corporate stock or bond. </a:t>
            </a:r>
            <a:r>
              <a:rPr lang="en-US" sz="2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§165(g)(2).</a:t>
            </a:r>
          </a:p>
          <a:p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Character of loss?</a:t>
            </a:r>
          </a:p>
          <a:p>
            <a:endParaRPr lang="en-US" sz="28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A0ABAE-3A57-A061-3AB2-20F6CAE1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165(g): Deduction for Worthless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FA135-F62E-7C9B-1FE7-B043C52A5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68F96-6D9A-A3A9-FBF3-CA6659DE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8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1AEEC9-ED6A-0238-E317-3CD496564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 2023, </a:t>
            </a:r>
            <a:r>
              <a:rPr lang="en-US" sz="2800"/>
              <a:t>Amy loans </a:t>
            </a:r>
            <a:r>
              <a:rPr lang="en-US" sz="2800" dirty="0"/>
              <a:t>Biff 100K (at market rates, with appropriate documentation) to help him start a business.  In 2025, Biff tells Amy that he can only pay 70K.  </a:t>
            </a:r>
          </a:p>
          <a:p>
            <a:pPr lvl="1"/>
            <a:r>
              <a:rPr lang="en-US" sz="2600" dirty="0"/>
              <a:t>After Biff pays Amy 70K, what’s Amy’s basis in the loan?</a:t>
            </a:r>
          </a:p>
          <a:p>
            <a:pPr lvl="1"/>
            <a:r>
              <a:rPr lang="en-US" sz="2600" dirty="0"/>
              <a:t>Can Amy deduct her remaining basis in the loan?</a:t>
            </a:r>
          </a:p>
          <a:p>
            <a:pPr lvl="1"/>
            <a:endParaRPr lang="en-US" sz="2600" dirty="0"/>
          </a:p>
          <a:p>
            <a:r>
              <a:rPr lang="en-US" sz="2800" dirty="0"/>
              <a:t>Business bad debt</a:t>
            </a:r>
          </a:p>
          <a:p>
            <a:pPr lvl="1"/>
            <a:r>
              <a:rPr lang="en-US" sz="2600" dirty="0"/>
              <a:t>Deduction for wholly or partially worthless debt.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§166(a)(1) and (2).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Character? 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Non-business debt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Non-business: debt not created or acquired in connection with a trade/business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Must be worthless, and loss is short-term capital loss.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§166(d)(1) and (2).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Debt must be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bona fide debt.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435123-6767-CE28-5F5A-0CA2BADD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166: Bad debt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FDE05-9A9A-828A-35DF-671BDC00E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0195E-D25B-E515-A291-E33A4205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5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4837C0-2488-A414-A569-006B6AC35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 parent deduct funds spent for child support for arrearage in child support payments from a former spouse under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§166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What’s the paying parent’s basis in the former spouse’s obligation to pay child support?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BF89A8-D04A-82C8-AACE-B3B40AD2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Rev. Rul. 93-27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3BA78-4215-F663-DE19-324C4524B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F2B97-E7B9-728E-02E5-81D0B5439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876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F7C776-A5AF-4036-81BB-D59229D6D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rationale for the borrowing inclusion (no GI upon the receipt of borrowed funds)?</a:t>
            </a:r>
          </a:p>
          <a:p>
            <a:r>
              <a:rPr lang="en-US" dirty="0"/>
              <a:t>Explain how under our current system, borrower isn’t taxed upon receipt but upon repayment.     </a:t>
            </a:r>
          </a:p>
          <a:p>
            <a:r>
              <a:rPr lang="en-US" dirty="0"/>
              <a:t>What should be the result if the borrower doesn’t satisfy its repayment obligation?</a:t>
            </a:r>
          </a:p>
          <a:p>
            <a:r>
              <a:rPr lang="en-US" dirty="0"/>
              <a:t>What happens if borrower isn’t taxed when it fails to satisfy its repayment obligation?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4A044C-3895-3542-ED65-F95952CC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from the Discharge of Indebtedness (COD):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§61(a)(11)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F3FA8-D6D4-2DD2-3013-9D858D565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ABD61-93F1-EBFD-3E83-700C92A6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2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4BEA28-9DDC-06E7-0230-A4776E9A0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533400"/>
            <a:ext cx="7276665" cy="5812064"/>
          </a:xfrm>
          <a:ln w="25400"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Kirby Lumber issued bonds for 12.1MM (at par/face value).  Later that year, when the price of the bonds had dropped, Kirby repurchased some of them at 137K less than par.</a:t>
            </a:r>
          </a:p>
          <a:p>
            <a:r>
              <a:rPr lang="en-US" dirty="0"/>
              <a:t>Issue: Is the difference between the purchase price and the issue price income to Kirby?</a:t>
            </a:r>
          </a:p>
          <a:p>
            <a:r>
              <a:rPr lang="en-US" dirty="0"/>
              <a:t>What are some of the reasons that Kirby may have been able to repurchase its bonds for less than they were sold for?</a:t>
            </a:r>
          </a:p>
          <a:p>
            <a:r>
              <a:rPr lang="en-US" dirty="0"/>
              <a:t>Discuss Holmes’ rationale for taxing Kirby:</a:t>
            </a:r>
          </a:p>
          <a:p>
            <a:pPr lvl="1"/>
            <a:r>
              <a:rPr lang="en-US" i="1" dirty="0"/>
              <a:t>Here there was no shrinkage of assets and the taxpayer made a clear gain. As a result of its dealings it made available $137,521.30 assets previously offset by the obligation of bonds now extinct</a:t>
            </a:r>
            <a:r>
              <a:rPr lang="en-US" dirty="0"/>
              <a:t>. 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D96E84-68DA-65B6-5C42-03FB5DF7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US v. Kirby Lumber</a:t>
            </a:r>
            <a:r>
              <a:rPr lang="en-US" dirty="0"/>
              <a:t>, 284 U.S. 1 (1931)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FF69-0A78-7EC8-5C0D-2DD9F906C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879E2-9C9A-EA76-3C85-3C1E3F3DC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  <p:pic>
        <p:nvPicPr>
          <p:cNvPr id="1026" name="Picture 2" descr="A Visit to the Kirby Mills (Gulf Coast Lumberman, 1937)">
            <a:extLst>
              <a:ext uri="{FF2B5EF4-FFF2-40B4-BE49-F238E27FC236}">
                <a16:creationId xmlns:a16="http://schemas.microsoft.com/office/drawing/2014/main" id="{694E8306-AA94-249B-3DB4-D2B5C202A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413" y="631371"/>
            <a:ext cx="3651251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604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C6E430-B7B7-A802-6D90-A70A857B9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economic value received in Year 1 is not an “accession to wealth” under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Glenshaw Glass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principles </a:t>
            </a: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solely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because of the obligation to repay with </a:t>
            </a:r>
            <a:r>
              <a:rPr lang="en-US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after-tax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dollars.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obligation to repay disappears.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Because the exclusion justification is gone, the value received in Year 1 is </a:t>
            </a:r>
            <a:r>
              <a:rPr lang="en-US" i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now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 accession to wealth (in the year the repayment obligation disappears) under §61(a)(12).</a:t>
            </a:r>
          </a:p>
          <a:p>
            <a:endParaRPr lang="en-US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A627C9-B3D2-0ECF-D76D-0717104F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View of Debt-Discharge Income: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§61(a)(11)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1FC02-DB0D-CEEA-C3B0-FA36F122C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18AB7-012E-7E51-D014-9E9B166A5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72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EA6D87-919E-AAE6-6F9C-E11A11D5B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3193" y="660247"/>
            <a:ext cx="7930343" cy="417991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F416E7B-2814-5949-1810-F6C30F27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Deferral of COD: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§108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9921E-0E35-B54E-75C8-0F894EF82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52B40-8826-82DB-7D04-403B9911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C52D69-7998-2973-FD36-9E348E91E64A}"/>
              </a:ext>
            </a:extLst>
          </p:cNvPr>
          <p:cNvCxnSpPr/>
          <p:nvPr/>
        </p:nvCxnSpPr>
        <p:spPr>
          <a:xfrm>
            <a:off x="2765471" y="2277620"/>
            <a:ext cx="306091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7EC4E8-8C7F-0878-8D05-DFFA92078E8B}"/>
              </a:ext>
            </a:extLst>
          </p:cNvPr>
          <p:cNvCxnSpPr>
            <a:cxnSpLocks/>
          </p:cNvCxnSpPr>
          <p:nvPr/>
        </p:nvCxnSpPr>
        <p:spPr>
          <a:xfrm>
            <a:off x="2894623" y="2600502"/>
            <a:ext cx="395465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74F538-6367-298D-0747-6B6AF17AD104}"/>
              </a:ext>
            </a:extLst>
          </p:cNvPr>
          <p:cNvCxnSpPr>
            <a:cxnSpLocks/>
          </p:cNvCxnSpPr>
          <p:nvPr/>
        </p:nvCxnSpPr>
        <p:spPr>
          <a:xfrm>
            <a:off x="2894623" y="2918217"/>
            <a:ext cx="449709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957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paper with text on it&#10;&#10;AI-generated content may be incorrect.">
            <a:extLst>
              <a:ext uri="{FF2B5EF4-FFF2-40B4-BE49-F238E27FC236}">
                <a16:creationId xmlns:a16="http://schemas.microsoft.com/office/drawing/2014/main" id="{AFEA5A3E-958E-2538-CFF6-CC48B6018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542" y="588936"/>
            <a:ext cx="6734014" cy="420778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C6580A-EADB-3F83-CB98-FAFEC5B81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Deferral of COD: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§108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B019E-3A4D-6E4A-50DA-B8BF93B524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78B13-53CF-B6D0-2EA1-0D2384158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FD626F-B71D-2A4F-B876-C154A43FAAEF}"/>
              </a:ext>
            </a:extLst>
          </p:cNvPr>
          <p:cNvCxnSpPr/>
          <p:nvPr/>
        </p:nvCxnSpPr>
        <p:spPr>
          <a:xfrm>
            <a:off x="5339166" y="1069383"/>
            <a:ext cx="29291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914599-5F76-C1A3-5D62-0C744C74B5F9}"/>
              </a:ext>
            </a:extLst>
          </p:cNvPr>
          <p:cNvCxnSpPr>
            <a:cxnSpLocks/>
          </p:cNvCxnSpPr>
          <p:nvPr/>
        </p:nvCxnSpPr>
        <p:spPr>
          <a:xfrm>
            <a:off x="2453038" y="1446508"/>
            <a:ext cx="23867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5DE43D-8BFA-ED19-D83D-4C3F6350DAB4}"/>
              </a:ext>
            </a:extLst>
          </p:cNvPr>
          <p:cNvCxnSpPr>
            <a:cxnSpLocks/>
          </p:cNvCxnSpPr>
          <p:nvPr/>
        </p:nvCxnSpPr>
        <p:spPr>
          <a:xfrm>
            <a:off x="2582191" y="4373104"/>
            <a:ext cx="26407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35C17-A3D7-B508-F56A-C552BFB221D3}"/>
              </a:ext>
            </a:extLst>
          </p:cNvPr>
          <p:cNvCxnSpPr>
            <a:cxnSpLocks/>
          </p:cNvCxnSpPr>
          <p:nvPr/>
        </p:nvCxnSpPr>
        <p:spPr>
          <a:xfrm>
            <a:off x="1828800" y="4796725"/>
            <a:ext cx="7958380" cy="0"/>
          </a:xfrm>
          <a:prstGeom prst="line">
            <a:avLst/>
          </a:prstGeom>
          <a:ln w="222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close-up of a document&#10;&#10;AI-generated content may be incorrect.">
            <a:extLst>
              <a:ext uri="{FF2B5EF4-FFF2-40B4-BE49-F238E27FC236}">
                <a16:creationId xmlns:a16="http://schemas.microsoft.com/office/drawing/2014/main" id="{0A2B0C41-FAD0-669D-7CAE-019234014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558" y="4853552"/>
            <a:ext cx="6734014" cy="153469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D7F2DF-73DA-B578-928E-BCD0E7A7A405}"/>
              </a:ext>
            </a:extLst>
          </p:cNvPr>
          <p:cNvCxnSpPr>
            <a:cxnSpLocks/>
          </p:cNvCxnSpPr>
          <p:nvPr/>
        </p:nvCxnSpPr>
        <p:spPr>
          <a:xfrm>
            <a:off x="6765010" y="4742480"/>
            <a:ext cx="9453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269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AE84DF26-AF2D-E3FF-DB27-0D0D4C0E9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4385" y="533400"/>
            <a:ext cx="8954355" cy="58118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1A1FF73-4144-D099-1225-71E20208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Deferral of COD: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§108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56EA0-931B-7107-699E-D500038B7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40996-0EA3-9286-0211-4CAF2407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889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CD2D24-C19E-0A4B-F4B1-E3EF0493D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533400"/>
            <a:ext cx="6362869" cy="5812064"/>
          </a:xfrm>
          <a:ln w="28575"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Payne charges 21K on MBNA credit card to pay hospital bills and receive cash advances during unemployment.</a:t>
            </a:r>
          </a:p>
          <a:p>
            <a:r>
              <a:rPr lang="en-US" dirty="0"/>
              <a:t>In 2004, pursuant to settlement between MBNA and Payne, Payne agreed to pay 4.5K in full settlement of the 21K balance.  MBNA sent Payne a Form 1099-C (Cancellation of Debt) reporting 16.6 COD.</a:t>
            </a:r>
          </a:p>
          <a:p>
            <a:r>
              <a:rPr lang="en-US" dirty="0"/>
              <a:t>Payne wasn’t insolvent and didn’t file for bankruptcy.</a:t>
            </a:r>
          </a:p>
          <a:p>
            <a:r>
              <a:rPr lang="en-US" dirty="0"/>
              <a:t>What were </a:t>
            </a:r>
            <a:r>
              <a:rPr lang="en-US"/>
              <a:t>Payne’s arguments?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A1F640-24AC-0D55-7C24-5B521C435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Payne v. CIR</a:t>
            </a:r>
            <a:r>
              <a:rPr lang="en-US" dirty="0"/>
              <a:t>, TC Mem 2008-66 (2008), </a:t>
            </a:r>
            <a:r>
              <a:rPr lang="en-US" i="1" dirty="0"/>
              <a:t>aff’d </a:t>
            </a: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 Cir.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B923C-59AD-F8B8-2AB1-282173689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72B19-3908-96BF-7BC1-F8BD4E21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  <p:pic>
        <p:nvPicPr>
          <p:cNvPr id="1026" name="Picture 2" descr="MBNA Rewards World Elite® Mastercard ...">
            <a:extLst>
              <a:ext uri="{FF2B5EF4-FFF2-40B4-BE49-F238E27FC236}">
                <a16:creationId xmlns:a16="http://schemas.microsoft.com/office/drawing/2014/main" id="{39A7D3B4-E2FF-D0FE-1CBC-40A130FB3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8505" y="1429456"/>
            <a:ext cx="3594100" cy="226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12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82AEB5-67AB-F06B-1C75-7E5A48F25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4" y="533400"/>
            <a:ext cx="6599936" cy="5812064"/>
          </a:xfrm>
          <a:ln w="25400"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Compulsive gambler Zarin is extended 3.4MM in credit by Resorts in Atlantic City as evidenced by </a:t>
            </a:r>
            <a:r>
              <a:rPr lang="en-US" i="1" dirty="0"/>
              <a:t>markers</a:t>
            </a:r>
            <a:r>
              <a:rPr lang="en-US" dirty="0"/>
              <a:t> and personal checks. </a:t>
            </a:r>
          </a:p>
          <a:p>
            <a:endParaRPr lang="en-US" dirty="0"/>
          </a:p>
          <a:p>
            <a:r>
              <a:rPr lang="en-US" dirty="0"/>
              <a:t>In Sept. 1981, Zarin settles with Resorts for 500K. </a:t>
            </a:r>
          </a:p>
          <a:p>
            <a:endParaRPr lang="en-US" dirty="0"/>
          </a:p>
          <a:p>
            <a:r>
              <a:rPr lang="en-US" dirty="0"/>
              <a:t> IRS argues Zarin has 2.9MM of COD.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16E353-3118-4257-8859-A2F612B9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Zarin v. CIR</a:t>
            </a:r>
            <a:r>
              <a:rPr lang="en-US" dirty="0"/>
              <a:t>, 92 T.C. 1084 (1989) and 916 F.2d 110 (3</a:t>
            </a:r>
            <a:r>
              <a:rPr lang="en-US" baseline="30000" dirty="0"/>
              <a:t>rd</a:t>
            </a:r>
            <a:r>
              <a:rPr lang="en-US" dirty="0"/>
              <a:t> Cir. 1990) 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B6276-B83B-63B7-AA2F-E8DA174B3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BCCB9-DA0E-2780-5C82-D9668869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Bad Debt COD</a:t>
            </a:r>
            <a:endParaRPr lang="en-US" dirty="0"/>
          </a:p>
        </p:txBody>
      </p:sp>
      <p:pic>
        <p:nvPicPr>
          <p:cNvPr id="1028" name="Picture 4" descr="Casino Markers Guide">
            <a:extLst>
              <a:ext uri="{FF2B5EF4-FFF2-40B4-BE49-F238E27FC236}">
                <a16:creationId xmlns:a16="http://schemas.microsoft.com/office/drawing/2014/main" id="{913BBC88-D5BB-94A9-C426-A12089380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69" y="3439432"/>
            <a:ext cx="3187531" cy="184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orts Casino Hotel Atlantic City ...">
            <a:extLst>
              <a:ext uri="{FF2B5EF4-FFF2-40B4-BE49-F238E27FC236}">
                <a16:creationId xmlns:a16="http://schemas.microsoft.com/office/drawing/2014/main" id="{34939E61-0BE3-F6C1-AC3D-01C4FFB6B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69" y="1288968"/>
            <a:ext cx="3352800" cy="168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54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nimBg="1"/>
    </p:bld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28142</TotalTime>
  <Words>907</Words>
  <Application>Microsoft Macintosh PowerPoint</Application>
  <PresentationFormat>Widescreen</PresentationFormat>
  <Paragraphs>90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NSimSun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Federal Income Taxation Bad Debt Deduction and COD</vt:lpstr>
      <vt:lpstr>Borrowing and Lending</vt:lpstr>
      <vt:lpstr>Lender’s Deduction for Bad Debt (or Worthless Security)</vt:lpstr>
      <vt:lpstr>Section 165(g): Deduction for Worthless Security</vt:lpstr>
      <vt:lpstr>Section 166: Bad debt deduction</vt:lpstr>
      <vt:lpstr>Rev. Rul. 93-27</vt:lpstr>
      <vt:lpstr>Income from the Discharge of Indebtedness (COD): §61(a)(11) </vt:lpstr>
      <vt:lpstr>US v. Kirby Lumber, 284 U.S. 1 (1931)</vt:lpstr>
      <vt:lpstr>Modern View of Debt-Discharge Income: §61(a)(11)</vt:lpstr>
      <vt:lpstr>Deferral of COD: §108</vt:lpstr>
      <vt:lpstr>Deferral of COD: §108</vt:lpstr>
      <vt:lpstr>Deferral of COD: §108</vt:lpstr>
      <vt:lpstr>Payne v. CIR, TC Mem 2008-66 (2008), aff’d 8th Cir.</vt:lpstr>
      <vt:lpstr>Zarin v. CIR, 92 T.C. 1084 (1989) and 916 F.2d 110 (3rd Cir. 1990)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209</cp:revision>
  <cp:lastPrinted>2020-11-30T15:41:57Z</cp:lastPrinted>
  <dcterms:created xsi:type="dcterms:W3CDTF">2016-08-01T04:04:31Z</dcterms:created>
  <dcterms:modified xsi:type="dcterms:W3CDTF">2026-10-15T17:44:23Z</dcterms:modified>
  <cp:category/>
</cp:coreProperties>
</file>