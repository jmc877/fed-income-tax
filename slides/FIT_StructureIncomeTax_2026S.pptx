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sldIdLst>
    <p:sldId id="295" r:id="rId2"/>
    <p:sldId id="323" r:id="rId3"/>
    <p:sldId id="256" r:id="rId4"/>
    <p:sldId id="302" r:id="rId5"/>
    <p:sldId id="301" r:id="rId6"/>
    <p:sldId id="324" r:id="rId7"/>
    <p:sldId id="303" r:id="rId8"/>
    <p:sldId id="305" r:id="rId9"/>
    <p:sldId id="306" r:id="rId10"/>
    <p:sldId id="307" r:id="rId11"/>
    <p:sldId id="308" r:id="rId12"/>
    <p:sldId id="309" r:id="rId13"/>
    <p:sldId id="325" r:id="rId14"/>
    <p:sldId id="310" r:id="rId15"/>
    <p:sldId id="311" r:id="rId16"/>
    <p:sldId id="312" r:id="rId17"/>
    <p:sldId id="313" r:id="rId18"/>
    <p:sldId id="314" r:id="rId19"/>
    <p:sldId id="326" r:id="rId20"/>
    <p:sldId id="328" r:id="rId21"/>
    <p:sldId id="315" r:id="rId22"/>
    <p:sldId id="317" r:id="rId23"/>
    <p:sldId id="316" r:id="rId24"/>
    <p:sldId id="320" r:id="rId25"/>
    <p:sldId id="327" r:id="rId26"/>
    <p:sldId id="322" r:id="rId27"/>
    <p:sldId id="321" r:id="rId28"/>
    <p:sldId id="319" r:id="rId29"/>
    <p:sldId id="318" r:id="rId30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5F3"/>
    <a:srgbClr val="FBF885"/>
    <a:srgbClr val="D9B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5B1C2-F4F4-D54E-9FB7-7132BC7B52F4}" v="188" dt="2026-01-21T16:49:15.1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41"/>
    <p:restoredTop sz="96104"/>
  </p:normalViewPr>
  <p:slideViewPr>
    <p:cSldViewPr snapToGrid="0" snapToObjects="1">
      <p:cViewPr varScale="1">
        <p:scale>
          <a:sx n="71" d="100"/>
          <a:sy n="71" d="100"/>
        </p:scale>
        <p:origin x="200" y="3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3" d="100"/>
        <a:sy n="163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addSld modSld">
      <pc:chgData name="Colon, Jeffrey M." userId="615143b1-cdee-493d-9a9d-1565ce8666d9" providerId="ADAL" clId="{458F5B4D-4674-51EB-AE0A-4CE030354E61}" dt="2026-01-03T15:30:56.108" v="102" actId="20577"/>
      <pc:docMkLst>
        <pc:docMk/>
      </pc:docMkLst>
      <pc:sldChg chg="addSp delSp modSp new mod">
        <pc:chgData name="Colon, Jeffrey M." userId="615143b1-cdee-493d-9a9d-1565ce8666d9" providerId="ADAL" clId="{458F5B4D-4674-51EB-AE0A-4CE030354E61}" dt="2026-01-03T15:30:56.108" v="102" actId="20577"/>
        <pc:sldMkLst>
          <pc:docMk/>
          <pc:sldMk cId="1219150182" sldId="328"/>
        </pc:sldMkLst>
        <pc:spChg chg="mod">
          <ac:chgData name="Colon, Jeffrey M." userId="615143b1-cdee-493d-9a9d-1565ce8666d9" providerId="ADAL" clId="{458F5B4D-4674-51EB-AE0A-4CE030354E61}" dt="2026-01-03T15:30:56.108" v="102" actId="20577"/>
          <ac:spMkLst>
            <pc:docMk/>
            <pc:sldMk cId="1219150182" sldId="328"/>
            <ac:spMk id="3" creationId="{FBAB5B72-4B2A-D476-5333-0D6D9ED6B766}"/>
          </ac:spMkLst>
        </pc:spChg>
        <pc:picChg chg="add mod">
          <ac:chgData name="Colon, Jeffrey M." userId="615143b1-cdee-493d-9a9d-1565ce8666d9" providerId="ADAL" clId="{458F5B4D-4674-51EB-AE0A-4CE030354E61}" dt="2026-01-03T15:30:23.376" v="7" actId="14100"/>
          <ac:picMkLst>
            <pc:docMk/>
            <pc:sldMk cId="1219150182" sldId="328"/>
            <ac:picMk id="7" creationId="{CED427BF-570E-FAD0-A049-5FEC9C5EC047}"/>
          </ac:picMkLst>
        </pc:picChg>
      </pc:sldChg>
    </pc:docChg>
  </pc:docChgLst>
  <pc:docChgLst>
    <pc:chgData name="Colon, Jeffrey M." userId="615143b1-cdee-493d-9a9d-1565ce8666d9" providerId="ADAL" clId="{DC1DB158-BAB1-5930-B714-AEF472873853}"/>
    <pc:docChg chg="modSld">
      <pc:chgData name="Colon, Jeffrey M." userId="615143b1-cdee-493d-9a9d-1565ce8666d9" providerId="ADAL" clId="{DC1DB158-BAB1-5930-B714-AEF472873853}" dt="2026-01-21T16:49:15.133" v="215" actId="20577"/>
      <pc:docMkLst>
        <pc:docMk/>
      </pc:docMkLst>
      <pc:sldChg chg="modSp mod">
        <pc:chgData name="Colon, Jeffrey M." userId="615143b1-cdee-493d-9a9d-1565ce8666d9" providerId="ADAL" clId="{DC1DB158-BAB1-5930-B714-AEF472873853}" dt="2026-01-21T15:51:21.937" v="24"/>
        <pc:sldMkLst>
          <pc:docMk/>
          <pc:sldMk cId="997133595" sldId="310"/>
        </pc:sldMkLst>
        <pc:graphicFrameChg chg="mod">
          <ac:chgData name="Colon, Jeffrey M." userId="615143b1-cdee-493d-9a9d-1565ce8666d9" providerId="ADAL" clId="{DC1DB158-BAB1-5930-B714-AEF472873853}" dt="2026-01-21T15:51:21.937" v="24"/>
          <ac:graphicFrameMkLst>
            <pc:docMk/>
            <pc:sldMk cId="997133595" sldId="310"/>
            <ac:graphicFrameMk id="6" creationId="{03B55C39-922E-0657-FA4C-38257E127818}"/>
          </ac:graphicFrameMkLst>
        </pc:graphicFrameChg>
      </pc:sldChg>
      <pc:sldChg chg="addSp modSp mod modAnim">
        <pc:chgData name="Colon, Jeffrey M." userId="615143b1-cdee-493d-9a9d-1565ce8666d9" providerId="ADAL" clId="{DC1DB158-BAB1-5930-B714-AEF472873853}" dt="2026-01-21T16:01:13.511" v="48" actId="692"/>
        <pc:sldMkLst>
          <pc:docMk/>
          <pc:sldMk cId="736248594" sldId="312"/>
        </pc:sldMkLst>
        <pc:spChg chg="mod">
          <ac:chgData name="Colon, Jeffrey M." userId="615143b1-cdee-493d-9a9d-1565ce8666d9" providerId="ADAL" clId="{DC1DB158-BAB1-5930-B714-AEF472873853}" dt="2026-01-21T15:54:54.724" v="39" actId="20577"/>
          <ac:spMkLst>
            <pc:docMk/>
            <pc:sldMk cId="736248594" sldId="312"/>
            <ac:spMk id="3" creationId="{E65DE76C-C23F-A6E3-5478-0B41828F95F7}"/>
          </ac:spMkLst>
        </pc:spChg>
        <pc:graphicFrameChg chg="add mod">
          <ac:chgData name="Colon, Jeffrey M." userId="615143b1-cdee-493d-9a9d-1565ce8666d9" providerId="ADAL" clId="{DC1DB158-BAB1-5930-B714-AEF472873853}" dt="2026-01-21T15:54:23.388" v="26"/>
          <ac:graphicFrameMkLst>
            <pc:docMk/>
            <pc:sldMk cId="736248594" sldId="312"/>
            <ac:graphicFrameMk id="2" creationId="{2D2C1CC2-2FF7-6EC2-58B7-8572F4055CCE}"/>
          </ac:graphicFrameMkLst>
        </pc:graphicFrameChg>
        <pc:cxnChg chg="add mod">
          <ac:chgData name="Colon, Jeffrey M." userId="615143b1-cdee-493d-9a9d-1565ce8666d9" providerId="ADAL" clId="{DC1DB158-BAB1-5930-B714-AEF472873853}" dt="2026-01-21T16:01:13.511" v="48" actId="692"/>
          <ac:cxnSpMkLst>
            <pc:docMk/>
            <pc:sldMk cId="736248594" sldId="312"/>
            <ac:cxnSpMk id="8" creationId="{D56B4AC0-B254-2BAA-CFA7-03895FAD5C4A}"/>
          </ac:cxnSpMkLst>
        </pc:cxnChg>
      </pc:sldChg>
      <pc:sldChg chg="addSp modSp mod modAnim">
        <pc:chgData name="Colon, Jeffrey M." userId="615143b1-cdee-493d-9a9d-1565ce8666d9" providerId="ADAL" clId="{DC1DB158-BAB1-5930-B714-AEF472873853}" dt="2026-01-21T16:03:46.966" v="58"/>
        <pc:sldMkLst>
          <pc:docMk/>
          <pc:sldMk cId="990064636" sldId="313"/>
        </pc:sldMkLst>
        <pc:cxnChg chg="add mod">
          <ac:chgData name="Colon, Jeffrey M." userId="615143b1-cdee-493d-9a9d-1565ce8666d9" providerId="ADAL" clId="{DC1DB158-BAB1-5930-B714-AEF472873853}" dt="2026-01-21T16:03:29.001" v="55" actId="692"/>
          <ac:cxnSpMkLst>
            <pc:docMk/>
            <pc:sldMk cId="990064636" sldId="313"/>
            <ac:cxnSpMk id="6" creationId="{289616CE-3C31-4109-5F74-F58797C75729}"/>
          </ac:cxnSpMkLst>
        </pc:cxnChg>
        <pc:cxnChg chg="add mod">
          <ac:chgData name="Colon, Jeffrey M." userId="615143b1-cdee-493d-9a9d-1565ce8666d9" providerId="ADAL" clId="{DC1DB158-BAB1-5930-B714-AEF472873853}" dt="2026-01-21T16:03:36.028" v="57" actId="1076"/>
          <ac:cxnSpMkLst>
            <pc:docMk/>
            <pc:sldMk cId="990064636" sldId="313"/>
            <ac:cxnSpMk id="7" creationId="{A78C7792-702E-54D7-333B-342BD02A10D7}"/>
          </ac:cxnSpMkLst>
        </pc:cxnChg>
      </pc:sldChg>
      <pc:sldChg chg="modSp modAnim">
        <pc:chgData name="Colon, Jeffrey M." userId="615143b1-cdee-493d-9a9d-1565ce8666d9" providerId="ADAL" clId="{DC1DB158-BAB1-5930-B714-AEF472873853}" dt="2026-01-21T16:49:15.133" v="215" actId="20577"/>
        <pc:sldMkLst>
          <pc:docMk/>
          <pc:sldMk cId="2311173043" sldId="316"/>
        </pc:sldMkLst>
        <pc:spChg chg="mod">
          <ac:chgData name="Colon, Jeffrey M." userId="615143b1-cdee-493d-9a9d-1565ce8666d9" providerId="ADAL" clId="{DC1DB158-BAB1-5930-B714-AEF472873853}" dt="2026-01-21T16:49:15.133" v="215" actId="20577"/>
          <ac:spMkLst>
            <pc:docMk/>
            <pc:sldMk cId="2311173043" sldId="316"/>
            <ac:spMk id="2" creationId="{57EF3DE1-F13E-51FE-9149-B827567C2F8C}"/>
          </ac:spMkLst>
        </pc:spChg>
      </pc:sldChg>
      <pc:sldChg chg="modSp">
        <pc:chgData name="Colon, Jeffrey M." userId="615143b1-cdee-493d-9a9d-1565ce8666d9" providerId="ADAL" clId="{DC1DB158-BAB1-5930-B714-AEF472873853}" dt="2026-01-21T16:35:15.679" v="136" actId="20577"/>
        <pc:sldMkLst>
          <pc:docMk/>
          <pc:sldMk cId="1074243140" sldId="317"/>
        </pc:sldMkLst>
        <pc:spChg chg="mod">
          <ac:chgData name="Colon, Jeffrey M." userId="615143b1-cdee-493d-9a9d-1565ce8666d9" providerId="ADAL" clId="{DC1DB158-BAB1-5930-B714-AEF472873853}" dt="2026-01-21T16:35:15.679" v="136" actId="20577"/>
          <ac:spMkLst>
            <pc:docMk/>
            <pc:sldMk cId="1074243140" sldId="317"/>
            <ac:spMk id="2" creationId="{73D35294-E70F-8BC5-2ADF-991ED08C402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FIT_StructureIncomeTax_2026S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openclipart.org/detail/220844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600345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Essential Structure of the Income Tax</a:t>
            </a:r>
            <a:br>
              <a:rPr lang="en-US" i="1" dirty="0"/>
            </a:br>
            <a:r>
              <a:rPr lang="en-US" i="1" dirty="0"/>
              <a:t>Ch. 1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B3B691-7CFE-4CDD-A111-194ADF0B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Course Goal:</a:t>
            </a:r>
            <a:r>
              <a:rPr lang="en-US" sz="3200" dirty="0"/>
              <a:t> Understand the basic structure of the U.S. federal income tax system and how theory translates into positive law (the Internal Revenue Code).</a:t>
            </a:r>
          </a:p>
          <a:p>
            <a:pPr marL="0" lvl="0" indent="0" algn="l">
              <a:buNone/>
            </a:pPr>
            <a:br>
              <a:rPr lang="en-US" sz="3200" dirty="0"/>
            </a:br>
            <a:endParaRPr lang="en-US" sz="3200" dirty="0"/>
          </a:p>
          <a:p>
            <a:pPr lvl="0"/>
            <a:r>
              <a:rPr lang="en-US" sz="3200" b="1" dirty="0"/>
              <a:t>Key Question:</a:t>
            </a:r>
            <a:r>
              <a:rPr lang="en-US" sz="3200" dirty="0"/>
              <a:t> How do we and how should we allocate the economic burden of government costs ($X) across the population?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F597ECF-E5BC-3B0C-74EC-8A5AC12A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Federal Income Taxation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C2A6B-4902-98AE-F12D-3DED84100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701B8-192C-C106-A619-2DDBCD3FA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7916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and red pot with a red lid&#10;&#10;Description automatically generated">
            <a:extLst>
              <a:ext uri="{FF2B5EF4-FFF2-40B4-BE49-F238E27FC236}">
                <a16:creationId xmlns:a16="http://schemas.microsoft.com/office/drawing/2014/main" id="{E2E8E66D-8350-496E-AFBA-176CD4601E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5387" y="955545"/>
            <a:ext cx="2662238" cy="1998127"/>
          </a:xfr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Base and Tax Rates (Single, 2026)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8630B-04C1-717A-661D-E50A5931E579}"/>
              </a:ext>
            </a:extLst>
          </p:cNvPr>
          <p:cNvSpPr txBox="1"/>
          <p:nvPr/>
        </p:nvSpPr>
        <p:spPr>
          <a:xfrm>
            <a:off x="4140200" y="2463800"/>
            <a:ext cx="478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26F4A-BED8-0295-C19C-0A32DCB4FBE5}"/>
              </a:ext>
            </a:extLst>
          </p:cNvPr>
          <p:cNvSpPr txBox="1"/>
          <p:nvPr/>
        </p:nvSpPr>
        <p:spPr>
          <a:xfrm>
            <a:off x="240534" y="3063982"/>
            <a:ext cx="413867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Tax Base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/>
              <a:t>Income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Consumption/Wages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Wealth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Tariffs (New for ‘25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95B00-711C-E441-11A5-2A227183394C}"/>
              </a:ext>
            </a:extLst>
          </p:cNvPr>
          <p:cNvSpPr txBox="1"/>
          <p:nvPr/>
        </p:nvSpPr>
        <p:spPr>
          <a:xfrm>
            <a:off x="9033641" y="2463800"/>
            <a:ext cx="4564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C87323-361C-461C-008B-8550E975191B}"/>
              </a:ext>
            </a:extLst>
          </p:cNvPr>
          <p:cNvSpPr txBox="1"/>
          <p:nvPr/>
        </p:nvSpPr>
        <p:spPr>
          <a:xfrm>
            <a:off x="9490087" y="2692062"/>
            <a:ext cx="2360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$Tax Revenue$</a:t>
            </a:r>
          </a:p>
        </p:txBody>
      </p:sp>
      <p:pic>
        <p:nvPicPr>
          <p:cNvPr id="6" name="Picture 5" descr="A screenshot of a white sheet with numbers and a few black text&#10;&#10;AI-generated content may be incorrect.">
            <a:extLst>
              <a:ext uri="{FF2B5EF4-FFF2-40B4-BE49-F238E27FC236}">
                <a16:creationId xmlns:a16="http://schemas.microsoft.com/office/drawing/2014/main" id="{322BE3E8-2E20-C41F-8F97-74B97103C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316" y="809918"/>
            <a:ext cx="3860800" cy="5522259"/>
          </a:xfrm>
          <a:prstGeom prst="rect">
            <a:avLst/>
          </a:prstGeom>
        </p:spPr>
      </p:pic>
      <p:pic>
        <p:nvPicPr>
          <p:cNvPr id="14" name="Picture 13" descr="A yellow smiley face with black eyes&#10;&#10;AI-generated content may be incorrect.">
            <a:extLst>
              <a:ext uri="{FF2B5EF4-FFF2-40B4-BE49-F238E27FC236}">
                <a16:creationId xmlns:a16="http://schemas.microsoft.com/office/drawing/2014/main" id="{9BC0B543-4937-8824-B3BC-A814AADBC7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555" y="4852627"/>
            <a:ext cx="274736" cy="35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880BDC-C7C4-38EA-84C8-7EC4C241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 Definition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F3D4D-5384-72D3-45BE-709C1E2B8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E851A-224E-C615-89F9-49AC75D7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DA6A61-CE97-E85D-E5A8-22D89B734D5F}"/>
              </a:ext>
            </a:extLst>
          </p:cNvPr>
          <p:cNvSpPr txBox="1"/>
          <p:nvPr/>
        </p:nvSpPr>
        <p:spPr>
          <a:xfrm>
            <a:off x="512064" y="699319"/>
            <a:ext cx="114289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arenBoth"/>
            </a:pPr>
            <a:r>
              <a:rPr lang="en-US" sz="3600" dirty="0"/>
              <a:t>Market value of rights exercised in </a:t>
            </a:r>
            <a:r>
              <a:rPr lang="en-US" sz="3600" i="1" dirty="0"/>
              <a:t>consumption</a:t>
            </a:r>
            <a:r>
              <a:rPr lang="en-US" sz="3600" dirty="0"/>
              <a:t>, </a:t>
            </a:r>
          </a:p>
          <a:p>
            <a:r>
              <a:rPr lang="en-US" sz="3600" b="1" dirty="0"/>
              <a:t>			plus </a:t>
            </a:r>
          </a:p>
          <a:p>
            <a:r>
              <a:rPr lang="en-US" sz="3600" dirty="0"/>
              <a:t>(2) Change in value of property during period (e.g., annually).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AD089-AA9B-B28D-AE08-DFE77881782F}"/>
              </a:ext>
            </a:extLst>
          </p:cNvPr>
          <p:cNvSpPr txBox="1"/>
          <p:nvPr/>
        </p:nvSpPr>
        <p:spPr>
          <a:xfrm>
            <a:off x="468140" y="3870522"/>
            <a:ext cx="112557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Simplified Formula:  </a:t>
            </a:r>
          </a:p>
          <a:p>
            <a:r>
              <a:rPr lang="en-US" sz="3600" b="1" dirty="0"/>
              <a:t>Income = Wealth increases – Wealth decreases</a:t>
            </a:r>
            <a:r>
              <a:rPr lang="en-US" sz="3600" dirty="0"/>
              <a:t>, </a:t>
            </a:r>
          </a:p>
          <a:p>
            <a:r>
              <a:rPr lang="en-US" sz="3600" dirty="0"/>
              <a:t>but only if wealth reduction does </a:t>
            </a:r>
            <a:r>
              <a:rPr lang="en-US" sz="3600" b="1" i="1" dirty="0"/>
              <a:t>not</a:t>
            </a:r>
            <a:r>
              <a:rPr lang="en-US" sz="3600" dirty="0"/>
              <a:t> represent personal consumption </a:t>
            </a:r>
          </a:p>
        </p:txBody>
      </p:sp>
    </p:spTree>
    <p:extLst>
      <p:ext uri="{BB962C8B-B14F-4D97-AF65-F5344CB8AC3E}">
        <p14:creationId xmlns:p14="http://schemas.microsoft.com/office/powerpoint/2010/main" val="37135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8BB476-452E-9948-B7BD-31B104C0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Structure of a Tax on </a:t>
            </a:r>
            <a:r>
              <a:rPr lang="en-US" i="1" dirty="0"/>
              <a:t>Income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037E2-7E1C-2032-46CC-F9D839EFD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F7429-C773-11A9-8857-7701CC386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2002D-F835-CFE3-93F2-70654574641A}"/>
              </a:ext>
            </a:extLst>
          </p:cNvPr>
          <p:cNvSpPr txBox="1"/>
          <p:nvPr/>
        </p:nvSpPr>
        <p:spPr>
          <a:xfrm>
            <a:off x="454615" y="1850041"/>
            <a:ext cx="1139249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/>
              <a:t>Gross Income </a:t>
            </a:r>
            <a:r>
              <a:rPr lang="en-US" sz="3200" dirty="0"/>
              <a:t>(inflows—wealth accessions, </a:t>
            </a:r>
            <a:r>
              <a:rPr lang="en-US" sz="3200" u="sng" dirty="0"/>
              <a:t>if not excluded</a:t>
            </a:r>
            <a:r>
              <a:rPr lang="en-US" sz="3200" dirty="0"/>
              <a:t>) [§61] </a:t>
            </a:r>
          </a:p>
          <a:p>
            <a:r>
              <a:rPr lang="en-US" sz="3200" dirty="0"/>
              <a:t>					</a:t>
            </a:r>
            <a:r>
              <a:rPr lang="en-US" sz="3200" b="1" dirty="0"/>
              <a:t>minus</a:t>
            </a:r>
          </a:p>
          <a:p>
            <a:r>
              <a:rPr lang="en-US" sz="3200" b="1" i="1" u="sng" dirty="0"/>
              <a:t>Allowable Deductions </a:t>
            </a:r>
            <a:r>
              <a:rPr lang="en-US" sz="3200" u="sng" dirty="0"/>
              <a:t>(certain outflows—wealth reductions) </a:t>
            </a:r>
            <a:r>
              <a:rPr lang="en-US" sz="3200" dirty="0"/>
              <a:t>[§161]</a:t>
            </a:r>
          </a:p>
          <a:p>
            <a:pPr algn="ctr"/>
            <a:r>
              <a:rPr lang="en-US" sz="3200" dirty="0"/>
              <a:t>=</a:t>
            </a:r>
            <a:br>
              <a:rPr lang="en-US" sz="3200" dirty="0"/>
            </a:br>
            <a:r>
              <a:rPr lang="en-US" sz="3200" b="1" dirty="0"/>
              <a:t>Taxable Income (tax base) [§1]</a:t>
            </a:r>
          </a:p>
        </p:txBody>
      </p:sp>
    </p:spTree>
    <p:extLst>
      <p:ext uri="{BB962C8B-B14F-4D97-AF65-F5344CB8AC3E}">
        <p14:creationId xmlns:p14="http://schemas.microsoft.com/office/powerpoint/2010/main" val="268755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E0760F-52F1-1F78-F1C9-F99CD63A2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The Rule:</a:t>
            </a:r>
            <a:r>
              <a:rPr lang="en-US" sz="3200" dirty="0"/>
              <a:t> §61 applies "Unless as otherwise provided in this subtitle".</a:t>
            </a:r>
          </a:p>
          <a:p>
            <a:pPr lvl="1"/>
            <a:r>
              <a:rPr lang="en-US" sz="3000" b="1" dirty="0"/>
              <a:t>Example – Gifts (§102)</a:t>
            </a:r>
            <a:endParaRPr lang="en-US" sz="3000" dirty="0"/>
          </a:p>
          <a:p>
            <a:pPr lvl="2"/>
            <a:r>
              <a:rPr lang="en-US" sz="3200" b="1" dirty="0"/>
              <a:t>HS theory</a:t>
            </a:r>
            <a:r>
              <a:rPr lang="en-US" sz="3200" dirty="0"/>
              <a:t>: receiving a cash gift is a clear wealth increase and should be taxed.</a:t>
            </a:r>
          </a:p>
          <a:p>
            <a:pPr lvl="2"/>
            <a:r>
              <a:rPr lang="en-US" sz="3200" b="1" dirty="0"/>
              <a:t>Positive Law:</a:t>
            </a:r>
            <a:r>
              <a:rPr lang="en-US" sz="3200" dirty="0"/>
              <a:t> §102(a) specifically </a:t>
            </a:r>
            <a:r>
              <a:rPr lang="en-US" sz="3200" b="1" dirty="0"/>
              <a:t>excludes </a:t>
            </a:r>
            <a:r>
              <a:rPr lang="en-US" sz="3200" dirty="0"/>
              <a:t>"gifts, bequests, devises, and inheritances" from Gross Income.</a:t>
            </a:r>
          </a:p>
          <a:p>
            <a:pPr lvl="0"/>
            <a:r>
              <a:rPr lang="en-US" sz="3200" b="1" dirty="0"/>
              <a:t>Exclusion vs. Deduction:</a:t>
            </a:r>
            <a:r>
              <a:rPr lang="en-US" sz="3200" dirty="0"/>
              <a:t> </a:t>
            </a:r>
          </a:p>
          <a:p>
            <a:pPr lvl="1"/>
            <a:r>
              <a:rPr lang="en-US" sz="3000" b="1" dirty="0"/>
              <a:t>Exclusions</a:t>
            </a:r>
            <a:r>
              <a:rPr lang="en-US" sz="3000" dirty="0"/>
              <a:t> are wealth inflows that never enter Gross Income</a:t>
            </a:r>
          </a:p>
          <a:p>
            <a:pPr lvl="1"/>
            <a:r>
              <a:rPr lang="en-US" sz="3000" b="1" dirty="0"/>
              <a:t>Deductions</a:t>
            </a:r>
            <a:r>
              <a:rPr lang="en-US" sz="3000" dirty="0"/>
              <a:t> are outflows that reduce Gross Income.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7FB6F-DCE8-C2EE-46D7-3B8D3C1D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Deviations from HS (Theory)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FBF1F-99D0-0F1D-61F6-B3664E7BA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E3051-7B3E-EA2A-43C0-9CBB338FD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28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0C59A6D-4FF9-E7BB-8190-89C1FD11DF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5804244"/>
              </p:ext>
            </p:extLst>
          </p:nvPr>
        </p:nvGraphicFramePr>
        <p:xfrm>
          <a:off x="457200" y="827314"/>
          <a:ext cx="11277600" cy="36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72498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724989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4A7757A-3B8F-6B3A-AE3A-5656142F8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85464-BA3D-73BF-CFA1-097E9E256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EFDE-66BD-47EC-C321-9039AE9D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DDF0F-815F-0CFC-A4B3-1DDB0215DB8D}"/>
              </a:ext>
            </a:extLst>
          </p:cNvPr>
          <p:cNvSpPr txBox="1"/>
          <p:nvPr/>
        </p:nvSpPr>
        <p:spPr>
          <a:xfrm>
            <a:off x="369454" y="4893375"/>
            <a:ext cx="11547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Capital Expenditures are generally made after-tax dollars because they are not deductible.</a:t>
            </a:r>
          </a:p>
        </p:txBody>
      </p:sp>
    </p:spTree>
    <p:extLst>
      <p:ext uri="{BB962C8B-B14F-4D97-AF65-F5344CB8AC3E}">
        <p14:creationId xmlns:p14="http://schemas.microsoft.com/office/powerpoint/2010/main" val="1453473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148268-E9B6-8BC9-35F3-E16FF299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b="1" dirty="0"/>
              <a:t>Two Precepts of a Tax on Income</a:t>
            </a:r>
          </a:p>
          <a:p>
            <a:pPr lvl="1" algn="l"/>
            <a:r>
              <a:rPr lang="en-US" sz="2400" dirty="0"/>
              <a:t>Same $ should not be taxed to the same taxpayer more than once; and</a:t>
            </a:r>
          </a:p>
          <a:p>
            <a:pPr lvl="1" algn="l"/>
            <a:r>
              <a:rPr lang="en-US" sz="2400" dirty="0"/>
              <a:t>Same $ should not provide a double tax benefit to the same taxpayer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</a:t>
            </a:r>
          </a:p>
          <a:p>
            <a:pPr lvl="1" algn="l"/>
            <a:r>
              <a:rPr lang="en-US" sz="2400" dirty="0"/>
              <a:t>Record of previously taxed $</a:t>
            </a:r>
          </a:p>
          <a:p>
            <a:pPr lvl="1" algn="l"/>
            <a:r>
              <a:rPr lang="en-US" sz="2400" dirty="0"/>
              <a:t>$ that have not yet been deducted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(</a:t>
            </a:r>
            <a:r>
              <a:rPr lang="en-US" sz="2800" b="1" kern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§1012)</a:t>
            </a:r>
            <a:endParaRPr lang="en-US" sz="2800" b="1" dirty="0"/>
          </a:p>
          <a:p>
            <a:pPr lvl="1" algn="l"/>
            <a:r>
              <a:rPr lang="en-US" sz="2400" dirty="0"/>
              <a:t>Created by nondeductible capital expenditures (most common), or</a:t>
            </a:r>
          </a:p>
          <a:p>
            <a:pPr lvl="1" algn="l"/>
            <a:r>
              <a:rPr lang="en-US" sz="2400" dirty="0"/>
              <a:t>Income inclusion—your employer grants you stock as additional compensation; by including it in income, basis is created.</a:t>
            </a:r>
          </a:p>
          <a:p>
            <a:pPr lvl="1" algn="l"/>
            <a:endParaRPr lang="en-US" dirty="0"/>
          </a:p>
          <a:p>
            <a:pPr lvl="1" algn="l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405E59-6D24-4DE6-76A8-7E8C4B12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Basis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A40C-64BF-8B45-1D39-B871A9568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6DCD9-997F-4B96-72BD-117306918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5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597CAF-DB3F-7C5F-62EE-CCC34A668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Under HS, increases (decreases) in wealth, e.g., increases (decreases) in the value of an asset, would be taxable events.</a:t>
            </a:r>
          </a:p>
          <a:p>
            <a:endParaRPr lang="en-US" sz="2800" dirty="0"/>
          </a:p>
          <a:p>
            <a:r>
              <a:rPr lang="en-US" sz="2800" dirty="0"/>
              <a:t>Gains/losses are not </a:t>
            </a:r>
            <a:r>
              <a:rPr lang="en-US" sz="2800" b="1" i="1" dirty="0"/>
              <a:t>recognized</a:t>
            </a:r>
            <a:r>
              <a:rPr lang="en-US" sz="2800" dirty="0"/>
              <a:t> (enter into the tax base) generally until there is a </a:t>
            </a:r>
            <a:r>
              <a:rPr lang="en-US" sz="2800" b="1" i="1" dirty="0"/>
              <a:t>realization event </a:t>
            </a:r>
            <a:r>
              <a:rPr lang="en-US" sz="2800" dirty="0"/>
              <a:t>(sale or exchange).</a:t>
            </a:r>
          </a:p>
          <a:p>
            <a:pPr lvl="1"/>
            <a:r>
              <a:rPr lang="en-US" sz="2800" dirty="0"/>
              <a:t>Gain/Loss:  </a:t>
            </a:r>
            <a:r>
              <a:rPr lang="en-US" sz="2800" b="1" dirty="0"/>
              <a:t>Amount realized</a:t>
            </a:r>
            <a:r>
              <a:rPr lang="en-US" sz="2800" dirty="0"/>
              <a:t> minus </a:t>
            </a:r>
            <a:r>
              <a:rPr lang="en-US" sz="2800" b="1" dirty="0"/>
              <a:t>adjusted basis </a:t>
            </a:r>
            <a:r>
              <a:rPr lang="en-US" sz="2800" dirty="0"/>
              <a:t>(AR – AB).  §1001(a)</a:t>
            </a:r>
          </a:p>
          <a:p>
            <a:pPr lvl="2"/>
            <a:r>
              <a:rPr lang="en-US" sz="2800" b="1" dirty="0"/>
              <a:t>AR</a:t>
            </a:r>
            <a:r>
              <a:rPr lang="en-US" sz="2800" dirty="0"/>
              <a:t>: Cash or FMV of other property.  §1001(b)</a:t>
            </a:r>
          </a:p>
          <a:p>
            <a:pPr lvl="2"/>
            <a:r>
              <a:rPr lang="en-US" sz="2800" b="1" dirty="0"/>
              <a:t>AB</a:t>
            </a:r>
            <a:r>
              <a:rPr lang="en-US" sz="2800" dirty="0"/>
              <a:t>: Cost basis with adjustments, e.g., depreciation. §1011(a)</a:t>
            </a:r>
          </a:p>
          <a:p>
            <a:pPr lvl="2"/>
            <a:r>
              <a:rPr lang="en-US" sz="2800" dirty="0"/>
              <a:t>Subtracting the AB ensures that the same dollars are not taxed more than once to the same taxpayer.</a:t>
            </a:r>
          </a:p>
          <a:p>
            <a:pPr lvl="2"/>
            <a:endParaRPr lang="en-US" sz="2800" dirty="0"/>
          </a:p>
          <a:p>
            <a:r>
              <a:rPr lang="en-US" sz="3000" dirty="0"/>
              <a:t>Realization is a valuable option for taxpayers.  Why?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 is one justification for the realization requirement?  One critique</a:t>
            </a:r>
            <a:r>
              <a:rPr lang="en-US" dirty="0"/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B3A42A-3985-5D06-6DFC-7AABA43B4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B4EDD-2B05-F0DC-DAC2-8E745168E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8AC25-B73B-0DC8-CC0F-77D04932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37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69440-583E-4E86-8988-E7453991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861D9B-228E-1A63-8C54-DD197121E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5987094"/>
              </p:ext>
            </p:extLst>
          </p:nvPr>
        </p:nvGraphicFramePr>
        <p:xfrm>
          <a:off x="457200" y="827314"/>
          <a:ext cx="11332464" cy="4110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4D7668E-FE85-4943-C6EF-F41ADAA6F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3622A-98E0-1AE5-291E-CAF150739F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0CC6-934C-DF25-8352-D81DE4B5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969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6BF7-90EB-EC0B-73B5-C67BE0663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7B6FAE6-AE3F-EDDA-BA7E-1EFD874039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1628131"/>
              </p:ext>
            </p:extLst>
          </p:nvPr>
        </p:nvGraphicFramePr>
        <p:xfrm>
          <a:off x="457200" y="827314"/>
          <a:ext cx="11332464" cy="4835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8E2E5F0-C460-2292-ED7A-320EFB95A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CBA14-DA59-703E-ED65-CD0F09B66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605EB-F721-E4DC-8E1E-D60FF17A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197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FFE4-AD03-95B0-84A7-76D41B80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7EC45A-F303-EE8C-3311-5D377DF835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046790"/>
              </p:ext>
            </p:extLst>
          </p:nvPr>
        </p:nvGraphicFramePr>
        <p:xfrm>
          <a:off x="457200" y="684997"/>
          <a:ext cx="11332464" cy="5508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152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1521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39171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146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0682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49954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18176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Depreciation</a:t>
                      </a:r>
                    </a:p>
                  </a:txBody>
                  <a:tcPr anchor="ctr">
                    <a:solidFill>
                      <a:srgbClr val="00F5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30894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E8AF0F7-1E01-C37E-C301-5A51960B3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02D3-E4A8-DF12-44A8-81B97E5388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C85D7-CBD0-4071-1C63-9A9276897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4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29230-91B2-FDBF-63B1-2A8D9569C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Important:</a:t>
            </a:r>
            <a:r>
              <a:rPr lang="en-US" sz="2800" dirty="0"/>
              <a:t> "Capital expenditure" ≠ "capital gain/loss" — different concepts</a:t>
            </a:r>
          </a:p>
          <a:p>
            <a:r>
              <a:rPr lang="en-US" sz="2800" b="1" dirty="0"/>
              <a:t>Three Requirements for "Capital" Treatment:</a:t>
            </a:r>
            <a:endParaRPr lang="en-US" sz="2800" dirty="0"/>
          </a:p>
          <a:p>
            <a:pPr lvl="1"/>
            <a:r>
              <a:rPr lang="en-US" sz="2600" dirty="0"/>
              <a:t>Gain includable or loss deductible (personal losses generally not deductible)</a:t>
            </a:r>
          </a:p>
          <a:p>
            <a:pPr lvl="1"/>
            <a:r>
              <a:rPr lang="en-US" sz="2600" dirty="0"/>
              <a:t>Asset is a "capital asset" (§ 1221)</a:t>
            </a:r>
          </a:p>
          <a:p>
            <a:pPr lvl="1"/>
            <a:r>
              <a:rPr lang="en-US" sz="2600" dirty="0"/>
              <a:t>From "sale or exchange"</a:t>
            </a:r>
          </a:p>
          <a:p>
            <a:r>
              <a:rPr lang="en-US" sz="2800" b="1" dirty="0"/>
              <a:t>Example:</a:t>
            </a:r>
            <a:endParaRPr lang="en-US" sz="2800" dirty="0"/>
          </a:p>
          <a:p>
            <a:pPr lvl="1"/>
            <a:r>
              <a:rPr lang="en-US" sz="2600" dirty="0"/>
              <a:t>Gold necklace purchased by Ellen for personal adornment → Capital asset for Ellen</a:t>
            </a:r>
          </a:p>
          <a:p>
            <a:pPr lvl="1"/>
            <a:r>
              <a:rPr lang="en-US" sz="2600" dirty="0"/>
              <a:t>Same necklace held by Steve (retail shop) as inventory → Not a capital asset</a:t>
            </a:r>
          </a:p>
          <a:p>
            <a:endParaRPr lang="en-US" sz="2800" dirty="0"/>
          </a:p>
          <a:p>
            <a:r>
              <a:rPr lang="en-US" sz="2800" dirty="0"/>
              <a:t>If the property sold is a </a:t>
            </a:r>
            <a:r>
              <a:rPr lang="en-US" sz="2800" i="1" dirty="0"/>
              <a:t>capital asset </a:t>
            </a:r>
            <a:r>
              <a:rPr lang="en-US" sz="2800" dirty="0"/>
              <a:t>and is held for </a:t>
            </a:r>
            <a:r>
              <a:rPr lang="en-US" sz="2800" i="1" dirty="0"/>
              <a:t>more than one year</a:t>
            </a:r>
            <a:r>
              <a:rPr lang="en-US" sz="2800" dirty="0"/>
              <a:t>, any gains are potentially subject to a rate of 0%, 15%, 20%. §1(h) (CG rates).</a:t>
            </a:r>
          </a:p>
          <a:p>
            <a:r>
              <a:rPr lang="en-US" sz="2800" dirty="0"/>
              <a:t>Capital losses are limited under §1211(b) (amt of CGs plus 3K)</a:t>
            </a:r>
          </a:p>
          <a:p>
            <a:r>
              <a:rPr lang="en-US" sz="2800" dirty="0"/>
              <a:t>If the property is held for less than one year, any gains are generally subject to the same rates as wage income.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8012A5-E99F-0308-CEE6-2F6E0C57A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4C7BB-8FCC-285B-0FEA-689429478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05FA5-B185-F486-7299-3B42908D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25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A41031-2326-2FB2-EF7F-D9EF63374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Subsistence Consumption, Tax Rates,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551E-1050-0CA2-64D1-66B614A39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474F2-A04C-F6F8-A8CC-F086C20F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3B55C39-922E-0657-FA4C-38257E127818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8654673"/>
              </p:ext>
            </p:extLst>
          </p:nvPr>
        </p:nvGraphicFramePr>
        <p:xfrm>
          <a:off x="393339" y="836629"/>
          <a:ext cx="11277600" cy="51847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855200" imgH="6883400" progId="Excel.Sheet.12">
                  <p:embed/>
                </p:oleObj>
              </mc:Choice>
              <mc:Fallback>
                <p:oleObj name="Worksheet" r:id="rId2" imgW="9855200" imgH="6883400" progId="Excel.Sheet.12">
                  <p:embed/>
                  <p:pic>
                    <p:nvPicPr>
                      <p:cNvPr id="6" name="Content Placeholder 5">
                        <a:extLst>
                          <a:ext uri="{FF2B5EF4-FFF2-40B4-BE49-F238E27FC236}">
                            <a16:creationId xmlns:a16="http://schemas.microsoft.com/office/drawing/2014/main" id="{03B55C39-922E-0657-FA4C-38257E1278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3339" y="836629"/>
                        <a:ext cx="11277600" cy="51847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97133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A062C4-474A-8C5A-8E6E-CAE2EDC9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76FF-D25B-511D-D197-274298ABD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45EC0-F106-2F32-184F-71D450A3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11" name="Content Placeholder 10" descr="A close-up of a form&#10;&#10;AI-generated content may be incorrect.">
            <a:extLst>
              <a:ext uri="{FF2B5EF4-FFF2-40B4-BE49-F238E27FC236}">
                <a16:creationId xmlns:a16="http://schemas.microsoft.com/office/drawing/2014/main" id="{2A508B3F-C342-79CD-8AA3-2124FE1FF3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441103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5DE76C-C23F-A6E3-5478-0B41828F9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1040:  From Gross Income (GI </a:t>
            </a:r>
            <a:r>
              <a:rPr lang="en-US" sz="2400" dirty="0"/>
              <a:t>§61</a:t>
            </a:r>
            <a:r>
              <a:rPr lang="en-US" dirty="0"/>
              <a:t>) to Adjusted Gross Income (AGI </a:t>
            </a:r>
            <a:r>
              <a:rPr lang="en-US" sz="2400" dirty="0"/>
              <a:t>§63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EA7D6-89EF-2D09-82E2-35C747605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EE196-239D-B0EC-731C-F1A79475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form&#10;&#10;AI-generated content may be incorrect.">
            <a:extLst>
              <a:ext uri="{FF2B5EF4-FFF2-40B4-BE49-F238E27FC236}">
                <a16:creationId xmlns:a16="http://schemas.microsoft.com/office/drawing/2014/main" id="{ABEAA6C9-D83E-05A4-2DC6-818E1A282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578853"/>
            <a:ext cx="11277599" cy="55606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F80584-30BD-A696-5904-A483BC3E8926}"/>
              </a:ext>
            </a:extLst>
          </p:cNvPr>
          <p:cNvCxnSpPr>
            <a:cxnSpLocks/>
          </p:cNvCxnSpPr>
          <p:nvPr/>
        </p:nvCxnSpPr>
        <p:spPr>
          <a:xfrm flipH="1">
            <a:off x="7408785" y="4846865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46F55BF-32CD-CA5E-BACA-038BF05062FB}"/>
              </a:ext>
            </a:extLst>
          </p:cNvPr>
          <p:cNvCxnSpPr>
            <a:cxnSpLocks/>
          </p:cNvCxnSpPr>
          <p:nvPr/>
        </p:nvCxnSpPr>
        <p:spPr>
          <a:xfrm flipH="1">
            <a:off x="7236992" y="5360003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6B4AC0-B254-2BAA-CFA7-03895FAD5C4A}"/>
              </a:ext>
            </a:extLst>
          </p:cNvPr>
          <p:cNvCxnSpPr/>
          <p:nvPr/>
        </p:nvCxnSpPr>
        <p:spPr>
          <a:xfrm flipH="1">
            <a:off x="5279010" y="5360003"/>
            <a:ext cx="1536569" cy="446908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4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0A0CDF-20DD-5C3B-1FDD-ABBB48E19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Income, Tax, and Credits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7E7DE-703F-E93F-1DEA-27E9EE6824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D18A3-4504-512E-BEFA-8CF6366B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9" name="Content Placeholder 8" descr="A close-up of a tax form&#10;&#10;AI-generated content may be incorrect.">
            <a:extLst>
              <a:ext uri="{FF2B5EF4-FFF2-40B4-BE49-F238E27FC236}">
                <a16:creationId xmlns:a16="http://schemas.microsoft.com/office/drawing/2014/main" id="{D6DCD75C-5ED1-7B4A-69A4-199772B2B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72185"/>
            <a:ext cx="11278299" cy="5471861"/>
          </a:xfr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CCE798-FAF9-1CA3-9BB0-10BCBDAC3A78}"/>
              </a:ext>
            </a:extLst>
          </p:cNvPr>
          <p:cNvCxnSpPr>
            <a:cxnSpLocks/>
          </p:cNvCxnSpPr>
          <p:nvPr/>
        </p:nvCxnSpPr>
        <p:spPr>
          <a:xfrm flipH="1">
            <a:off x="7774545" y="2403566"/>
            <a:ext cx="1996472" cy="1025434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F88A16-E771-0EA2-6B90-C22793F21D88}"/>
              </a:ext>
            </a:extLst>
          </p:cNvPr>
          <p:cNvCxnSpPr>
            <a:cxnSpLocks/>
          </p:cNvCxnSpPr>
          <p:nvPr/>
        </p:nvCxnSpPr>
        <p:spPr>
          <a:xfrm flipH="1">
            <a:off x="2671454" y="3315855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F597D8-322D-510E-5572-58E4CAF2E373}"/>
              </a:ext>
            </a:extLst>
          </p:cNvPr>
          <p:cNvCxnSpPr>
            <a:cxnSpLocks/>
          </p:cNvCxnSpPr>
          <p:nvPr/>
        </p:nvCxnSpPr>
        <p:spPr>
          <a:xfrm flipH="1">
            <a:off x="5616781" y="5626306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89616CE-3C31-4109-5F74-F58797C75729}"/>
              </a:ext>
            </a:extLst>
          </p:cNvPr>
          <p:cNvCxnSpPr/>
          <p:nvPr/>
        </p:nvCxnSpPr>
        <p:spPr>
          <a:xfrm flipH="1">
            <a:off x="7343480" y="1998482"/>
            <a:ext cx="1206631" cy="405084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8C7792-702E-54D7-333B-342BD02A10D7}"/>
              </a:ext>
            </a:extLst>
          </p:cNvPr>
          <p:cNvCxnSpPr/>
          <p:nvPr/>
        </p:nvCxnSpPr>
        <p:spPr>
          <a:xfrm flipH="1">
            <a:off x="7749837" y="2244646"/>
            <a:ext cx="1206631" cy="405084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064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730352-7748-7511-70EC-B75A31DDE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Payments, Refunds, and Amounts 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CCB5-D216-281E-2B9B-C257824D6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D45A-8965-8618-4FDE-DE7DD7990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tax form&#10;&#10;AI-generated content may be incorrect.">
            <a:extLst>
              <a:ext uri="{FF2B5EF4-FFF2-40B4-BE49-F238E27FC236}">
                <a16:creationId xmlns:a16="http://schemas.microsoft.com/office/drawing/2014/main" id="{FBFE54EA-8387-1B33-4037-7D0EBACDE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56" y="757646"/>
            <a:ext cx="11277600" cy="5460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0EF8E1-1126-4D4F-FBC1-65B7BCC7920F}"/>
              </a:ext>
            </a:extLst>
          </p:cNvPr>
          <p:cNvCxnSpPr>
            <a:cxnSpLocks/>
          </p:cNvCxnSpPr>
          <p:nvPr/>
        </p:nvCxnSpPr>
        <p:spPr>
          <a:xfrm flipH="1">
            <a:off x="3459967" y="757646"/>
            <a:ext cx="2636033" cy="357170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FB9C913-59F6-9E86-F9FD-E8C96ACCD644}"/>
              </a:ext>
            </a:extLst>
          </p:cNvPr>
          <p:cNvCxnSpPr>
            <a:cxnSpLocks/>
          </p:cNvCxnSpPr>
          <p:nvPr/>
        </p:nvCxnSpPr>
        <p:spPr>
          <a:xfrm flipH="1">
            <a:off x="6493353" y="3429000"/>
            <a:ext cx="1435622" cy="178585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0557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3B3506-C7AC-BC35-92F7-AD052FCBA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taking FIT, you realize that you are eligible for a tax credit for a portion of your education expenses under §25A (Lifetime Learning Credit).  Where does it go on your 1040 and what other forms do you need to file?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82D744-F36E-AAFE-A1DB-494527BC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from the Code to the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D57E1-07FA-1939-659E-933478B8E6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0F7F7-84E4-FBA9-F10F-2B300F15A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4209ADC6-0359-733F-142E-08D992DD350C}"/>
              </a:ext>
            </a:extLst>
          </p:cNvPr>
          <p:cNvSpPr>
            <a:spLocks noGrp="1"/>
          </p:cNvSpPr>
          <p:nvPr/>
        </p:nvSpPr>
        <p:spPr>
          <a:xfrm>
            <a:off x="579836" y="228317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200" b="1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5ABB71-3A97-F8CC-6675-AC8B130FBFF1}"/>
              </a:ext>
            </a:extLst>
          </p:cNvPr>
          <p:cNvSpPr>
            <a:spLocks noGrp="1"/>
          </p:cNvSpPr>
          <p:nvPr/>
        </p:nvSpPr>
        <p:spPr>
          <a:xfrm>
            <a:off x="3546556" y="228317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Form 8863:  Education Credits (American Opportunity and Lifetime Learning Credits), Line 19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BAB17282-B245-2309-1479-E6A53671B431}"/>
              </a:ext>
            </a:extLst>
          </p:cNvPr>
          <p:cNvSpPr>
            <a:spLocks noGrp="1"/>
          </p:cNvSpPr>
          <p:nvPr/>
        </p:nvSpPr>
        <p:spPr>
          <a:xfrm>
            <a:off x="579836" y="343125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2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E7A100D-5F02-5B9C-DDAF-A4686CAD52A7}"/>
              </a:ext>
            </a:extLst>
          </p:cNvPr>
          <p:cNvSpPr>
            <a:spLocks noGrp="1"/>
          </p:cNvSpPr>
          <p:nvPr/>
        </p:nvSpPr>
        <p:spPr>
          <a:xfrm>
            <a:off x="3546556" y="343125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Schedule 3 (Form 1040):   Additional Credits and Payments, Line 3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2B3C7C2-BF5A-6BC9-0D7D-BF85D7803D40}"/>
              </a:ext>
            </a:extLst>
          </p:cNvPr>
          <p:cNvSpPr>
            <a:spLocks noGrp="1"/>
          </p:cNvSpPr>
          <p:nvPr/>
        </p:nvSpPr>
        <p:spPr>
          <a:xfrm>
            <a:off x="579836" y="457933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3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6624165-468C-42E0-CE39-B214F6625E8B}"/>
              </a:ext>
            </a:extLst>
          </p:cNvPr>
          <p:cNvSpPr>
            <a:spLocks noGrp="1"/>
          </p:cNvSpPr>
          <p:nvPr/>
        </p:nvSpPr>
        <p:spPr>
          <a:xfrm>
            <a:off x="3546556" y="457933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Form 1040, Line 20</a:t>
            </a:r>
          </a:p>
        </p:txBody>
      </p:sp>
    </p:spTree>
    <p:extLst>
      <p:ext uri="{BB962C8B-B14F-4D97-AF65-F5344CB8AC3E}">
        <p14:creationId xmlns:p14="http://schemas.microsoft.com/office/powerpoint/2010/main" val="369039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ie chart with numbers and text&#10;&#10;AI-generated content may be incorrect.">
            <a:extLst>
              <a:ext uri="{FF2B5EF4-FFF2-40B4-BE49-F238E27FC236}">
                <a16:creationId xmlns:a16="http://schemas.microsoft.com/office/drawing/2014/main" id="{CED427BF-570E-FAD0-A049-5FEC9C5EC0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300" y="609600"/>
            <a:ext cx="10960100" cy="56896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BAB5B72-4B2A-D476-5333-0D6D9ED6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of Completing Your Return </a:t>
            </a:r>
            <a:r>
              <a:rPr lang="en-US"/>
              <a:t>with Pencil and Paper?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8DF1B-8833-2332-50CD-C3FF7676B0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CE4A9-833B-AAB5-77D3-7342E5D78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15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17E57B-157B-C10E-69D1-2E750F38E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Deductions from </a:t>
            </a:r>
            <a:r>
              <a:rPr lang="en-US" sz="3200" b="1" dirty="0"/>
              <a:t>GI</a:t>
            </a:r>
            <a:r>
              <a:rPr lang="en-US" sz="3200" dirty="0"/>
              <a:t> to arrive at </a:t>
            </a:r>
            <a:r>
              <a:rPr lang="en-US" sz="3200" b="1" dirty="0"/>
              <a:t>AGI</a:t>
            </a:r>
            <a:r>
              <a:rPr lang="en-US" sz="3200" dirty="0"/>
              <a:t> are referred to as “</a:t>
            </a:r>
            <a:r>
              <a:rPr lang="en-US" sz="3200" b="1" dirty="0"/>
              <a:t>above the line</a:t>
            </a:r>
            <a:r>
              <a:rPr lang="en-US" sz="3200" dirty="0"/>
              <a:t>” deductions.</a:t>
            </a:r>
          </a:p>
          <a:p>
            <a:pPr lvl="1"/>
            <a:r>
              <a:rPr lang="en-US" sz="2800" dirty="0"/>
              <a:t>Examples: T/B deductions; losses from S/X of property; deductions attributable to rents &amp; royalties; IRA deduction; interest on student loans. §62(a).</a:t>
            </a:r>
          </a:p>
          <a:p>
            <a:pPr lvl="1"/>
            <a:r>
              <a:rPr lang="en-US" sz="2800" dirty="0"/>
              <a:t>Above the line deductions are generally </a:t>
            </a:r>
            <a:r>
              <a:rPr lang="en-US" sz="2800" b="1" dirty="0"/>
              <a:t>not</a:t>
            </a:r>
            <a:r>
              <a:rPr lang="en-US" sz="2800" dirty="0"/>
              <a:t> limited (more beneficial than itemized deductions)</a:t>
            </a:r>
          </a:p>
          <a:p>
            <a:pPr lvl="1"/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E5AFB2-BC75-45A0-5BA0-8E7C01A0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Gross Income to AGI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EFF2-DA33-4E09-BE35-38466D435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0D72C-07AA-ADC5-D558-CE2A3A09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5514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D35294-E70F-8BC5-2ADF-991ED08C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b="1" dirty="0"/>
              <a:t>AGI to Taxable Income (TI): To itemize or not to itemize</a:t>
            </a:r>
          </a:p>
          <a:p>
            <a:pPr lvl="1"/>
            <a:r>
              <a:rPr lang="en-US" sz="2800" b="1" dirty="0"/>
              <a:t>Non-itemizer</a:t>
            </a:r>
          </a:p>
          <a:p>
            <a:pPr lvl="2"/>
            <a:r>
              <a:rPr lang="en-US" sz="2800" dirty="0"/>
              <a:t>Standard deduction (16.1k S, 32.2k MFJ) + </a:t>
            </a:r>
            <a:r>
              <a:rPr lang="en-US" sz="2800" strike="sngStrike" dirty="0"/>
              <a:t>personal exemptions ($0 through 2025) </a:t>
            </a:r>
            <a:r>
              <a:rPr lang="en-US" sz="2800" dirty="0"/>
              <a:t> + senior deduction (6K/12K) + §199A deduction + lim. char. contribution. §63(b)(1).</a:t>
            </a:r>
          </a:p>
          <a:p>
            <a:pPr lvl="1"/>
            <a:r>
              <a:rPr lang="en-US" sz="2800" b="1" dirty="0"/>
              <a:t>Itemizer</a:t>
            </a:r>
          </a:p>
          <a:p>
            <a:pPr lvl="2"/>
            <a:r>
              <a:rPr lang="en-US" sz="2800" dirty="0"/>
              <a:t>Any other allowable deductions except above-the-line deductions and non-itemizer deductions. §63(d).</a:t>
            </a:r>
          </a:p>
          <a:p>
            <a:pPr lvl="3"/>
            <a:r>
              <a:rPr lang="en-US" sz="2600" dirty="0"/>
              <a:t>Examples: Home interest deduction, state and local tax deduction, charitable contributions. §67(b).</a:t>
            </a:r>
          </a:p>
          <a:p>
            <a:pPr lvl="2"/>
            <a:r>
              <a:rPr lang="en-US" sz="2800" strike="sngStrike" dirty="0"/>
              <a:t>Miscellaneous itemized deductions (MIDs), e.g., non-reimbursed employee business expenses, investment expenses, are suspended through 2025.  </a:t>
            </a:r>
          </a:p>
          <a:p>
            <a:pPr lvl="3"/>
            <a:r>
              <a:rPr lang="en-US" sz="2600" dirty="0"/>
              <a:t>Prior to TCJA, deductible only to extent of excess of 2% of AGI. §67(a) and (d).</a:t>
            </a:r>
          </a:p>
          <a:p>
            <a:r>
              <a:rPr lang="en-US" sz="3000" dirty="0"/>
              <a:t>Above-the-line deductions &gt; Itemized deductions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88364-7B28-AEBD-3445-C619E66B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A37F9-AA2A-8965-FE7D-B3ED3A56C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3A529-A20F-5667-7490-6616BA2A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F3DE1-F13E-51FE-9149-B827567C2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Zero Bracket Amount</a:t>
            </a:r>
            <a:r>
              <a:rPr lang="en-US" sz="2800" dirty="0"/>
              <a:t>: Standard deduction + Child Tax Credit + Earned Income Tax Credit + </a:t>
            </a:r>
            <a:r>
              <a:rPr lang="en-US" sz="2800"/>
              <a:t>Senior deduction</a:t>
            </a:r>
            <a:endParaRPr lang="en-US" sz="2800" dirty="0"/>
          </a:p>
          <a:p>
            <a:pPr lvl="1"/>
            <a:r>
              <a:rPr lang="en-US" sz="2400" dirty="0"/>
              <a:t>Standard deduction in 2026: 16.1k (Single); 33.2k (MFJ)</a:t>
            </a:r>
          </a:p>
          <a:p>
            <a:pPr lvl="1"/>
            <a:r>
              <a:rPr lang="en-US" sz="2400" dirty="0"/>
              <a:t>CTC: 2.2K/child under 17</a:t>
            </a:r>
          </a:p>
          <a:p>
            <a:pPr lvl="1"/>
            <a:r>
              <a:rPr lang="en-US" sz="2400" dirty="0"/>
              <a:t>EITC: 8.231k (max, 3 or more children)</a:t>
            </a:r>
          </a:p>
          <a:p>
            <a:pPr lvl="1"/>
            <a:r>
              <a:rPr lang="en-US" sz="2400" dirty="0"/>
              <a:t>Senior deduction: 6K (12K)</a:t>
            </a:r>
          </a:p>
          <a:p>
            <a:pPr lvl="1"/>
            <a:r>
              <a:rPr lang="en-US" sz="2400" strike="sngStrike" dirty="0"/>
              <a:t>Personal Exemption &amp; Dependent Deduction (suspended through 2025)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6B5C1-5B76-194A-CFD6-8E9716690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Bracket (Subsistence) Amount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94A2C-1B06-EEC6-513D-C622FBC9E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401F-530D-16C7-84A5-022896BF1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73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97973E-1FCA-FC9C-4977-ADF89CA00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Tables (2026)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B0FC-4840-4B40-7E28-A826AE307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E3642-7AE6-F889-B68A-43B94BB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7" name="Picture 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389A6409-47D4-8D4C-B529-3582FD8A5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399"/>
            <a:ext cx="11277600" cy="58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EB6EDC-BFCC-9A94-21C7-8E00CFFC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v. Effective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50BFC-31DD-E710-25E4-CBAE06E68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B8921-9C6F-CD2C-CC7B-985A647CC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1A8095D2-F68A-FE78-1DD5-035E3F1CE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1559382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009BE70-0AC9-A67E-C69C-5EEFCA97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Tax Calculation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F5E703E-6FCA-BA1F-DB61-69FD898AA60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dirty="0"/>
              <a:t>Tax Table (Single, 2026)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0101A3-04A9-8417-751E-A61939AC92C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080882"/>
          </a:xfrm>
        </p:spPr>
        <p:txBody>
          <a:bodyPr/>
          <a:lstStyle/>
          <a:p>
            <a:r>
              <a:rPr lang="en-US" sz="2800" dirty="0"/>
              <a:t>Mary is single and has taxable income of $100K</a:t>
            </a:r>
          </a:p>
          <a:p>
            <a:pPr lvl="1"/>
            <a:r>
              <a:rPr lang="en-US" sz="2400" dirty="0"/>
              <a:t>Her marginal tax rate is 22%</a:t>
            </a:r>
          </a:p>
          <a:p>
            <a:pPr lvl="1"/>
            <a:r>
              <a:rPr lang="en-US" sz="2400" dirty="0"/>
              <a:t>Her effective tax rate is:</a:t>
            </a:r>
          </a:p>
          <a:p>
            <a:pPr lvl="2"/>
            <a:r>
              <a:rPr lang="en-US" sz="2400" dirty="0"/>
              <a:t>1,240  [12,400 X 10%], </a:t>
            </a:r>
          </a:p>
          <a:p>
            <a:pPr marL="457200" lvl="2" indent="0">
              <a:buNone/>
            </a:pPr>
            <a:r>
              <a:rPr lang="en-US" sz="2400" i="1" dirty="0"/>
              <a:t>	plus</a:t>
            </a:r>
          </a:p>
          <a:p>
            <a:pPr lvl="2"/>
            <a:r>
              <a:rPr lang="en-US" sz="2400" dirty="0"/>
              <a:t>4,560  [12% X (50,400 -12,401)], 	</a:t>
            </a:r>
            <a:r>
              <a:rPr lang="en-US" sz="2400" i="1" dirty="0"/>
              <a:t>plus</a:t>
            </a:r>
          </a:p>
          <a:p>
            <a:pPr lvl="2"/>
            <a:r>
              <a:rPr lang="en-US" sz="2400" dirty="0"/>
              <a:t>10,912 [22% * (100,000 – 50,401)]</a:t>
            </a:r>
          </a:p>
          <a:p>
            <a:pPr lvl="2"/>
            <a:r>
              <a:rPr lang="en-US" sz="2400" dirty="0"/>
              <a:t>Total Tax: 16,712</a:t>
            </a:r>
          </a:p>
          <a:p>
            <a:pPr lvl="2"/>
            <a:r>
              <a:rPr lang="en-US" sz="2400" dirty="0"/>
              <a:t>ETR = 16,712 / 100,000 = 16.71%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pic>
        <p:nvPicPr>
          <p:cNvPr id="6" name="Content Placeholder 5" descr="A screenshot of a white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A7045D77-50CE-8673-EF06-E8587A39D614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6303434" y="1185394"/>
            <a:ext cx="5177366" cy="508088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6C16D-3600-FB61-1437-77F801C5244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D0ED4-D6E7-99FA-8CD7-312E3DAB6D8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EC7485-DCE0-D8B5-6B18-0D6FBEF75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</p:spTree>
    <p:extLst>
      <p:ext uri="{BB962C8B-B14F-4D97-AF65-F5344CB8AC3E}">
        <p14:creationId xmlns:p14="http://schemas.microsoft.com/office/powerpoint/2010/main" val="161585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DB87D-427D-88BD-8A49-B711D53FF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tax </a:t>
            </a:r>
            <a:r>
              <a:rPr lang="en-US" sz="2800" b="1" dirty="0"/>
              <a:t>credit</a:t>
            </a:r>
            <a:r>
              <a:rPr lang="en-US" sz="2800" dirty="0"/>
              <a:t> is a dollar-for-dollar reduction in tax liability.</a:t>
            </a:r>
          </a:p>
          <a:p>
            <a:endParaRPr lang="en-US" sz="2800" dirty="0"/>
          </a:p>
          <a:p>
            <a:pPr algn="l"/>
            <a:r>
              <a:rPr lang="en-US" sz="2800" dirty="0"/>
              <a:t>Each dollar of a </a:t>
            </a:r>
            <a:r>
              <a:rPr lang="en-US" sz="2800" b="1" dirty="0"/>
              <a:t>deduction</a:t>
            </a:r>
            <a:r>
              <a:rPr lang="en-US" sz="2800" dirty="0"/>
              <a:t> reduces tax liability by the taxpayer’s marginal tax rate.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Some possible credits:</a:t>
            </a:r>
          </a:p>
          <a:p>
            <a:pPr lvl="1"/>
            <a:r>
              <a:rPr lang="en-US" sz="2800" dirty="0"/>
              <a:t>Child Tax Credit: 2K/child. §63(b)</a:t>
            </a:r>
          </a:p>
          <a:p>
            <a:pPr lvl="1"/>
            <a:r>
              <a:rPr lang="en-US" sz="2800" dirty="0"/>
              <a:t>EITC: 8.046K (max, 3 or more children). §32(a)</a:t>
            </a:r>
          </a:p>
          <a:p>
            <a:pPr lvl="1"/>
            <a:r>
              <a:rPr lang="en-US" sz="2800" dirty="0"/>
              <a:t>Foreign Tax Credit. §27</a:t>
            </a:r>
          </a:p>
          <a:p>
            <a:pPr lvl="1"/>
            <a:r>
              <a:rPr lang="en-US" sz="2800" dirty="0"/>
              <a:t>Lifetime Learning Credit. §25A.</a:t>
            </a:r>
          </a:p>
          <a:p>
            <a:pPr lvl="1"/>
            <a:r>
              <a:rPr lang="en-US" sz="2800" dirty="0"/>
              <a:t>Credit for taxes withheld on wages.  §31(a)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73EB1-E92B-4C45-E798-D3EF5FD00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Credit vs. Tax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C3642-76D8-D60E-830C-943290EAB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6CEF1-F773-2E72-4963-6D558FACE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89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557A73-773D-B900-3AE0-622152332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Taxpayer pays the greater of regular tax liability or AMT</a:t>
            </a:r>
          </a:p>
          <a:p>
            <a:r>
              <a:rPr lang="en-US" sz="2800" dirty="0"/>
              <a:t>AMT rate is 28% vs. highest individual rate of 37%</a:t>
            </a:r>
          </a:p>
          <a:p>
            <a:r>
              <a:rPr lang="en-US" sz="2800" dirty="0"/>
              <a:t>AMT base is wider than regular tax base</a:t>
            </a:r>
          </a:p>
          <a:p>
            <a:pPr lvl="1"/>
            <a:r>
              <a:rPr lang="en-US" sz="2400" dirty="0"/>
              <a:t>Add back state and local taxes</a:t>
            </a:r>
          </a:p>
          <a:p>
            <a:pPr lvl="1"/>
            <a:r>
              <a:rPr lang="en-US" sz="2400" dirty="0"/>
              <a:t>Add back property taxes</a:t>
            </a:r>
          </a:p>
          <a:p>
            <a:pPr lvl="1"/>
            <a:r>
              <a:rPr lang="en-US" sz="2400" strike="sngStrike" dirty="0"/>
              <a:t>Add back personal exemptions and dependent deductions (suspended through 2025)</a:t>
            </a:r>
          </a:p>
          <a:p>
            <a:r>
              <a:rPr lang="en-US" sz="2800" dirty="0"/>
              <a:t>TCJA (2017) increased the AMT exemption amount, so it catches far fewer taxpayers than before the TCJA.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1BBEA-55C5-19BB-600B-52270334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Minimum Tax (AMT)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7460B-835E-20DC-C1B2-3F47F652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706DF-ABF7-B23E-F710-7254D130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84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485DE3-232A-26C2-4688-0C193D0B2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*Note: many details omitted</a:t>
            </a:r>
          </a:p>
          <a:p>
            <a:r>
              <a:rPr lang="en-US" sz="2800" dirty="0"/>
              <a:t>20% </a:t>
            </a:r>
            <a:r>
              <a:rPr lang="en-US" sz="2800" u="sng" dirty="0"/>
              <a:t>deduction</a:t>
            </a:r>
            <a:r>
              <a:rPr lang="en-US" sz="2800" dirty="0"/>
              <a:t> of a </a:t>
            </a:r>
            <a:r>
              <a:rPr lang="en-US" sz="2800" i="1" dirty="0"/>
              <a:t>non-corporate</a:t>
            </a:r>
            <a:r>
              <a:rPr lang="en-US" sz="2800" dirty="0"/>
              <a:t> taxpayer’s </a:t>
            </a:r>
            <a:r>
              <a:rPr lang="en-US" sz="2800" i="1" dirty="0"/>
              <a:t>Qualified Business Income Amount (QBIA)</a:t>
            </a:r>
          </a:p>
          <a:p>
            <a:r>
              <a:rPr lang="en-US" sz="2800" i="1" dirty="0"/>
              <a:t>QBI</a:t>
            </a:r>
            <a:r>
              <a:rPr lang="en-US" sz="2800" dirty="0"/>
              <a:t>: Roughly income from a </a:t>
            </a:r>
            <a:r>
              <a:rPr lang="en-US" sz="2800" i="1" dirty="0"/>
              <a:t>QT/B,</a:t>
            </a:r>
            <a:r>
              <a:rPr lang="en-US" sz="2800" dirty="0"/>
              <a:t> but excluding CGs, CLs, dividend income</a:t>
            </a:r>
          </a:p>
          <a:p>
            <a:r>
              <a:rPr lang="en-US" sz="2800" i="1" dirty="0"/>
              <a:t>QT/B: </a:t>
            </a:r>
            <a:r>
              <a:rPr lang="en-US" sz="2800" dirty="0"/>
              <a:t>Any business </a:t>
            </a:r>
            <a:r>
              <a:rPr lang="en-US" sz="2800" b="1" dirty="0"/>
              <a:t>except the T/B of being an employee, and</a:t>
            </a:r>
            <a:r>
              <a:rPr lang="en-US" sz="2800" dirty="0"/>
              <a:t>: health, </a:t>
            </a:r>
            <a:r>
              <a:rPr lang="en-US" sz="2800" b="1" dirty="0"/>
              <a:t>law</a:t>
            </a:r>
            <a:r>
              <a:rPr lang="en-US" sz="2800" dirty="0"/>
              <a:t>, accounting, actuarial science, performing arts, consulting, athletics, financial service, brokerage services, </a:t>
            </a:r>
            <a:r>
              <a:rPr lang="en-US" sz="2800" b="1" dirty="0"/>
              <a:t>or any T/b where the principal assets of the T/B is the reputation or skill of 1 or more of its employees</a:t>
            </a:r>
            <a:r>
              <a:rPr lang="en-US" sz="2800" dirty="0"/>
              <a:t>;</a:t>
            </a:r>
          </a:p>
          <a:p>
            <a:pPr lvl="1"/>
            <a:r>
              <a:rPr lang="en-US" sz="2800" dirty="0"/>
              <a:t>Exception for </a:t>
            </a:r>
            <a:r>
              <a:rPr lang="en-US" sz="2800" i="1" dirty="0"/>
              <a:t>specified service business</a:t>
            </a:r>
            <a:r>
              <a:rPr lang="en-US" sz="2800" dirty="0"/>
              <a:t>: If the taxpayer’s income is less than $201,775 ($403,500) (2026), a specified service, </a:t>
            </a:r>
            <a:r>
              <a:rPr lang="en-US" sz="2800" b="1" dirty="0"/>
              <a:t>e.g., law</a:t>
            </a:r>
            <a:r>
              <a:rPr lang="en-US" sz="2800" dirty="0"/>
              <a:t>, will be treated as a QT/B. §199A(d)(3)(A).  </a:t>
            </a:r>
          </a:p>
          <a:p>
            <a:pPr lvl="1"/>
            <a:r>
              <a:rPr lang="en-US" sz="2800" b="1" dirty="0"/>
              <a:t>Exception doesn’t apply to attorneys who are employees.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01A75F-3F27-9019-F037-60EA5CEE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§199A: New in the TCJA of 2017 and Unfortunately Expanded in OBBBA of 2025.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AEC1C-878F-DDDF-842C-D50BDAE0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BC7FD-E381-DF8D-FBB0-45EFD04D3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23555</TotalTime>
  <Words>2153</Words>
  <Application>Microsoft Macintosh PowerPoint</Application>
  <PresentationFormat>Widescreen</PresentationFormat>
  <Paragraphs>288</Paragraphs>
  <Slides>29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Microsoft Excel Worksheet</vt:lpstr>
      <vt:lpstr>Federal Income Taxation Essential Structure of the Income Tax Ch. 1</vt:lpstr>
      <vt:lpstr>Federal Income Taxation</vt:lpstr>
      <vt:lpstr>Tax Base and Tax Rates (Single, 2026)</vt:lpstr>
      <vt:lpstr>HS Definition of Income</vt:lpstr>
      <vt:lpstr>Core Structure of a Tax on Income</vt:lpstr>
      <vt:lpstr>Deviations from HS (Theory)</vt:lpstr>
      <vt:lpstr>Analysis of Wealth Reductions</vt:lpstr>
      <vt:lpstr>Role of Basis</vt:lpstr>
      <vt:lpstr>Realization</vt:lpstr>
      <vt:lpstr>Analysis of Wealth Reductions</vt:lpstr>
      <vt:lpstr>Analysis of Wealth Reductions</vt:lpstr>
      <vt:lpstr>Analysis of Wealth Reductions</vt:lpstr>
      <vt:lpstr>Character of Income</vt:lpstr>
      <vt:lpstr>Subsistence Consumption, Tax Rates, etc.</vt:lpstr>
      <vt:lpstr>Form 1040</vt:lpstr>
      <vt:lpstr>Form 1040:  From Gross Income (GI §61) to Adjusted Gross Income (AGI §63)</vt:lpstr>
      <vt:lpstr>AGI to Taxable Income, Tax, and Credits</vt:lpstr>
      <vt:lpstr>Payments, Refunds, and Amounts Owed</vt:lpstr>
      <vt:lpstr>Going from the Code to the 1040</vt:lpstr>
      <vt:lpstr>Thinking of Completing Your Return with Pencil and Paper?</vt:lpstr>
      <vt:lpstr>Gross Income to AGI</vt:lpstr>
      <vt:lpstr>AGI to Taxable Income</vt:lpstr>
      <vt:lpstr>Zero Bracket (Subsistence) Amount</vt:lpstr>
      <vt:lpstr>Taxable Tables (2026)</vt:lpstr>
      <vt:lpstr>Marginal v. Effective Tax Rates</vt:lpstr>
      <vt:lpstr>Marginal vs. Effective (Average) Tax Rates</vt:lpstr>
      <vt:lpstr>Tax Credit vs. Tax Deduction</vt:lpstr>
      <vt:lpstr>Alternative Minimum Tax (AMT)</vt:lpstr>
      <vt:lpstr>§199A: New in the TCJA of 2017 and Unfortunately Expanded in OBBBA of 2025.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Jeffrey M. Colon</cp:lastModifiedBy>
  <cp:revision>213</cp:revision>
  <cp:lastPrinted>2020-11-30T15:41:57Z</cp:lastPrinted>
  <dcterms:created xsi:type="dcterms:W3CDTF">2016-08-01T04:04:31Z</dcterms:created>
  <dcterms:modified xsi:type="dcterms:W3CDTF">2026-01-21T16:49:19Z</dcterms:modified>
  <cp:category/>
</cp:coreProperties>
</file>