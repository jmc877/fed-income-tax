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sldIdLst>
    <p:sldId id="295" r:id="rId2"/>
    <p:sldId id="256" r:id="rId3"/>
    <p:sldId id="302" r:id="rId4"/>
    <p:sldId id="301" r:id="rId5"/>
    <p:sldId id="303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7" r:id="rId18"/>
    <p:sldId id="316" r:id="rId19"/>
    <p:sldId id="320" r:id="rId20"/>
    <p:sldId id="322" r:id="rId21"/>
    <p:sldId id="321" r:id="rId22"/>
    <p:sldId id="319" r:id="rId23"/>
    <p:sldId id="318" r:id="rId24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5F3"/>
    <a:srgbClr val="FBF885"/>
    <a:srgbClr val="D9B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0BE54F-ECD6-6240-BD40-F239C8B8631F}" v="6" dt="2025-12-22T23:46:42.2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9"/>
    <p:restoredTop sz="96259"/>
  </p:normalViewPr>
  <p:slideViewPr>
    <p:cSldViewPr snapToGrid="0" snapToObjects="1">
      <p:cViewPr varScale="1">
        <p:scale>
          <a:sx n="119" d="100"/>
          <a:sy n="119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modSld modMainMaster">
      <pc:chgData name="Colon, Jeffrey M." userId="615143b1-cdee-493d-9a9d-1565ce8666d9" providerId="ADAL" clId="{DC1DB158-BAB1-5930-B714-AEF472873853}" dt="2025-12-22T23:46:42.230" v="75" actId="20577"/>
      <pc:docMkLst>
        <pc:docMk/>
      </pc:docMkLst>
      <pc:sldChg chg="modSp mod">
        <pc:chgData name="Colon, Jeffrey M." userId="615143b1-cdee-493d-9a9d-1565ce8666d9" providerId="ADAL" clId="{DC1DB158-BAB1-5930-B714-AEF472873853}" dt="2025-12-22T23:46:19.819" v="69" actId="20577"/>
        <pc:sldMkLst>
          <pc:docMk/>
          <pc:sldMk cId="3800955944" sldId="318"/>
        </pc:sldMkLst>
        <pc:spChg chg="mod">
          <ac:chgData name="Colon, Jeffrey M." userId="615143b1-cdee-493d-9a9d-1565ce8666d9" providerId="ADAL" clId="{DC1DB158-BAB1-5930-B714-AEF472873853}" dt="2025-12-22T23:46:19.819" v="69" actId="20577"/>
          <ac:spMkLst>
            <pc:docMk/>
            <pc:sldMk cId="3800955944" sldId="318"/>
            <ac:spMk id="3" creationId="{D101A75F-3F27-9019-F037-60EA5CEED982}"/>
          </ac:spMkLst>
        </pc:spChg>
      </pc:sldChg>
      <pc:sldChg chg="modSp">
        <pc:chgData name="Colon, Jeffrey M." userId="615143b1-cdee-493d-9a9d-1565ce8666d9" providerId="ADAL" clId="{DC1DB158-BAB1-5930-B714-AEF472873853}" dt="2025-12-22T23:46:42.230" v="75" actId="20577"/>
        <pc:sldMkLst>
          <pc:docMk/>
          <pc:sldMk cId="2965898804" sldId="321"/>
        </pc:sldMkLst>
        <pc:spChg chg="mod">
          <ac:chgData name="Colon, Jeffrey M." userId="615143b1-cdee-493d-9a9d-1565ce8666d9" providerId="ADAL" clId="{DC1DB158-BAB1-5930-B714-AEF472873853}" dt="2025-12-22T23:46:42.230" v="75" actId="20577"/>
          <ac:spMkLst>
            <pc:docMk/>
            <pc:sldMk cId="2965898804" sldId="321"/>
            <ac:spMk id="2" creationId="{97EDB87D-427D-88BD-8A49-B711D53FFB7B}"/>
          </ac:spMkLst>
        </pc:spChg>
      </pc:sldChg>
      <pc:sldMasterChg chg="modSp mod">
        <pc:chgData name="Colon, Jeffrey M." userId="615143b1-cdee-493d-9a9d-1565ce8666d9" providerId="ADAL" clId="{DC1DB158-BAB1-5930-B714-AEF472873853}" dt="2025-12-22T23:43:13.826" v="2" actId="20577"/>
        <pc:sldMasterMkLst>
          <pc:docMk/>
          <pc:sldMasterMk cId="371776349" sldId="2147483660"/>
        </pc:sldMasterMkLst>
        <pc:spChg chg="mod">
          <ac:chgData name="Colon, Jeffrey M." userId="615143b1-cdee-493d-9a9d-1565ce8666d9" providerId="ADAL" clId="{DC1DB158-BAB1-5930-B714-AEF472873853}" dt="2025-12-22T23:43:13.826" v="2" actId="20577"/>
          <ac:spMkLst>
            <pc:docMk/>
            <pc:sldMasterMk cId="371776349" sldId="2147483660"/>
            <ac:spMk id="9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83BC67FA-3E26-304D-BDBD-530C6272A0E0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2"/>
            <a:ext cx="5608320" cy="3636705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BF72E6F7-09F5-B04E-8141-9A414430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90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73258D-F88C-F440-AD20-53E2DCDDB8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2E6F7-09F5-B04E-8141-9A4144300CC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433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2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 smtClean="0"/>
            </a:lvl1pPr>
          </a:lstStyle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Structure of the Income Tax 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2278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1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baseline="0" dirty="0">
                <a:latin typeface="+mn-lt"/>
              </a:rPr>
              <a:t>FIT_StructureIncomeTax_2026S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6" r:id="rId56"/>
    <p:sldLayoutId id="2147483717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openclipart.org/detail/220844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Federal Income Taxation</a:t>
            </a:r>
            <a:br>
              <a:rPr lang="en-US" dirty="0"/>
            </a:br>
            <a:r>
              <a:rPr lang="en-US" i="1" dirty="0"/>
              <a:t>Essential Structure of the Income Tax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8533" y="5013325"/>
            <a:ext cx="6858000" cy="609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sz="2100" b="1" dirty="0"/>
              <a:t>Prof. Colon</a:t>
            </a:r>
          </a:p>
          <a:p>
            <a:r>
              <a:rPr lang="en-US" sz="2100" b="1" dirty="0"/>
              <a:t>Spring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80FCD-05A6-764D-BFDB-63AA23C9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AF7C4-7F9E-D84A-9606-10CB55E9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white and red pot with a red lid&#10;&#10;Description automatically generated">
            <a:extLst>
              <a:ext uri="{FF2B5EF4-FFF2-40B4-BE49-F238E27FC236}">
                <a16:creationId xmlns:a16="http://schemas.microsoft.com/office/drawing/2014/main" id="{E2E8E66D-8350-496E-AFBA-176CD4601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31862" y="1976972"/>
            <a:ext cx="2662238" cy="1998127"/>
          </a:xfr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Base and Tax Rates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D706CB-156B-8643-9A07-D8448DABBCBD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8630B-04C1-717A-661D-E50A5931E579}"/>
              </a:ext>
            </a:extLst>
          </p:cNvPr>
          <p:cNvSpPr txBox="1"/>
          <p:nvPr/>
        </p:nvSpPr>
        <p:spPr>
          <a:xfrm>
            <a:off x="4140200" y="2463800"/>
            <a:ext cx="4780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B26F4A-BED8-0295-C19C-0A32DCB4FBE5}"/>
              </a:ext>
            </a:extLst>
          </p:cNvPr>
          <p:cNvSpPr txBox="1"/>
          <p:nvPr/>
        </p:nvSpPr>
        <p:spPr>
          <a:xfrm>
            <a:off x="442758" y="3975099"/>
            <a:ext cx="370229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u="sng" dirty="0"/>
              <a:t>Tax 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Income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Consumption/Wages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Wealth</a:t>
            </a:r>
          </a:p>
        </p:txBody>
      </p:sp>
      <p:pic>
        <p:nvPicPr>
          <p:cNvPr id="11" name="Picture 10" descr="A screenshot of a white table with numbers and a few black text&#10;&#10;Description automatically generated">
            <a:extLst>
              <a:ext uri="{FF2B5EF4-FFF2-40B4-BE49-F238E27FC236}">
                <a16:creationId xmlns:a16="http://schemas.microsoft.com/office/drawing/2014/main" id="{8976EB98-94CB-34EE-97A7-9A27EFE3C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208" y="1346200"/>
            <a:ext cx="3556000" cy="416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795B00-711C-E441-11A5-2A227183394C}"/>
              </a:ext>
            </a:extLst>
          </p:cNvPr>
          <p:cNvSpPr txBox="1"/>
          <p:nvPr/>
        </p:nvSpPr>
        <p:spPr>
          <a:xfrm>
            <a:off x="8710437" y="2591314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C87323-361C-461C-008B-8550E975191B}"/>
              </a:ext>
            </a:extLst>
          </p:cNvPr>
          <p:cNvSpPr txBox="1"/>
          <p:nvPr/>
        </p:nvSpPr>
        <p:spPr>
          <a:xfrm>
            <a:off x="9490087" y="2692062"/>
            <a:ext cx="2360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$Tax Revenue$</a:t>
            </a:r>
          </a:p>
        </p:txBody>
      </p:sp>
    </p:spTree>
    <p:extLst>
      <p:ext uri="{BB962C8B-B14F-4D97-AF65-F5344CB8AC3E}">
        <p14:creationId xmlns:p14="http://schemas.microsoft.com/office/powerpoint/2010/main" val="23122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880BDC-C7C4-38EA-84C8-7EC4C241C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HS Definition of Income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F3D4D-5384-72D3-45BE-709C1E2B8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E851A-224E-C615-89F9-49AC75D79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FBEAE-4F72-AB2E-39DF-F22372213128}"/>
              </a:ext>
            </a:extLst>
          </p:cNvPr>
          <p:cNvSpPr txBox="1"/>
          <p:nvPr/>
        </p:nvSpPr>
        <p:spPr>
          <a:xfrm>
            <a:off x="2848306" y="927184"/>
            <a:ext cx="42046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HS Definition of </a:t>
            </a:r>
            <a:r>
              <a:rPr lang="en-US" sz="3200" b="1" i="1" u="sng" dirty="0"/>
              <a:t>Income</a:t>
            </a:r>
            <a:endParaRPr lang="en-US" sz="3200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DA6A61-CE97-E85D-E5A8-22D89B734D5F}"/>
              </a:ext>
            </a:extLst>
          </p:cNvPr>
          <p:cNvSpPr txBox="1"/>
          <p:nvPr/>
        </p:nvSpPr>
        <p:spPr>
          <a:xfrm>
            <a:off x="1410017" y="1727680"/>
            <a:ext cx="1037938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arenBoth"/>
            </a:pPr>
            <a:r>
              <a:rPr lang="en-US" sz="3200" dirty="0"/>
              <a:t>Market value of rights exercised in </a:t>
            </a:r>
            <a:r>
              <a:rPr lang="en-US" sz="3200" i="1" dirty="0"/>
              <a:t>consumption</a:t>
            </a:r>
            <a:r>
              <a:rPr lang="en-US" sz="3200" dirty="0"/>
              <a:t>, plus </a:t>
            </a:r>
          </a:p>
          <a:p>
            <a:r>
              <a:rPr lang="en-US" sz="3200" dirty="0"/>
              <a:t>(2) Change in value of property during period (e.g., annually).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3AD089-AA9B-B28D-AE08-DFE77881782F}"/>
              </a:ext>
            </a:extLst>
          </p:cNvPr>
          <p:cNvSpPr txBox="1"/>
          <p:nvPr/>
        </p:nvSpPr>
        <p:spPr>
          <a:xfrm>
            <a:off x="1143544" y="3586909"/>
            <a:ext cx="106461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Income = Wealth increases – Wealth decreases, but only if wealth reduction does </a:t>
            </a:r>
            <a:r>
              <a:rPr lang="en-US" sz="3200" b="1" i="1" dirty="0"/>
              <a:t>not</a:t>
            </a:r>
            <a:r>
              <a:rPr lang="en-US" sz="3200" dirty="0"/>
              <a:t> represent personal consumption </a:t>
            </a:r>
          </a:p>
        </p:txBody>
      </p:sp>
    </p:spTree>
    <p:extLst>
      <p:ext uri="{BB962C8B-B14F-4D97-AF65-F5344CB8AC3E}">
        <p14:creationId xmlns:p14="http://schemas.microsoft.com/office/powerpoint/2010/main" val="371355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8BB476-452E-9948-B7BD-31B104C0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Structure of a Tax on </a:t>
            </a:r>
            <a:r>
              <a:rPr lang="en-US" i="1" dirty="0"/>
              <a:t>Income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037E2-7E1C-2032-46CC-F9D839EFD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F7429-C773-11A9-8857-7701CC38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726026-6966-A26D-579D-31840F0D6E67}"/>
              </a:ext>
            </a:extLst>
          </p:cNvPr>
          <p:cNvSpPr txBox="1"/>
          <p:nvPr/>
        </p:nvSpPr>
        <p:spPr>
          <a:xfrm>
            <a:off x="2592719" y="1062450"/>
            <a:ext cx="59060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Core Structure of a Tax on </a:t>
            </a:r>
            <a:r>
              <a:rPr lang="en-US" sz="3200" b="1" i="1" u="sng" dirty="0"/>
              <a:t>Income</a:t>
            </a:r>
            <a:endParaRPr lang="en-US" sz="3200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B2002D-F835-CFE3-93F2-70654574641A}"/>
              </a:ext>
            </a:extLst>
          </p:cNvPr>
          <p:cNvSpPr txBox="1"/>
          <p:nvPr/>
        </p:nvSpPr>
        <p:spPr>
          <a:xfrm>
            <a:off x="1552192" y="2025043"/>
            <a:ext cx="90876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Gross</a:t>
            </a:r>
            <a:r>
              <a:rPr lang="en-US" sz="2400" dirty="0"/>
              <a:t> Income (inflows—wealth accessions, if not excluded) [§61] minus</a:t>
            </a:r>
          </a:p>
          <a:p>
            <a:r>
              <a:rPr lang="en-US" sz="2400" u="sng" dirty="0"/>
              <a:t>Allowable Deductions (certain outflows—wealth reductions) </a:t>
            </a:r>
            <a:r>
              <a:rPr lang="en-US" sz="2400" dirty="0"/>
              <a:t>[§161]</a:t>
            </a:r>
          </a:p>
          <a:p>
            <a:pPr algn="ctr"/>
            <a:r>
              <a:rPr lang="en-US" sz="2400" dirty="0"/>
              <a:t>Taxable Income (tax base) [§1]</a:t>
            </a:r>
          </a:p>
        </p:txBody>
      </p:sp>
    </p:spTree>
    <p:extLst>
      <p:ext uri="{BB962C8B-B14F-4D97-AF65-F5344CB8AC3E}">
        <p14:creationId xmlns:p14="http://schemas.microsoft.com/office/powerpoint/2010/main" val="268755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0C59A6D-4FF9-E7BB-8190-89C1FD11DF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804244"/>
              </p:ext>
            </p:extLst>
          </p:nvPr>
        </p:nvGraphicFramePr>
        <p:xfrm>
          <a:off x="457200" y="827314"/>
          <a:ext cx="11277600" cy="3624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15579026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17079217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03261426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95212796"/>
                    </a:ext>
                  </a:extLst>
                </a:gridCol>
              </a:tblGrid>
              <a:tr h="724989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Analysis of Wealth Reductions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8741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Personal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Business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Investment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400613"/>
                  </a:ext>
                </a:extLst>
              </a:tr>
              <a:tr h="724989">
                <a:tc row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Capital Expenditures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wealth reduction; mere change in form of wealth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657164"/>
                  </a:ext>
                </a:extLst>
              </a:tr>
              <a:tr h="7249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2253"/>
                  </a:ext>
                </a:extLst>
              </a:tr>
              <a:tr h="72498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29521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4A7757A-3B8F-6B3A-AE3A-5656142F8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Wealth Reductions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85464-BA3D-73BF-CFA1-097E9E2569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0EFDE-66BD-47EC-C321-9039AE9DF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73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148268-E9B6-8BC9-35F3-E16FF2991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800" b="1" dirty="0"/>
              <a:t>Two Precepts of a Tax on Income</a:t>
            </a:r>
          </a:p>
          <a:p>
            <a:pPr lvl="1" algn="l"/>
            <a:r>
              <a:rPr lang="en-US" sz="2400" dirty="0"/>
              <a:t>Same $ should not be taxed to the same taxpayer more than once; and</a:t>
            </a:r>
          </a:p>
          <a:p>
            <a:pPr lvl="1" algn="l"/>
            <a:r>
              <a:rPr lang="en-US" sz="2400" dirty="0"/>
              <a:t>Same $ should not provide a double tax benefit to the same taxpayer</a:t>
            </a:r>
          </a:p>
          <a:p>
            <a:pPr lvl="1" algn="l"/>
            <a:endParaRPr lang="en-US" sz="2400" dirty="0"/>
          </a:p>
          <a:p>
            <a:pPr algn="l"/>
            <a:r>
              <a:rPr lang="en-US" sz="2800" b="1" dirty="0"/>
              <a:t>Basis </a:t>
            </a:r>
          </a:p>
          <a:p>
            <a:pPr lvl="1" algn="l"/>
            <a:r>
              <a:rPr lang="en-US" sz="2400" dirty="0"/>
              <a:t>Record of previously taxed $</a:t>
            </a:r>
          </a:p>
          <a:p>
            <a:pPr lvl="1" algn="l"/>
            <a:r>
              <a:rPr lang="en-US" sz="2400" dirty="0"/>
              <a:t>$ that have not yet been deducted</a:t>
            </a:r>
          </a:p>
          <a:p>
            <a:pPr lvl="1" algn="l"/>
            <a:endParaRPr lang="en-US" sz="2400" dirty="0"/>
          </a:p>
          <a:p>
            <a:pPr algn="l"/>
            <a:r>
              <a:rPr lang="en-US" sz="2800" b="1" dirty="0"/>
              <a:t>Basis (</a:t>
            </a:r>
            <a:r>
              <a:rPr lang="en-US" sz="28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§1012)</a:t>
            </a:r>
            <a:endParaRPr lang="en-US" sz="2800" b="1" dirty="0"/>
          </a:p>
          <a:p>
            <a:pPr lvl="1" algn="l"/>
            <a:r>
              <a:rPr lang="en-US" sz="2400" dirty="0"/>
              <a:t>Created by nondeductible capital expenditures (most common), or</a:t>
            </a:r>
          </a:p>
          <a:p>
            <a:pPr lvl="1" algn="l"/>
            <a:r>
              <a:rPr lang="en-US" sz="2400" dirty="0"/>
              <a:t>Income inclusion</a:t>
            </a:r>
          </a:p>
          <a:p>
            <a:pPr lvl="1" algn="l"/>
            <a:endParaRPr lang="en-US" dirty="0"/>
          </a:p>
          <a:p>
            <a:pPr lvl="1" algn="l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405E59-6D24-4DE6-76A8-7E8C4B128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Basis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8A40C-64BF-8B45-1D39-B871A9568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6DCD9-997F-4B96-72BD-117306918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55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597CAF-DB3F-7C5F-62EE-CCC34A668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 HS, increases (decreases) in wealth, e.g., increases (decreases) in the value of an asset, would be taxable events.</a:t>
            </a:r>
          </a:p>
          <a:p>
            <a:endParaRPr lang="en-US" dirty="0"/>
          </a:p>
          <a:p>
            <a:r>
              <a:rPr lang="en-US" dirty="0"/>
              <a:t>Under our tax system, gains/losses are not </a:t>
            </a:r>
            <a:r>
              <a:rPr lang="en-US" i="1" dirty="0"/>
              <a:t>recognized</a:t>
            </a:r>
            <a:r>
              <a:rPr lang="en-US" dirty="0"/>
              <a:t> (enter into the tax base) generally until there is a </a:t>
            </a:r>
            <a:r>
              <a:rPr lang="en-US" i="1" dirty="0"/>
              <a:t>realization event </a:t>
            </a:r>
            <a:r>
              <a:rPr lang="en-US" dirty="0"/>
              <a:t>(sale or exchange).</a:t>
            </a:r>
          </a:p>
          <a:p>
            <a:pPr lvl="1"/>
            <a:r>
              <a:rPr lang="en-US" dirty="0"/>
              <a:t>Gain/Loss:  Amount realized minus adjusted basis (AR – AB).</a:t>
            </a:r>
            <a:r>
              <a:rPr lang="en-US" sz="2400" dirty="0"/>
              <a:t>  §1001(a)</a:t>
            </a:r>
          </a:p>
          <a:p>
            <a:pPr lvl="1"/>
            <a:r>
              <a:rPr lang="en-US" sz="2400" dirty="0"/>
              <a:t>AR: Cash or FMV of other property.  §1001(b)</a:t>
            </a:r>
          </a:p>
          <a:p>
            <a:pPr lvl="1"/>
            <a:r>
              <a:rPr lang="en-US" sz="2400" dirty="0"/>
              <a:t>AB: Cost basis with adjustments, e.g., depreciation. §1011(a)</a:t>
            </a:r>
          </a:p>
          <a:p>
            <a:pPr lvl="1"/>
            <a:r>
              <a:rPr lang="en-US" sz="2400" dirty="0"/>
              <a:t>Subtracting the AB ensures that the same dollars are not taxed more than once to the same taxpayer.</a:t>
            </a:r>
            <a:endParaRPr lang="en-US" dirty="0"/>
          </a:p>
          <a:p>
            <a:r>
              <a:rPr lang="en-US" dirty="0"/>
              <a:t>What is one justification for the realization requirement?  One critique?</a:t>
            </a:r>
          </a:p>
          <a:p>
            <a:endParaRPr lang="en-US" dirty="0"/>
          </a:p>
          <a:p>
            <a:r>
              <a:rPr lang="en-US" dirty="0"/>
              <a:t>If the property sold is a </a:t>
            </a:r>
            <a:r>
              <a:rPr lang="en-US" i="1" dirty="0"/>
              <a:t>capital asset</a:t>
            </a:r>
            <a:r>
              <a:rPr lang="en-US" dirty="0"/>
              <a:t>, any gains are potentially subject to a lower rate (0%, 15%, 20%) than wage income. </a:t>
            </a:r>
            <a:r>
              <a:rPr lang="en-US" sz="2400" dirty="0"/>
              <a:t>§1221 (def. of capital asset); §1(h) (</a:t>
            </a:r>
            <a:r>
              <a:rPr lang="en-US" dirty="0"/>
              <a:t>CG </a:t>
            </a:r>
            <a:r>
              <a:rPr lang="en-US" sz="2400" dirty="0"/>
              <a:t>rates).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B3A42A-3985-5D06-6DFC-7AABA43B4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Realization &amp; Character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B4EDD-2B05-F0DC-DAC2-8E745168E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8AC25-B73B-0DC8-CC0F-77D04932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37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9440-583E-4E86-8988-E7453991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8861D9B-228E-1A63-8C54-DD197121E6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8779159"/>
              </p:ext>
            </p:extLst>
          </p:nvPr>
        </p:nvGraphicFramePr>
        <p:xfrm>
          <a:off x="457200" y="827314"/>
          <a:ext cx="11332464" cy="4110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116">
                  <a:extLst>
                    <a:ext uri="{9D8B030D-6E8A-4147-A177-3AD203B41FA5}">
                      <a16:colId xmlns:a16="http://schemas.microsoft.com/office/drawing/2014/main" val="155790263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3170792172"/>
                    </a:ext>
                  </a:extLst>
                </a:gridCol>
                <a:gridCol w="2672225">
                  <a:extLst>
                    <a:ext uri="{9D8B030D-6E8A-4147-A177-3AD203B41FA5}">
                      <a16:colId xmlns:a16="http://schemas.microsoft.com/office/drawing/2014/main" val="1032614266"/>
                    </a:ext>
                  </a:extLst>
                </a:gridCol>
                <a:gridCol w="160891">
                  <a:extLst>
                    <a:ext uri="{9D8B030D-6E8A-4147-A177-3AD203B41FA5}">
                      <a16:colId xmlns:a16="http://schemas.microsoft.com/office/drawing/2014/main" val="2972393445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2495212796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Analysis of Wealth Reductions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8741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Personal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Business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Investment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400613"/>
                  </a:ext>
                </a:extLst>
              </a:tr>
              <a:tr h="544286">
                <a:tc row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Capital Expenditures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wealth reduction; mere change in form of wealth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657164"/>
                  </a:ext>
                </a:extLst>
              </a:tr>
              <a:tr h="6204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2253"/>
                  </a:ext>
                </a:extLst>
              </a:tr>
              <a:tr h="51162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295213"/>
                  </a:ext>
                </a:extLst>
              </a:tr>
              <a:tr h="555171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Expenses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Outlays that reduce wealth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516420"/>
                  </a:ext>
                </a:extLst>
              </a:tr>
              <a:tr h="724989"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[§262]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[§162(a)]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[§212(1) and (2)]*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[§212(1) and (2)]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95815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4D7668E-FE85-4943-C6EF-F41ADAA6F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Wealth Reductions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3622A-98E0-1AE5-291E-CAF150739F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70CC6-934C-DF25-8352-D81DE4B5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969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76BF7-90EB-EC0B-73B5-C67BE0663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7B6FAE6-AE3F-EDDA-BA7E-1EFD874039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197284"/>
              </p:ext>
            </p:extLst>
          </p:nvPr>
        </p:nvGraphicFramePr>
        <p:xfrm>
          <a:off x="457200" y="827314"/>
          <a:ext cx="11332464" cy="4835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116">
                  <a:extLst>
                    <a:ext uri="{9D8B030D-6E8A-4147-A177-3AD203B41FA5}">
                      <a16:colId xmlns:a16="http://schemas.microsoft.com/office/drawing/2014/main" val="155790263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3170792172"/>
                    </a:ext>
                  </a:extLst>
                </a:gridCol>
                <a:gridCol w="2672225">
                  <a:extLst>
                    <a:ext uri="{9D8B030D-6E8A-4147-A177-3AD203B41FA5}">
                      <a16:colId xmlns:a16="http://schemas.microsoft.com/office/drawing/2014/main" val="1032614266"/>
                    </a:ext>
                  </a:extLst>
                </a:gridCol>
                <a:gridCol w="160891">
                  <a:extLst>
                    <a:ext uri="{9D8B030D-6E8A-4147-A177-3AD203B41FA5}">
                      <a16:colId xmlns:a16="http://schemas.microsoft.com/office/drawing/2014/main" val="2972393445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2495212796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Analysis of Wealth Reductions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8741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Personal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Business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Investment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400613"/>
                  </a:ext>
                </a:extLst>
              </a:tr>
              <a:tr h="544286">
                <a:tc row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Capital Expenditures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wealth reduction; mere change in form of wealth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657164"/>
                  </a:ext>
                </a:extLst>
              </a:tr>
              <a:tr h="6204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2253"/>
                  </a:ext>
                </a:extLst>
              </a:tr>
              <a:tr h="51162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295213"/>
                  </a:ext>
                </a:extLst>
              </a:tr>
              <a:tr h="555171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Expenses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Outlays that reduce wealth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516420"/>
                  </a:ext>
                </a:extLst>
              </a:tr>
              <a:tr h="724989"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[§262]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[§162(a)]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[§212(1) and (2)]*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[§212(1) and (2)]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958153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Losses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[§165(c)(3)]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[§165(c)(1)]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[§165(c)(2)]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629674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8E2E5F0-C460-2292-ED7A-320EFB95A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Wealth Reductions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CBA14-DA59-703E-ED65-CD0F09B66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605EB-F721-E4DC-8E1E-D60FF17A7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197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2FFE4-AD03-95B0-84A7-76D41B806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27EC45A-F303-EE8C-3311-5D377DF835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923293"/>
              </p:ext>
            </p:extLst>
          </p:nvPr>
        </p:nvGraphicFramePr>
        <p:xfrm>
          <a:off x="457200" y="684997"/>
          <a:ext cx="11332464" cy="5508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116">
                  <a:extLst>
                    <a:ext uri="{9D8B030D-6E8A-4147-A177-3AD203B41FA5}">
                      <a16:colId xmlns:a16="http://schemas.microsoft.com/office/drawing/2014/main" val="155790263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3170792172"/>
                    </a:ext>
                  </a:extLst>
                </a:gridCol>
                <a:gridCol w="2672225">
                  <a:extLst>
                    <a:ext uri="{9D8B030D-6E8A-4147-A177-3AD203B41FA5}">
                      <a16:colId xmlns:a16="http://schemas.microsoft.com/office/drawing/2014/main" val="1032614266"/>
                    </a:ext>
                  </a:extLst>
                </a:gridCol>
                <a:gridCol w="160891">
                  <a:extLst>
                    <a:ext uri="{9D8B030D-6E8A-4147-A177-3AD203B41FA5}">
                      <a16:colId xmlns:a16="http://schemas.microsoft.com/office/drawing/2014/main" val="2972393445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2495212796"/>
                    </a:ext>
                  </a:extLst>
                </a:gridCol>
              </a:tblGrid>
              <a:tr h="57152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Analysis of Wealth Reductions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8741"/>
                  </a:ext>
                </a:extLst>
              </a:tr>
              <a:tr h="571521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Personal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Business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Investment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400613"/>
                  </a:ext>
                </a:extLst>
              </a:tr>
              <a:tr h="539171">
                <a:tc row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Capital Expenditures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wealth reduction; mere change in form of wealth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657164"/>
                  </a:ext>
                </a:extLst>
              </a:tr>
              <a:tr h="614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2253"/>
                  </a:ext>
                </a:extLst>
              </a:tr>
              <a:tr h="50682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295213"/>
                  </a:ext>
                </a:extLst>
              </a:tr>
              <a:tr h="549954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Expenses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Outlays that reduce wealth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516420"/>
                  </a:ext>
                </a:extLst>
              </a:tr>
              <a:tr h="718176"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[§262]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[§162(a)]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[§212(1) and (2)]*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[§212(1) and (2)]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958153"/>
                  </a:ext>
                </a:extLst>
              </a:tr>
              <a:tr h="71817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Losses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[§165(c)(3)]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[§165(c)(1)]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[§165(c)(2)]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629674"/>
                  </a:ext>
                </a:extLst>
              </a:tr>
              <a:tr h="71817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Depreciation</a:t>
                      </a:r>
                    </a:p>
                  </a:txBody>
                  <a:tcPr anchor="ctr">
                    <a:solidFill>
                      <a:srgbClr val="00F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 anchor="ctr"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[§167(a)] if wasting asset</a:t>
                      </a:r>
                    </a:p>
                  </a:txBody>
                  <a:tcPr anchor="ctr">
                    <a:solidFill>
                      <a:schemeClr val="bg2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[§167(a)] if wasting asset</a:t>
                      </a:r>
                    </a:p>
                  </a:txBody>
                  <a:tcPr anchor="ctr">
                    <a:solidFill>
                      <a:schemeClr val="bg2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30894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E8AF0F7-1E01-C37E-C301-5A51960B3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Wealth Reductions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A02D3-E4A8-DF12-44A8-81B97E5388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C85D7-CBD0-4071-1C63-9A9276897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945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A41031-2326-2FB2-EF7F-D9EF6337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Subsistence Consumption, Tax Rates,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D551E-1050-0CA2-64D1-66B614A39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474F2-A04C-F6F8-A8CC-F086C20F4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3B55C39-922E-0657-FA4C-38257E127818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522142"/>
              </p:ext>
            </p:extLst>
          </p:nvPr>
        </p:nvGraphicFramePr>
        <p:xfrm>
          <a:off x="1968649" y="546567"/>
          <a:ext cx="7853082" cy="5584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855200" imgH="6959600" progId="Excel.Sheet.12">
                  <p:embed/>
                </p:oleObj>
              </mc:Choice>
              <mc:Fallback>
                <p:oleObj name="Worksheet" r:id="rId2" imgW="9855200" imgH="6959600" progId="Excel.Sheet.12">
                  <p:embed/>
                  <p:pic>
                    <p:nvPicPr>
                      <p:cNvPr id="6" name="Content Placeholder 5">
                        <a:extLst>
                          <a:ext uri="{FF2B5EF4-FFF2-40B4-BE49-F238E27FC236}">
                            <a16:creationId xmlns:a16="http://schemas.microsoft.com/office/drawing/2014/main" id="{03B55C39-922E-0657-FA4C-38257E1278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68649" y="546567"/>
                        <a:ext cx="7853082" cy="55842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713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close-up of a tax form&#10;&#10;Description automatically generated">
            <a:extLst>
              <a:ext uri="{FF2B5EF4-FFF2-40B4-BE49-F238E27FC236}">
                <a16:creationId xmlns:a16="http://schemas.microsoft.com/office/drawing/2014/main" id="{DA512688-C549-F84F-ECB8-75CBFF6F4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8572" y="533400"/>
            <a:ext cx="10440365" cy="581183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EA062C4-474A-8C5A-8E6E-CAE2EDC96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1040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A76FF-D25B-511D-D197-274298ABD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45EC0-F106-2F32-184F-71D450A32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103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close-up of a form&#10;&#10;Description automatically generated">
            <a:extLst>
              <a:ext uri="{FF2B5EF4-FFF2-40B4-BE49-F238E27FC236}">
                <a16:creationId xmlns:a16="http://schemas.microsoft.com/office/drawing/2014/main" id="{048F96B3-40E5-94FA-62A4-6751AF74E1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880" y="589280"/>
            <a:ext cx="10850880" cy="566927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65DE76C-C23F-A6E3-5478-0B41828F9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1040:  From Gross Income (GI) to Adjusted Gross Income (AGI) to Taxable Income (TI)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EA7D6-89EF-2D09-82E2-35C747605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EE196-239D-B0EC-731C-F1A79475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B64FBD-2BB2-D62F-5627-037F5092E270}"/>
              </a:ext>
            </a:extLst>
          </p:cNvPr>
          <p:cNvCxnSpPr>
            <a:cxnSpLocks/>
          </p:cNvCxnSpPr>
          <p:nvPr/>
        </p:nvCxnSpPr>
        <p:spPr>
          <a:xfrm flipH="1">
            <a:off x="6987654" y="4517409"/>
            <a:ext cx="2292824" cy="72333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2D35C5-9893-A92B-69FB-059A8AB8FE63}"/>
              </a:ext>
            </a:extLst>
          </p:cNvPr>
          <p:cNvCxnSpPr>
            <a:cxnSpLocks/>
          </p:cNvCxnSpPr>
          <p:nvPr/>
        </p:nvCxnSpPr>
        <p:spPr>
          <a:xfrm flipH="1">
            <a:off x="8134066" y="5387984"/>
            <a:ext cx="2292824" cy="72333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248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B6C3A750-D232-1A6F-7DD3-B4699E00F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064" y="1058332"/>
            <a:ext cx="11110976" cy="427566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00A0CDF-20DD-5C3B-1FDD-ABBB48E19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and Credits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7E7DE-703F-E93F-1DEA-27E9EE6824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D18A3-4504-512E-BEFA-8CF6366B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064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close-up of a form&#10;&#10;Description automatically generated">
            <a:extLst>
              <a:ext uri="{FF2B5EF4-FFF2-40B4-BE49-F238E27FC236}">
                <a16:creationId xmlns:a16="http://schemas.microsoft.com/office/drawing/2014/main" id="{FF636DB6-4785-822E-1D07-F46169CBE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400" y="812800"/>
            <a:ext cx="11129264" cy="514773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6730352-7748-7511-70EC-B75A31DDE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Payments, Refunds, and Amounts Owed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0CCB5-D216-281E-2B9B-C257824D6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D45A-8965-8618-4FDE-DE7DD7990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557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17E57B-157B-C10E-69D1-2E750F38E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Deductions from </a:t>
            </a:r>
            <a:r>
              <a:rPr lang="en-US" sz="3200" b="1" dirty="0"/>
              <a:t>GI</a:t>
            </a:r>
            <a:r>
              <a:rPr lang="en-US" sz="3200" dirty="0"/>
              <a:t> to arrive at </a:t>
            </a:r>
            <a:r>
              <a:rPr lang="en-US" sz="3200" b="1" dirty="0"/>
              <a:t>AGI</a:t>
            </a:r>
            <a:r>
              <a:rPr lang="en-US" sz="3200" dirty="0"/>
              <a:t> are referred to as “</a:t>
            </a:r>
            <a:r>
              <a:rPr lang="en-US" sz="3200" b="1" dirty="0"/>
              <a:t>above the line</a:t>
            </a:r>
            <a:r>
              <a:rPr lang="en-US" sz="3200" dirty="0"/>
              <a:t>” deductions.</a:t>
            </a:r>
          </a:p>
          <a:p>
            <a:pPr lvl="1"/>
            <a:r>
              <a:rPr lang="en-US" sz="2800" dirty="0"/>
              <a:t>Examples: T/B deductions; losses from S/X of property; deductions attributable to rents &amp; royalties; IRA deduction; interest on student loans. §62(a).</a:t>
            </a:r>
          </a:p>
          <a:p>
            <a:pPr lvl="1"/>
            <a:r>
              <a:rPr lang="en-US" sz="2800" dirty="0"/>
              <a:t>Above the line deductions are generally </a:t>
            </a:r>
            <a:r>
              <a:rPr lang="en-US" sz="2800" b="1" dirty="0"/>
              <a:t>not</a:t>
            </a:r>
            <a:r>
              <a:rPr lang="en-US" sz="2800" dirty="0"/>
              <a:t> limited (more beneficial than itemized deductions)</a:t>
            </a:r>
          </a:p>
          <a:p>
            <a:pPr lvl="1"/>
            <a:endParaRPr lang="en-US" sz="2400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E5AFB2-BC75-45A0-5BA0-8E7C01A05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Gross Income to AGI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3EFF2-DA33-4E09-BE35-38466D4351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0D72C-07AA-ADC5-D558-CE2A3A095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85514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D35294-E70F-8BC5-2ADF-991ED08C4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b="1" dirty="0"/>
              <a:t>AGI to Taxable Income (TI): To itemize or not to itemize</a:t>
            </a:r>
          </a:p>
          <a:p>
            <a:pPr lvl="1"/>
            <a:r>
              <a:rPr lang="en-US" sz="2800" b="1" dirty="0"/>
              <a:t>Non-itemizer</a:t>
            </a:r>
          </a:p>
          <a:p>
            <a:pPr lvl="2"/>
            <a:r>
              <a:rPr lang="en-US" sz="2800"/>
              <a:t>Standard deduction (15K S, 30K MFJ) </a:t>
            </a:r>
            <a:r>
              <a:rPr lang="en-US" sz="2800" dirty="0"/>
              <a:t>+ personal exemptions ($0 through 2025) + § 199A deduction. §63(b).</a:t>
            </a:r>
          </a:p>
          <a:p>
            <a:pPr lvl="1"/>
            <a:r>
              <a:rPr lang="en-US" sz="2800" b="1" dirty="0"/>
              <a:t>Itemizer</a:t>
            </a:r>
          </a:p>
          <a:p>
            <a:pPr lvl="2"/>
            <a:r>
              <a:rPr lang="en-US" sz="2800" dirty="0"/>
              <a:t>Any other allowable deductions except above-the-line deductions and non-itemizer deductions. §63(d).</a:t>
            </a:r>
          </a:p>
          <a:p>
            <a:pPr lvl="3"/>
            <a:r>
              <a:rPr lang="en-US" sz="2600" dirty="0"/>
              <a:t>Examples: Home interest deduction, state and local tax deduction, charitable contributions. §67(b).</a:t>
            </a:r>
          </a:p>
          <a:p>
            <a:pPr lvl="2"/>
            <a:r>
              <a:rPr lang="en-US" sz="2800" dirty="0"/>
              <a:t>Miscellaneous itemized deductions (MIDs), e.g., non-reimbursed employee business expenses, investment expenses, are suspended through 2025.  </a:t>
            </a:r>
          </a:p>
          <a:p>
            <a:pPr lvl="3"/>
            <a:r>
              <a:rPr lang="en-US" sz="2600" dirty="0"/>
              <a:t>Prior to TCJA, deductible only to extent of excess of 2% of AGI. §67(a) and (d).</a:t>
            </a:r>
          </a:p>
          <a:p>
            <a:r>
              <a:rPr lang="en-US" sz="3000" dirty="0"/>
              <a:t>Above-the-line deductions &gt; Itemized deductions &gt; MIDs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288364-7B28-AEBD-3445-C619E66BD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 to Taxable Income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A37F9-AA2A-8965-FE7D-B3ED3A56CD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3A529-A20F-5667-7490-6616BA2A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24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EF3DE1-F13E-51FE-9149-B827567C2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Zero Bracket Amount</a:t>
            </a:r>
            <a:r>
              <a:rPr lang="en-US" sz="2800" dirty="0"/>
              <a:t>: Standard deduction + Child Tax Credit + Earned Income Tax Credit</a:t>
            </a:r>
          </a:p>
          <a:p>
            <a:pPr lvl="1"/>
            <a:r>
              <a:rPr lang="en-US" sz="2400" dirty="0"/>
              <a:t>Standard deduction in 2025: 15K (Single); 30K (MFJ)</a:t>
            </a:r>
          </a:p>
          <a:p>
            <a:pPr lvl="1"/>
            <a:r>
              <a:rPr lang="en-US" sz="2400" dirty="0"/>
              <a:t>CTC: 2K/child</a:t>
            </a:r>
          </a:p>
          <a:p>
            <a:pPr lvl="1"/>
            <a:r>
              <a:rPr lang="en-US" sz="2400" dirty="0"/>
              <a:t>EITC: 8.046K (max, 3 or more children)</a:t>
            </a:r>
          </a:p>
          <a:p>
            <a:pPr lvl="1"/>
            <a:r>
              <a:rPr lang="en-US" sz="2400" dirty="0"/>
              <a:t>Personal Exemption &amp; Dependent Deduction (suspended through 2025)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66B5C1-5B76-194A-CFD6-8E9716690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Bracket (Subsistence) Amount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94A2C-1B06-EEC6-513D-C622FBC9E4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5401F-530D-16C7-84A5-022896BF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7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table with numbers and a few black text&#10;&#10;Description automatically generated">
            <a:extLst>
              <a:ext uri="{FF2B5EF4-FFF2-40B4-BE49-F238E27FC236}">
                <a16:creationId xmlns:a16="http://schemas.microsoft.com/office/drawing/2014/main" id="{7BE0CDC9-D92C-8742-42A0-42E35E78A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064" y="706582"/>
            <a:ext cx="11277600" cy="54864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C97973E-1FCA-FC9C-4977-ADF89CA0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Taxable Tables (2025)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4B0FC-4840-4B40-7E28-A826AE307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E3642-7AE6-F889-B68A-43B94BB4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70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09BE70-0AC9-A67E-C69C-5EEFCA979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 Calculation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F5E703E-6FCA-BA1F-DB61-69FD898AA60F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US" dirty="0"/>
              <a:t>Tax Table (Single, 2025)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80101A3-04A9-8417-751E-A61939AC92C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5080882"/>
          </a:xfrm>
        </p:spPr>
        <p:txBody>
          <a:bodyPr/>
          <a:lstStyle/>
          <a:p>
            <a:r>
              <a:rPr lang="en-US" sz="2800" dirty="0"/>
              <a:t>Mary is single and has taxable income of $100K</a:t>
            </a:r>
          </a:p>
          <a:p>
            <a:pPr lvl="1"/>
            <a:r>
              <a:rPr lang="en-US" sz="2400" dirty="0"/>
              <a:t>Her marginal tax rate is 22%</a:t>
            </a:r>
          </a:p>
          <a:p>
            <a:pPr lvl="1"/>
            <a:r>
              <a:rPr lang="en-US" sz="2400" dirty="0"/>
              <a:t>Her effective tax rate is:</a:t>
            </a:r>
          </a:p>
          <a:p>
            <a:pPr lvl="2"/>
            <a:r>
              <a:rPr lang="en-US" sz="2400" dirty="0"/>
              <a:t>1,1192.50  [11,925 X 10%], </a:t>
            </a:r>
            <a:r>
              <a:rPr lang="en-US" sz="2400" i="1" dirty="0"/>
              <a:t>plus</a:t>
            </a:r>
          </a:p>
          <a:p>
            <a:pPr lvl="2"/>
            <a:r>
              <a:rPr lang="en-US" sz="2400" dirty="0"/>
              <a:t>4,386  [12% X (48,475 -11,925)], </a:t>
            </a:r>
            <a:r>
              <a:rPr lang="en-US" sz="2400" i="1" dirty="0"/>
              <a:t>plus</a:t>
            </a:r>
          </a:p>
          <a:p>
            <a:pPr lvl="2"/>
            <a:r>
              <a:rPr lang="en-US" sz="2400" dirty="0"/>
              <a:t>11,335.50 [22% * (100,000 – 48,475)]</a:t>
            </a:r>
          </a:p>
          <a:p>
            <a:pPr lvl="2"/>
            <a:r>
              <a:rPr lang="en-US" sz="2400" dirty="0"/>
              <a:t>Total Tax: 16,914</a:t>
            </a:r>
          </a:p>
          <a:p>
            <a:pPr lvl="2"/>
            <a:r>
              <a:rPr lang="en-US" sz="2400" dirty="0"/>
              <a:t>ETR = 16.914 / 100,000 = 16.91%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B8B2752-02AF-610D-FA12-FB065F92D166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6C16D-3600-FB61-1437-77F801C5244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D0ED4-D6E7-99FA-8CD7-312E3DAB6D8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EC7485-DCE0-D8B5-6B18-0D6FBEF75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vs. Effective (Average) Tax Rates</a:t>
            </a:r>
          </a:p>
        </p:txBody>
      </p:sp>
      <p:pic>
        <p:nvPicPr>
          <p:cNvPr id="9" name="Picture 8" descr="A table with text and numbers&#10;&#10;Description automatically generated">
            <a:extLst>
              <a:ext uri="{FF2B5EF4-FFF2-40B4-BE49-F238E27FC236}">
                <a16:creationId xmlns:a16="http://schemas.microsoft.com/office/drawing/2014/main" id="{E4CA80C7-D50C-3F86-2B73-1CBDC9B02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273" y="1218573"/>
            <a:ext cx="5306844" cy="490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5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EDB87D-427D-88BD-8A49-B711D53FF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tax </a:t>
            </a:r>
            <a:r>
              <a:rPr lang="en-US" sz="2800" b="1" dirty="0"/>
              <a:t>credit</a:t>
            </a:r>
            <a:r>
              <a:rPr lang="en-US" sz="2800" dirty="0"/>
              <a:t> is a dollar-for-dollar reduction in tax liability.</a:t>
            </a:r>
          </a:p>
          <a:p>
            <a:endParaRPr lang="en-US" sz="2800" dirty="0"/>
          </a:p>
          <a:p>
            <a:pPr algn="l"/>
            <a:r>
              <a:rPr lang="en-US" sz="2800" dirty="0"/>
              <a:t>Each dollar of a </a:t>
            </a:r>
            <a:r>
              <a:rPr lang="en-US" sz="2800" b="1" dirty="0"/>
              <a:t>deduction</a:t>
            </a:r>
            <a:r>
              <a:rPr lang="en-US" sz="2800" dirty="0"/>
              <a:t> reduces tax liability by the taxpayer’s marginal </a:t>
            </a:r>
            <a:r>
              <a:rPr lang="en-US" sz="2800"/>
              <a:t>tax rate (MTR). 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Some possible credits:</a:t>
            </a:r>
          </a:p>
          <a:p>
            <a:pPr lvl="1"/>
            <a:r>
              <a:rPr lang="en-US" sz="2800" dirty="0"/>
              <a:t>Child Tax Credit: 2K/child. §63(b)</a:t>
            </a:r>
          </a:p>
          <a:p>
            <a:pPr lvl="1"/>
            <a:r>
              <a:rPr lang="en-US" sz="2800" dirty="0"/>
              <a:t>EITC: 8.046K (max, 3 or more children). §32(a)</a:t>
            </a:r>
          </a:p>
          <a:p>
            <a:pPr lvl="1"/>
            <a:r>
              <a:rPr lang="en-US" sz="2800" dirty="0"/>
              <a:t>Foreign Tax Credit. §27</a:t>
            </a:r>
          </a:p>
          <a:p>
            <a:pPr lvl="1"/>
            <a:r>
              <a:rPr lang="en-US" sz="2800" dirty="0"/>
              <a:t>Lifetime Learning Credit. §25A.</a:t>
            </a:r>
          </a:p>
          <a:p>
            <a:pPr lvl="1"/>
            <a:r>
              <a:rPr lang="en-US" sz="2800" dirty="0"/>
              <a:t>Credit for taxes withheld on wages.  §31(a)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B73EB1-E92B-4C45-E798-D3EF5FD00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Credit vs. Tax Deduction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C3642-76D8-D60E-830C-943290EAB6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6CEF1-F773-2E72-4963-6D558FACE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89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557A73-773D-B900-3AE0-622152332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Taxpayer pays the greater of regular tax liability or AMT</a:t>
            </a:r>
          </a:p>
          <a:p>
            <a:r>
              <a:rPr lang="en-US" sz="2800" dirty="0"/>
              <a:t>AMT rate is 28% vs. highest individual rate of 37%</a:t>
            </a:r>
          </a:p>
          <a:p>
            <a:r>
              <a:rPr lang="en-US" sz="2800" dirty="0"/>
              <a:t>AMT base is wider than regular tax base</a:t>
            </a:r>
          </a:p>
          <a:p>
            <a:pPr lvl="1"/>
            <a:r>
              <a:rPr lang="en-US" sz="2400" dirty="0"/>
              <a:t>Add back state and local taxes</a:t>
            </a:r>
          </a:p>
          <a:p>
            <a:pPr lvl="1"/>
            <a:r>
              <a:rPr lang="en-US" sz="2400" dirty="0"/>
              <a:t>Add back property taxes</a:t>
            </a:r>
          </a:p>
          <a:p>
            <a:pPr lvl="1"/>
            <a:r>
              <a:rPr lang="en-US" sz="2400" dirty="0"/>
              <a:t>Add back personal exemptions and dependent deductions (suspended through 2025)</a:t>
            </a:r>
          </a:p>
          <a:p>
            <a:r>
              <a:rPr lang="en-US" sz="2800" dirty="0"/>
              <a:t>TCJA increased the AMT exemption amount, so it catches fewer taxpayers.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71BBEA-55C5-19BB-600B-52270334B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Minimum Tax (AMT)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7460B-835E-20DC-C1B2-3F47F6521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706DF-ABF7-B23E-F710-7254D130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38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485DE3-232A-26C2-4688-0C193D0B2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*Note: many details omitted</a:t>
            </a:r>
          </a:p>
          <a:p>
            <a:r>
              <a:rPr lang="en-US" sz="2800" dirty="0"/>
              <a:t>20% </a:t>
            </a:r>
            <a:r>
              <a:rPr lang="en-US" sz="2800" u="sng" dirty="0"/>
              <a:t>deduction</a:t>
            </a:r>
            <a:r>
              <a:rPr lang="en-US" sz="2800" dirty="0"/>
              <a:t> of a </a:t>
            </a:r>
            <a:r>
              <a:rPr lang="en-US" sz="2800" i="1" dirty="0"/>
              <a:t>non-corporate</a:t>
            </a:r>
            <a:r>
              <a:rPr lang="en-US" sz="2800" dirty="0"/>
              <a:t> taxpayer’s </a:t>
            </a:r>
            <a:r>
              <a:rPr lang="en-US" sz="2800" i="1" dirty="0"/>
              <a:t>Qualified Business Income Amount (QBIA)</a:t>
            </a:r>
          </a:p>
          <a:p>
            <a:r>
              <a:rPr lang="en-US" sz="2800" i="1" dirty="0"/>
              <a:t>QBI</a:t>
            </a:r>
            <a:r>
              <a:rPr lang="en-US" sz="2800" dirty="0"/>
              <a:t>: Roughly income from a </a:t>
            </a:r>
            <a:r>
              <a:rPr lang="en-US" sz="2800" i="1" dirty="0"/>
              <a:t>QT/B,</a:t>
            </a:r>
            <a:r>
              <a:rPr lang="en-US" sz="2800" dirty="0"/>
              <a:t> but excluding CGs, CLs, dividend income</a:t>
            </a:r>
          </a:p>
          <a:p>
            <a:r>
              <a:rPr lang="en-US" sz="2800" i="1" dirty="0"/>
              <a:t>QT/B: </a:t>
            </a:r>
            <a:r>
              <a:rPr lang="en-US" sz="2800" dirty="0"/>
              <a:t>Any business </a:t>
            </a:r>
            <a:r>
              <a:rPr lang="en-US" sz="2800" b="1" dirty="0"/>
              <a:t>except the T/B of being an employee, and</a:t>
            </a:r>
            <a:r>
              <a:rPr lang="en-US" sz="2800" dirty="0"/>
              <a:t>: health, law, accounting, actuarial science, performing arts, consulting, athletics, financial service, brokerage services, </a:t>
            </a:r>
            <a:r>
              <a:rPr lang="en-US" sz="2800" b="1" dirty="0"/>
              <a:t>or any T/b where the principal assets of the T/B is the reputation or skill of 1 or more of its employees</a:t>
            </a:r>
            <a:r>
              <a:rPr lang="en-US" sz="2800" dirty="0"/>
              <a:t>;</a:t>
            </a:r>
          </a:p>
          <a:p>
            <a:pPr lvl="1"/>
            <a:r>
              <a:rPr lang="en-US" sz="2800" dirty="0"/>
              <a:t>Exception for </a:t>
            </a:r>
            <a:r>
              <a:rPr lang="en-US" sz="2800" i="1" dirty="0"/>
              <a:t>specified service business</a:t>
            </a:r>
            <a:r>
              <a:rPr lang="en-US" sz="2800" dirty="0"/>
              <a:t>: If the taxpayer’s income is less than $197,300 ($394,600) (2025), a specified service, </a:t>
            </a:r>
            <a:r>
              <a:rPr lang="en-US" sz="2800" b="1" dirty="0"/>
              <a:t>e.g., law</a:t>
            </a:r>
            <a:r>
              <a:rPr lang="en-US" sz="2800" dirty="0"/>
              <a:t>, will be treated as a QT/B. §199A(d)(3)(A).  </a:t>
            </a:r>
          </a:p>
          <a:p>
            <a:pPr lvl="1"/>
            <a:r>
              <a:rPr lang="en-US" sz="2800" b="1" dirty="0"/>
              <a:t>Exception doesn’t apply to attorneys who are employees.</a:t>
            </a:r>
            <a:endParaRPr lang="en-US" sz="28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01A75F-3F27-9019-F037-60EA5CEED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§199A (Introduced in the TCJA of 2017 and Expanded in the OBBBA of 2025).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AEC1C-878F-DDDF-842C-D50BDAE0EA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BC7FD-E381-DF8D-FBB0-45EFD04D3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95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20820</TotalTime>
  <Words>1633</Words>
  <Application>Microsoft Macintosh PowerPoint</Application>
  <PresentationFormat>Widescreen</PresentationFormat>
  <Paragraphs>233</Paragraphs>
  <Slides>23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NSimSun</vt:lpstr>
      <vt:lpstr>Arial</vt:lpstr>
      <vt:lpstr>Calibri</vt:lpstr>
      <vt:lpstr>Courier New</vt:lpstr>
      <vt:lpstr>Times New Roman</vt:lpstr>
      <vt:lpstr>Wingdings</vt:lpstr>
      <vt:lpstr>Wingdings 2</vt:lpstr>
      <vt:lpstr>CG Body - Standard</vt:lpstr>
      <vt:lpstr>Worksheet</vt:lpstr>
      <vt:lpstr>Federal Income Taxation Essential Structure of the Income Tax</vt:lpstr>
      <vt:lpstr>Tax Base and Tax Rates</vt:lpstr>
      <vt:lpstr>HS Definition of Income</vt:lpstr>
      <vt:lpstr>Core Structure of a Tax on Income</vt:lpstr>
      <vt:lpstr>Analysis of Wealth Reductions</vt:lpstr>
      <vt:lpstr>Role of Basis</vt:lpstr>
      <vt:lpstr>Realization &amp; Character</vt:lpstr>
      <vt:lpstr>Analysis of Wealth Reductions</vt:lpstr>
      <vt:lpstr>Analysis of Wealth Reductions</vt:lpstr>
      <vt:lpstr>Analysis of Wealth Reductions</vt:lpstr>
      <vt:lpstr>Subsistence Consumption, Tax Rates, etc.</vt:lpstr>
      <vt:lpstr>Form 1040</vt:lpstr>
      <vt:lpstr>Form 1040:  From Gross Income (GI) to Adjusted Gross Income (AGI) to Taxable Income (TI)</vt:lpstr>
      <vt:lpstr>Tax and Credits</vt:lpstr>
      <vt:lpstr>Payments, Refunds, and Amounts Owed</vt:lpstr>
      <vt:lpstr>Gross Income to AGI</vt:lpstr>
      <vt:lpstr>AGI to Taxable Income</vt:lpstr>
      <vt:lpstr>Zero Bracket (Subsistence) Amount</vt:lpstr>
      <vt:lpstr>Taxable Tables (2025)</vt:lpstr>
      <vt:lpstr>Marginal vs. Effective (Average) Tax Rates</vt:lpstr>
      <vt:lpstr>Tax Credit vs. Tax Deduction</vt:lpstr>
      <vt:lpstr>Alternative Minimum Tax (AMT)</vt:lpstr>
      <vt:lpstr>§199A (Introduced in the TCJA of 2017 and Expanded in the OBBBA of 2025).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J Colon</dc:creator>
  <cp:keywords/>
  <dc:description/>
  <cp:lastModifiedBy>Colon, Jeffrey M.</cp:lastModifiedBy>
  <cp:revision>198</cp:revision>
  <cp:lastPrinted>2020-11-30T15:41:57Z</cp:lastPrinted>
  <dcterms:created xsi:type="dcterms:W3CDTF">2016-08-01T04:04:31Z</dcterms:created>
  <dcterms:modified xsi:type="dcterms:W3CDTF">2025-12-22T23:46:43Z</dcterms:modified>
  <cp:category/>
</cp:coreProperties>
</file>