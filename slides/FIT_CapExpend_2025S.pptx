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95" r:id="rId2"/>
    <p:sldId id="256" r:id="rId3"/>
    <p:sldId id="296" r:id="rId4"/>
    <p:sldId id="297" r:id="rId5"/>
    <p:sldId id="298" r:id="rId6"/>
    <p:sldId id="299" r:id="rId7"/>
    <p:sldId id="300" r:id="rId8"/>
    <p:sldId id="301" r:id="rId9"/>
    <p:sldId id="302" r:id="rId10"/>
    <p:sldId id="303" r:id="rId11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59E23E-BE27-944B-B404-72851E047BEA}" v="113" dt="2026-01-29T12:33:26.3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547"/>
    <p:restoredTop sz="96057"/>
  </p:normalViewPr>
  <p:slideViewPr>
    <p:cSldViewPr snapToGrid="0" snapToObjects="1">
      <p:cViewPr>
        <p:scale>
          <a:sx n="117" d="100"/>
          <a:sy n="117" d="100"/>
        </p:scale>
        <p:origin x="560" y="1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DC1DB158-BAB1-5930-B714-AEF472873853}"/>
    <pc:docChg chg="delSld modSld modMainMaster">
      <pc:chgData name="Colon, Jeffrey M." userId="615143b1-cdee-493d-9a9d-1565ce8666d9" providerId="ADAL" clId="{DC1DB158-BAB1-5930-B714-AEF472873853}" dt="2026-01-29T12:33:56.374" v="117" actId="2696"/>
      <pc:docMkLst>
        <pc:docMk/>
      </pc:docMkLst>
      <pc:sldChg chg="modSp">
        <pc:chgData name="Colon, Jeffrey M." userId="615143b1-cdee-493d-9a9d-1565ce8666d9" providerId="ADAL" clId="{DC1DB158-BAB1-5930-B714-AEF472873853}" dt="2026-01-29T12:33:26.309" v="116" actId="20577"/>
        <pc:sldMkLst>
          <pc:docMk/>
          <pc:sldMk cId="231222038" sldId="256"/>
        </pc:sldMkLst>
        <pc:spChg chg="mod">
          <ac:chgData name="Colon, Jeffrey M." userId="615143b1-cdee-493d-9a9d-1565ce8666d9" providerId="ADAL" clId="{DC1DB158-BAB1-5930-B714-AEF472873853}" dt="2026-01-29T12:33:26.309" v="116" actId="20577"/>
          <ac:spMkLst>
            <pc:docMk/>
            <pc:sldMk cId="231222038" sldId="256"/>
            <ac:spMk id="5" creationId="{00000000-0000-0000-0000-000000000000}"/>
          </ac:spMkLst>
        </pc:spChg>
      </pc:sldChg>
      <pc:sldChg chg="modSp mod">
        <pc:chgData name="Colon, Jeffrey M." userId="615143b1-cdee-493d-9a9d-1565ce8666d9" providerId="ADAL" clId="{DC1DB158-BAB1-5930-B714-AEF472873853}" dt="2026-01-28T17:12:56.092" v="1" actId="20577"/>
        <pc:sldMkLst>
          <pc:docMk/>
          <pc:sldMk cId="123558849" sldId="295"/>
        </pc:sldMkLst>
        <pc:spChg chg="mod">
          <ac:chgData name="Colon, Jeffrey M." userId="615143b1-cdee-493d-9a9d-1565ce8666d9" providerId="ADAL" clId="{DC1DB158-BAB1-5930-B714-AEF472873853}" dt="2026-01-28T17:12:56.092" v="1" actId="20577"/>
          <ac:spMkLst>
            <pc:docMk/>
            <pc:sldMk cId="123558849" sldId="295"/>
            <ac:spMk id="3" creationId="{00000000-0000-0000-0000-000000000000}"/>
          </ac:spMkLst>
        </pc:spChg>
      </pc:sldChg>
      <pc:sldChg chg="del">
        <pc:chgData name="Colon, Jeffrey M." userId="615143b1-cdee-493d-9a9d-1565ce8666d9" providerId="ADAL" clId="{DC1DB158-BAB1-5930-B714-AEF472873853}" dt="2026-01-29T12:33:56.374" v="117" actId="2696"/>
        <pc:sldMkLst>
          <pc:docMk/>
          <pc:sldMk cId="1747169546" sldId="304"/>
        </pc:sldMkLst>
      </pc:sldChg>
      <pc:sldMasterChg chg="modSp mod">
        <pc:chgData name="Colon, Jeffrey M." userId="615143b1-cdee-493d-9a9d-1565ce8666d9" providerId="ADAL" clId="{DC1DB158-BAB1-5930-B714-AEF472873853}" dt="2026-01-28T17:13:06.932" v="3" actId="20577"/>
        <pc:sldMasterMkLst>
          <pc:docMk/>
          <pc:sldMasterMk cId="371776349" sldId="2147483660"/>
        </pc:sldMasterMkLst>
        <pc:spChg chg="mod">
          <ac:chgData name="Colon, Jeffrey M." userId="615143b1-cdee-493d-9a9d-1565ce8666d9" providerId="ADAL" clId="{DC1DB158-BAB1-5930-B714-AEF472873853}" dt="2026-01-28T17:13:06.932" v="3" actId="20577"/>
          <ac:spMkLst>
            <pc:docMk/>
            <pc:sldMasterMk cId="371776349" sldId="2147483660"/>
            <ac:spMk id="9" creationId="{00000000-0000-0000-0000-000000000000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83BC67FA-3E26-304D-BDBD-530C6272A0E0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2"/>
            <a:ext cx="5608320" cy="3636705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BF72E6F7-09F5-B04E-8141-9A414430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690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73258D-F88C-F440-AD20-53E2DCDDB8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84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2E6F7-09F5-B04E-8141-9A4144300CC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433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 b="1"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Capital Expenditures and Expenses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Capital Expenditures and Expenses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22781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Capital Expenditures and Expenses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512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baseline="0" dirty="0">
                <a:latin typeface="+mn-lt"/>
              </a:rPr>
              <a:t>FIT_CapExpend_2026S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  <p:sldLayoutId id="2147483716" r:id="rId56"/>
    <p:sldLayoutId id="2147483717" r:id="rId5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Federal Income Taxation</a:t>
            </a:r>
            <a:br>
              <a:rPr lang="en-US" dirty="0"/>
            </a:br>
            <a:r>
              <a:rPr lang="en-US" i="1" dirty="0"/>
              <a:t>Capital Expenditures and Expenses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58533" y="5013325"/>
            <a:ext cx="6858000" cy="609600"/>
          </a:xfrm>
          <a:prstGeom prst="rect">
            <a:avLst/>
          </a:prstGeom>
        </p:spPr>
        <p:txBody>
          <a:bodyPr>
            <a:normAutofit fontScale="85000" lnSpcReduction="20000"/>
          </a:bodyPr>
          <a:lstStyle/>
          <a:p>
            <a:r>
              <a:rPr lang="en-US" sz="2100" b="1" dirty="0"/>
              <a:t>Prof. Colon</a:t>
            </a:r>
          </a:p>
          <a:p>
            <a:r>
              <a:rPr lang="en-US" sz="2100" b="1" dirty="0"/>
              <a:t>Spring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D80FCD-05A6-764D-BFDB-63AA23C97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Capital Expenditures and Expenses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AF7C4-7F9E-D84A-9606-10CB55E91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58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i="1" dirty="0">
                <a:latin typeface="+mn-lt"/>
              </a:rPr>
              <a:t>Capital expenditures</a:t>
            </a:r>
            <a:r>
              <a:rPr lang="en-US" sz="2800" dirty="0">
                <a:latin typeface="+mn-lt"/>
              </a:rPr>
              <a:t> are generally not </a:t>
            </a:r>
            <a:r>
              <a:rPr lang="en-US" sz="2800" i="1" dirty="0">
                <a:latin typeface="+mn-lt"/>
              </a:rPr>
              <a:t>currently</a:t>
            </a:r>
            <a:r>
              <a:rPr lang="en-US" sz="2800" dirty="0">
                <a:latin typeface="+mn-lt"/>
              </a:rPr>
              <a:t> deductible (</a:t>
            </a:r>
            <a:r>
              <a:rPr lang="en-US" sz="2800" dirty="0"/>
              <a:t>§263(a))</a:t>
            </a:r>
          </a:p>
          <a:p>
            <a:pPr lvl="1"/>
            <a:r>
              <a:rPr lang="en-US" sz="2400" dirty="0"/>
              <a:t>May be recovered through depreciation if the property is a wasting asset, e.g., building</a:t>
            </a:r>
            <a:br>
              <a:rPr lang="en-US" sz="2400" dirty="0"/>
            </a:br>
            <a:endParaRPr lang="en-US" sz="2400" dirty="0"/>
          </a:p>
          <a:p>
            <a:pPr algn="l"/>
            <a:r>
              <a:rPr lang="en-US" sz="2800" i="1" dirty="0">
                <a:latin typeface="+mn-lt"/>
              </a:rPr>
              <a:t>Expenses </a:t>
            </a:r>
            <a:r>
              <a:rPr lang="en-US" sz="2800" dirty="0">
                <a:latin typeface="+mn-lt"/>
              </a:rPr>
              <a:t>(T/B or investment) are generally </a:t>
            </a:r>
            <a:r>
              <a:rPr lang="en-US" sz="2800" i="1" dirty="0">
                <a:latin typeface="+mn-lt"/>
              </a:rPr>
              <a:t>currently</a:t>
            </a:r>
            <a:r>
              <a:rPr lang="en-US" sz="2800" dirty="0">
                <a:latin typeface="+mn-lt"/>
              </a:rPr>
              <a:t> deductible. </a:t>
            </a:r>
            <a:r>
              <a:rPr lang="en-US" sz="2800" dirty="0"/>
              <a:t>§§162(a) and 212, but §212 is basically repealed for individuals in 2025 as these expenses were </a:t>
            </a:r>
            <a:r>
              <a:rPr lang="en-US" sz="2800" dirty="0" err="1"/>
              <a:t>MIDs.</a:t>
            </a:r>
            <a:r>
              <a:rPr lang="en-US" sz="2800" dirty="0"/>
              <a:t> §67(h). </a:t>
            </a:r>
            <a:br>
              <a:rPr lang="en-US" sz="2800" dirty="0"/>
            </a:br>
            <a:endParaRPr lang="en-US" sz="2800" dirty="0"/>
          </a:p>
          <a:p>
            <a:r>
              <a:rPr lang="en-US" sz="2800" dirty="0">
                <a:latin typeface="+mn-lt"/>
              </a:rPr>
              <a:t>Importance of the distinction:</a:t>
            </a:r>
          </a:p>
          <a:p>
            <a:pPr lvl="1"/>
            <a:r>
              <a:rPr lang="en-US" sz="2400" dirty="0">
                <a:latin typeface="+mn-lt"/>
              </a:rPr>
              <a:t>Timing (TVM):  cash outlay today, deduction benefit tomorrow, etc.</a:t>
            </a:r>
          </a:p>
          <a:p>
            <a:pPr lvl="1"/>
            <a:r>
              <a:rPr lang="en-US" sz="2400" dirty="0">
                <a:latin typeface="+mn-lt"/>
              </a:rPr>
              <a:t>Pillar distinction between income tax (investment and return taxed) and consumption tax (return not taxed)</a:t>
            </a:r>
          </a:p>
          <a:p>
            <a:pPr lvl="1"/>
            <a:r>
              <a:rPr lang="en-US" sz="2400" dirty="0">
                <a:latin typeface="+mn-lt"/>
              </a:rPr>
              <a:t>Tax arbitrage looms large, especially when debt (interest deduction) is considered</a:t>
            </a:r>
          </a:p>
          <a:p>
            <a:pPr lvl="1"/>
            <a:endParaRPr lang="en-US" dirty="0">
              <a:latin typeface="+mn-lt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Capital Expenditures vs Expenses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222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4921AB-AE17-7639-8934-77D02F586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 err="1"/>
              <a:t>Indopco</a:t>
            </a:r>
            <a:r>
              <a:rPr lang="en-US" i="1" dirty="0"/>
              <a:t>, Inc. v. CIR,</a:t>
            </a:r>
            <a:r>
              <a:rPr lang="en-US" dirty="0"/>
              <a:t> 503 U.S. 79 (1992)</a:t>
            </a:r>
            <a:endParaRPr lang="en-US" i="1" dirty="0"/>
          </a:p>
          <a:p>
            <a:pPr lvl="1"/>
            <a:r>
              <a:rPr lang="en-US" dirty="0"/>
              <a:t>In connection with a partially taxable acquisition of National Starch (renamed </a:t>
            </a:r>
            <a:r>
              <a:rPr lang="en-US" dirty="0" err="1"/>
              <a:t>Indopco</a:t>
            </a:r>
            <a:r>
              <a:rPr lang="en-US" dirty="0"/>
              <a:t>), National Starch paid:</a:t>
            </a:r>
          </a:p>
          <a:p>
            <a:pPr lvl="2"/>
            <a:r>
              <a:rPr lang="en-US" dirty="0"/>
              <a:t>Morgan Stanley $2.2MM (fee, fairness opinion, out-of-pocket expenses, and legal fees)</a:t>
            </a:r>
          </a:p>
          <a:p>
            <a:pPr lvl="2"/>
            <a:r>
              <a:rPr lang="en-US" dirty="0"/>
              <a:t>Debevoise $505K (legal fees and out-of-pocket expenses)</a:t>
            </a:r>
          </a:p>
          <a:p>
            <a:pPr lvl="2"/>
            <a:r>
              <a:rPr lang="en-US" dirty="0"/>
              <a:t>Misc. fees of $150K (accounting, printing, SEC fees)</a:t>
            </a:r>
          </a:p>
          <a:p>
            <a:pPr lvl="1"/>
            <a:r>
              <a:rPr lang="en-US" dirty="0"/>
              <a:t>Issue: were payments deductible under §162(a) as </a:t>
            </a:r>
            <a:r>
              <a:rPr lang="en-US" i="1" dirty="0"/>
              <a:t>ordinary and necessary expenses</a:t>
            </a:r>
            <a:r>
              <a:rPr lang="en-US" dirty="0"/>
              <a:t> or required to be capitalized under §263(a)(1)?</a:t>
            </a:r>
          </a:p>
          <a:p>
            <a:pPr lvl="2"/>
            <a:r>
              <a:rPr lang="en-US" i="1" dirty="0"/>
              <a:t>CIR v. Lincoln Savings</a:t>
            </a:r>
            <a:r>
              <a:rPr lang="en-US" dirty="0"/>
              <a:t> (1971): FSLIC premiums, which </a:t>
            </a:r>
            <a:r>
              <a:rPr lang="en-US" i="1" dirty="0"/>
              <a:t>created or enhanced </a:t>
            </a:r>
            <a:r>
              <a:rPr lang="en-US" dirty="0"/>
              <a:t>a </a:t>
            </a:r>
            <a:r>
              <a:rPr lang="en-US" i="1" dirty="0"/>
              <a:t>separate and distinct asset</a:t>
            </a:r>
            <a:r>
              <a:rPr lang="en-US" dirty="0"/>
              <a:t>, had to be capitalized.</a:t>
            </a:r>
          </a:p>
          <a:p>
            <a:r>
              <a:rPr lang="en-US" b="1" dirty="0"/>
              <a:t>Query</a:t>
            </a:r>
            <a:r>
              <a:rPr lang="en-US" dirty="0"/>
              <a:t>: according to the court, what were the </a:t>
            </a:r>
            <a:r>
              <a:rPr lang="en-US" i="1" dirty="0"/>
              <a:t>substantial future benefits </a:t>
            </a:r>
            <a:r>
              <a:rPr lang="en-US" dirty="0"/>
              <a:t>to National Starch of the acquisition?</a:t>
            </a:r>
          </a:p>
          <a:p>
            <a:r>
              <a:rPr lang="en-US" dirty="0"/>
              <a:t>Under </a:t>
            </a:r>
            <a:r>
              <a:rPr lang="en-US" i="1" dirty="0" err="1"/>
              <a:t>Indopco</a:t>
            </a:r>
            <a:r>
              <a:rPr lang="en-US" dirty="0"/>
              <a:t>, how should advertising costs be treated? </a:t>
            </a:r>
            <a:r>
              <a:rPr lang="en-US" i="1" dirty="0"/>
              <a:t>See </a:t>
            </a:r>
            <a:r>
              <a:rPr lang="en-US" dirty="0"/>
              <a:t>Rev. Rul. 92-80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043A9B-F6A7-0103-EBF8-46FB90BFA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Intangibles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1E75E-E662-72B5-E95E-3A2BF8B0E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8A179-A96D-EA26-3C62-F31109779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6996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782492E-9046-3373-064B-9996C548F0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Acquire intangible, such as:</a:t>
                </a:r>
              </a:p>
              <a:p>
                <a:pPr lvl="1"/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Stock, PSH/LLC interest, debt interest and other financial contracts, patent, trademark, copyright, software, goodwill (-4(c)(1))</a:t>
                </a:r>
              </a:p>
              <a:p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Create intangible</a:t>
                </a:r>
              </a:p>
              <a:p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Create or enhance a </a:t>
                </a:r>
                <a:r>
                  <a:rPr lang="en-US" sz="2600" i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separate and distinct </a:t>
                </a:r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intangible asset</a:t>
                </a:r>
              </a:p>
              <a:p>
                <a:pPr lvl="1"/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Property interest of ascertainable and measurable value in money’s worth that can be sold, transferred or pledged apart from a T/B but </a:t>
                </a:r>
                <a:r>
                  <a:rPr lang="en-US" i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not</a:t>
                </a:r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including: (1) payments to originate or negotiate an agreement that produces benefits; (2) amounts paid in performing services under an agreement; or (3) amounts paid to develop software or package design. (-4(b)(3))</a:t>
                </a:r>
              </a:p>
              <a:p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Create or enhance a </a:t>
                </a:r>
                <a:r>
                  <a:rPr lang="en-US" sz="2600" i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future benefit</a:t>
                </a:r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identified in published guidance </a:t>
                </a:r>
              </a:p>
              <a:p>
                <a:r>
                  <a:rPr lang="en-US" sz="2600" i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Facilitate</a:t>
                </a:r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the acquisition or creation of an intangible (-4(b)(1)(</a:t>
                </a:r>
                <a:r>
                  <a:rPr lang="en-US" sz="26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</a:t>
                </a:r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)-(v), (e)(1), except if </a:t>
                </a:r>
                <a:r>
                  <a:rPr lang="en-US" sz="2600" i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de minimis ≤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5k)</a:t>
                </a:r>
              </a:p>
              <a:p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Amount paid to obtain or renew membership from an organization, e.g., NY Bar! (-4(d)(4)(</a:t>
                </a:r>
                <a:r>
                  <a:rPr lang="en-US" sz="26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</a:t>
                </a:r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), (d)(5)(ii), Ex. 2).</a:t>
                </a:r>
              </a:p>
              <a:p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Defend or perfect title to intangible property (-4(d)(9)).</a:t>
                </a:r>
              </a:p>
              <a:p>
                <a:r>
                  <a:rPr lang="en-US" sz="2600" i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12-month rule</a:t>
                </a:r>
                <a:r>
                  <a:rPr lang="en-US" sz="26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: capitalization not required for amounts paid to create right or benefit that does not extend beyond the earlier of: (1) 12 months after date the taxpayer realizes the right or benefit; or (2) end of tax year following the tax year payment is made (-4(f)(1))</a:t>
                </a:r>
              </a:p>
              <a:p>
                <a:pPr marL="0" indent="0">
                  <a:buNone/>
                </a:pPr>
                <a:endParaRPr 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782492E-9046-3373-064B-9996C548F0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747" r="-6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036F757-E837-E732-DD57-5AB50C6D6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Capitalization of Intangibles:  Reg. §1.263(a)-4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47761-64F9-9139-6806-5044F77ECA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CC82A-DD43-BB8C-997E-C9963A30F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3529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DB909-A58B-A0DC-33C1-B8283AD34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58FDD5-F2A5-862F-0832-2B8C6A3172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Capitalization required for amounts paid to </a:t>
            </a:r>
            <a:r>
              <a:rPr lang="en-US" i="1" dirty="0"/>
              <a:t>facilitate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Acquisition of a T/B (whether acquiror or target)</a:t>
            </a:r>
          </a:p>
          <a:p>
            <a:pPr lvl="1"/>
            <a:r>
              <a:rPr lang="en-US" dirty="0"/>
              <a:t>Restructuring, recapitalization, or reorganization </a:t>
            </a:r>
          </a:p>
          <a:p>
            <a:pPr lvl="1"/>
            <a:r>
              <a:rPr lang="en-US" dirty="0"/>
              <a:t>Acquisition of ownership interest in the taxpayer</a:t>
            </a:r>
          </a:p>
          <a:p>
            <a:pPr lvl="1"/>
            <a:r>
              <a:rPr lang="en-US" dirty="0"/>
              <a:t>A capital contribution to a corporation or partnership/LLC</a:t>
            </a:r>
          </a:p>
          <a:p>
            <a:pPr lvl="1"/>
            <a:r>
              <a:rPr lang="en-US" dirty="0"/>
              <a:t>Formation or organization of disregarded entity</a:t>
            </a:r>
          </a:p>
          <a:p>
            <a:pPr lvl="1"/>
            <a:r>
              <a:rPr lang="en-US" dirty="0"/>
              <a:t>Stock issuance</a:t>
            </a:r>
          </a:p>
          <a:p>
            <a:pPr lvl="1"/>
            <a:r>
              <a:rPr lang="en-US" dirty="0"/>
              <a:t>A borrowing (-5(a)(1)-(10))</a:t>
            </a:r>
          </a:p>
          <a:p>
            <a:r>
              <a:rPr lang="en-US" b="1" i="1" dirty="0"/>
              <a:t>Facilitate</a:t>
            </a:r>
            <a:r>
              <a:rPr lang="en-US" dirty="0"/>
              <a:t>: amount paid in the process of investigating or otherwise pursuing the transaction.  (-5(b)(1))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B6FD05B-6871-31BF-C507-2D0AA69CE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Capitalization of Intangibles:  Reg. §1.263(a)-5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8CF34D-4E5D-C23F-4FB1-FA34C9BBB3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0B9B0A-0CEB-993F-957B-07A623EE9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9952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E7E3B9-E6FC-269B-F9ED-FC7A2D08E7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Amounts paid to purchase buildings, permanently improve, or restore real estate (-2(d)(1))</a:t>
            </a:r>
          </a:p>
          <a:p>
            <a:r>
              <a:rPr lang="en-US" sz="2800" dirty="0"/>
              <a:t>Amounts paid to acquire personal tangible property, such as equipment, machinery (-2(d)(1))</a:t>
            </a:r>
          </a:p>
          <a:p>
            <a:r>
              <a:rPr lang="en-US" sz="2800" dirty="0"/>
              <a:t>Amounts paid to </a:t>
            </a:r>
            <a:r>
              <a:rPr lang="en-US" sz="2800" b="1" dirty="0"/>
              <a:t>facilitate</a:t>
            </a:r>
            <a:r>
              <a:rPr lang="en-US" sz="2800" dirty="0"/>
              <a:t> the acquisition of real/personal property if paid to investigate or otherwise pursue the acquisition, such as appraisal, application fees, finders’ or brokers’ commissions, and architectural services (-2(f)(1) and (2)), but not employee compensation, unless an election is made.  (-2(f)(2)(iv)(A) and (B))</a:t>
            </a:r>
          </a:p>
          <a:p>
            <a:pPr lvl="1"/>
            <a:r>
              <a:rPr lang="en-US" sz="2400" dirty="0"/>
              <a:t>Doesn’t include costs incurred in deciding whether </a:t>
            </a:r>
            <a:r>
              <a:rPr lang="en-US" sz="2400"/>
              <a:t>to purchase </a:t>
            </a:r>
            <a:r>
              <a:rPr lang="en-US" sz="2400" dirty="0"/>
              <a:t>real property &amp; which real property to purchase (</a:t>
            </a:r>
            <a:r>
              <a:rPr lang="en-US" sz="2400" i="1" dirty="0"/>
              <a:t>whether and which </a:t>
            </a:r>
            <a:r>
              <a:rPr lang="en-US" sz="2400" dirty="0"/>
              <a:t>rule) (-2(f)(2)(iii))</a:t>
            </a:r>
          </a:p>
          <a:p>
            <a:r>
              <a:rPr lang="en-US" sz="2800" dirty="0"/>
              <a:t>Defense or perfection of title to property (-2(e)(1))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0F598A8-ACED-AD67-F39B-0F6D06CB3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Capitalization of Tangible Assets: Reg. §1.263(a)-2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25A0CC-65BC-E93E-C8DC-CB827FB674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38CA9-BA13-E914-9F30-5863D8D69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1640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A03609-6BFE-C17F-F630-8890C48AED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Taxpayers with an </a:t>
            </a:r>
            <a:r>
              <a:rPr lang="en-US" sz="2800" i="1" dirty="0"/>
              <a:t>applicable financial statement</a:t>
            </a:r>
            <a:r>
              <a:rPr lang="en-US" sz="2800" dirty="0"/>
              <a:t> can elect to deduct amounts to acquire, produce, or improve tangible property if:</a:t>
            </a:r>
          </a:p>
          <a:p>
            <a:pPr lvl="1"/>
            <a:r>
              <a:rPr lang="en-US" sz="2400" dirty="0"/>
              <a:t>Taxpayer has accounting procedures treating outlays (1) costing less than a stipulated amount; or (2) have economic useful life of 12 month or less for nontax purposes;</a:t>
            </a:r>
          </a:p>
          <a:p>
            <a:pPr lvl="1"/>
            <a:r>
              <a:rPr lang="en-US" sz="2400" dirty="0"/>
              <a:t>Outlays is treated as expense on its AFS; and </a:t>
            </a:r>
          </a:p>
          <a:p>
            <a:pPr lvl="1"/>
            <a:r>
              <a:rPr lang="en-US" sz="2400" dirty="0"/>
              <a:t>Amount does not exceed $5K per invoice or per item. (-1(f)(1)(</a:t>
            </a:r>
            <a:r>
              <a:rPr lang="en-US" sz="2400" dirty="0" err="1"/>
              <a:t>i</a:t>
            </a:r>
            <a:r>
              <a:rPr lang="en-US" sz="2400" dirty="0"/>
              <a:t>))</a:t>
            </a:r>
          </a:p>
          <a:p>
            <a:pPr lvl="1"/>
            <a:r>
              <a:rPr lang="en-US" sz="2400" dirty="0"/>
              <a:t>AFS: required to be submitted to SEC; audited financial statement used to report to SHs or Ps; or required to be submitted to state or Federal government (-1(f)(4))</a:t>
            </a:r>
          </a:p>
          <a:p>
            <a:r>
              <a:rPr lang="en-US" sz="2800" dirty="0"/>
              <a:t>If no AFS, amount is limited to $2.5K per item or invoice, and taxpayer must record as current expense on nontax books and records. (-1(f)(1)(ii))</a:t>
            </a:r>
          </a:p>
          <a:p>
            <a:r>
              <a:rPr lang="en-US" sz="2800" dirty="0"/>
              <a:t>If TP doesn’t elect </a:t>
            </a:r>
            <a:r>
              <a:rPr lang="en-US" sz="2800" i="1" dirty="0"/>
              <a:t>de minimis </a:t>
            </a:r>
            <a:r>
              <a:rPr lang="en-US" sz="2800" dirty="0"/>
              <a:t>safe harbor, TP can deduct </a:t>
            </a:r>
            <a:r>
              <a:rPr lang="en-US" sz="2800" i="1" dirty="0"/>
              <a:t>materials and supplies</a:t>
            </a:r>
            <a:r>
              <a:rPr lang="en-US" sz="2800" dirty="0"/>
              <a:t> under</a:t>
            </a:r>
            <a:r>
              <a:rPr lang="en-US" sz="2800" b="1" dirty="0"/>
              <a:t> </a:t>
            </a:r>
            <a:r>
              <a:rPr lang="en-US" sz="2800" dirty="0"/>
              <a:t>Reg. §1.162-3(c).</a:t>
            </a:r>
          </a:p>
          <a:p>
            <a:endParaRPr lang="en-US" sz="2800" dirty="0"/>
          </a:p>
          <a:p>
            <a:endParaRPr lang="en-US" sz="2800" dirty="0"/>
          </a:p>
          <a:p>
            <a:pPr marL="228600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72EB28-D61C-150D-13A7-997642B78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Minimis Amounts for Tangible Property:  Reg. §1.263(a)-1(f)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5D1187-81DC-F289-6989-4EC6DCFA2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3E527D-0486-C9CE-16FD-779642E57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1526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88436D-3EF5-532F-58E0-C546136EE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Amounts paid to:</a:t>
            </a:r>
          </a:p>
          <a:p>
            <a:pPr lvl="1"/>
            <a:r>
              <a:rPr lang="en-US" b="1" i="1" dirty="0"/>
              <a:t>Improve</a:t>
            </a:r>
            <a:r>
              <a:rPr lang="en-US" i="1" dirty="0"/>
              <a:t> a unit </a:t>
            </a:r>
            <a:r>
              <a:rPr lang="en-US" dirty="0"/>
              <a:t>of property must be capitalized §263</a:t>
            </a:r>
          </a:p>
          <a:p>
            <a:pPr lvl="1"/>
            <a:r>
              <a:rPr lang="en-US" b="1" i="1" dirty="0"/>
              <a:t>Repair</a:t>
            </a:r>
            <a:r>
              <a:rPr lang="en-US" i="1" dirty="0"/>
              <a:t> property—necessitated by normal wear and tear--</a:t>
            </a:r>
            <a:r>
              <a:rPr lang="en-US" dirty="0"/>
              <a:t>can be deducted under §162</a:t>
            </a:r>
          </a:p>
          <a:p>
            <a:r>
              <a:rPr lang="en-US" dirty="0"/>
              <a:t>Improvements</a:t>
            </a:r>
          </a:p>
          <a:p>
            <a:pPr lvl="1"/>
            <a:r>
              <a:rPr lang="en-US" b="1" i="1" dirty="0"/>
              <a:t>Betterment</a:t>
            </a:r>
            <a:r>
              <a:rPr lang="en-US" b="1" dirty="0"/>
              <a:t> </a:t>
            </a:r>
            <a:r>
              <a:rPr lang="en-US" dirty="0"/>
              <a:t>to the property:</a:t>
            </a:r>
          </a:p>
          <a:p>
            <a:pPr lvl="2"/>
            <a:r>
              <a:rPr lang="en-US" dirty="0"/>
              <a:t>Ameliorates material condition/defect that existed prior to acquisition of the property</a:t>
            </a:r>
          </a:p>
          <a:p>
            <a:pPr lvl="2"/>
            <a:r>
              <a:rPr lang="en-US" dirty="0"/>
              <a:t>Material addition (enlargement, expansion, extension, capacity)</a:t>
            </a:r>
          </a:p>
          <a:p>
            <a:pPr lvl="2"/>
            <a:r>
              <a:rPr lang="en-US" dirty="0"/>
              <a:t>Expected to materially increase productivity, efficiency, strength, output of unit of property (-3(j)(1))</a:t>
            </a:r>
          </a:p>
          <a:p>
            <a:pPr lvl="1"/>
            <a:r>
              <a:rPr lang="en-US" b="1" i="1" dirty="0"/>
              <a:t>Restore</a:t>
            </a:r>
            <a:r>
              <a:rPr lang="en-US" i="1" dirty="0"/>
              <a:t> </a:t>
            </a:r>
            <a:r>
              <a:rPr lang="en-US" dirty="0"/>
              <a:t>the property</a:t>
            </a:r>
          </a:p>
          <a:p>
            <a:pPr lvl="2"/>
            <a:r>
              <a:rPr lang="en-US" dirty="0"/>
              <a:t>Replacement of component of property that TP deducted for a loss (also casualty loss)</a:t>
            </a:r>
          </a:p>
          <a:p>
            <a:pPr lvl="2"/>
            <a:r>
              <a:rPr lang="en-US" dirty="0"/>
              <a:t>Replacement of component that TP has properly taken into account the AB in realizing G/L</a:t>
            </a:r>
          </a:p>
          <a:p>
            <a:pPr lvl="2"/>
            <a:r>
              <a:rPr lang="en-US" dirty="0"/>
              <a:t> Returns property to ordinarily efficient operating condition if property no longer functional for intended use</a:t>
            </a:r>
          </a:p>
          <a:p>
            <a:pPr lvl="2"/>
            <a:r>
              <a:rPr lang="en-US" dirty="0"/>
              <a:t>Rebuilding property to like-new condition after end of its class life.</a:t>
            </a:r>
          </a:p>
          <a:p>
            <a:pPr lvl="2"/>
            <a:r>
              <a:rPr lang="en-US" dirty="0"/>
              <a:t>Replacement of part that comprises a major component or substantial structural part. (-3(k)(1))</a:t>
            </a:r>
          </a:p>
          <a:p>
            <a:pPr lvl="1"/>
            <a:r>
              <a:rPr lang="en-US" b="1" i="1" dirty="0"/>
              <a:t>Adapt</a:t>
            </a:r>
            <a:r>
              <a:rPr lang="en-US" dirty="0"/>
              <a:t> the property to a new or different use if adaptation is not consistent with TP’s ordinary use of the property when placed in service. (-3(</a:t>
            </a:r>
            <a:r>
              <a:rPr lang="en-US" i="1" dirty="0"/>
              <a:t>l</a:t>
            </a:r>
            <a:r>
              <a:rPr lang="en-US" dirty="0"/>
              <a:t>)(1).</a:t>
            </a:r>
          </a:p>
          <a:p>
            <a:pPr lvl="2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2BEDD9-51F8-DE65-A1BD-4457117E4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Big Battle: Repairs vs. Improvements of Tangible Property (Reg. § 1.263(a)-3))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562B53-21B1-E98A-0E00-E37674792F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E66791-E48F-6D34-B7DA-9138952BC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4272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5E66F0-4AAC-A81A-34B0-D023575CE8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i="1" dirty="0"/>
              <a:t>Routine maintenance</a:t>
            </a:r>
            <a:r>
              <a:rPr lang="en-US" sz="2800" dirty="0"/>
              <a:t> safe harbor</a:t>
            </a:r>
          </a:p>
          <a:p>
            <a:pPr lvl="1"/>
            <a:r>
              <a:rPr lang="en-US" sz="2400" dirty="0"/>
              <a:t>Recurring activities to keep building structure (building system) in ordinarily efficient operating condition.  (-3(</a:t>
            </a:r>
            <a:r>
              <a:rPr lang="en-US" sz="2400" dirty="0" err="1"/>
              <a:t>i</a:t>
            </a:r>
            <a:r>
              <a:rPr lang="en-US" sz="2400" dirty="0"/>
              <a:t>)(1)(</a:t>
            </a:r>
            <a:r>
              <a:rPr lang="en-US" sz="2400" dirty="0" err="1"/>
              <a:t>i</a:t>
            </a:r>
            <a:r>
              <a:rPr lang="en-US" sz="2400" dirty="0"/>
              <a:t>)).</a:t>
            </a:r>
          </a:p>
          <a:p>
            <a:r>
              <a:rPr lang="en-US" sz="2800" i="1" dirty="0"/>
              <a:t>Small business </a:t>
            </a:r>
            <a:r>
              <a:rPr lang="en-US" sz="2800" dirty="0"/>
              <a:t>safe harbor for building: </a:t>
            </a:r>
          </a:p>
          <a:p>
            <a:pPr lvl="1"/>
            <a:r>
              <a:rPr lang="en-US" sz="2400" dirty="0"/>
              <a:t>TP can elect to deduct improvements if total amount paid for repairs, maintenance, improvement doesn’t exceed the lesser of ($10K) or 2% of the AB of the building.</a:t>
            </a:r>
          </a:p>
          <a:p>
            <a:pPr lvl="1"/>
            <a:r>
              <a:rPr lang="en-US" sz="2400" dirty="0"/>
              <a:t>Eligible building property must have unadjusted basis of $1MM or less. (-3(h)(1) and (4))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AF53B1D-0C59-5B44-F563-172F0FA62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Big Battle: Repairs vs. Improvements of Tangible Property (Reg. §1.263(a)-3))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9322B-0278-FE7C-5092-0AFA66DF1E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A3777-64FE-B742-D414-9A22756F2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20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2D79BB-76DE-543D-004F-8EA507B11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Idaho Power owned automotive transportation equipment used to operate, maintain and construct  capital facilities.  </a:t>
            </a:r>
          </a:p>
          <a:p>
            <a:r>
              <a:rPr lang="en-US" dirty="0"/>
              <a:t>Idaho Power claimed separate depreciation of the equipment based on a useful life 10 years, which is much less than the useful life of a power line and related facilities.</a:t>
            </a:r>
          </a:p>
          <a:p>
            <a:r>
              <a:rPr lang="en-US" dirty="0"/>
              <a:t>Issue: “Issue comes down to a question of timing”</a:t>
            </a:r>
          </a:p>
          <a:p>
            <a:pPr lvl="1"/>
            <a:r>
              <a:rPr lang="en-US" dirty="0"/>
              <a:t>Asset used to further TP’s day-to-day business operations (deduction), or </a:t>
            </a:r>
          </a:p>
          <a:p>
            <a:pPr lvl="1"/>
            <a:r>
              <a:rPr lang="en-US" dirty="0"/>
              <a:t>Consumption of asset takes place in the construction of other assets that will produce income (capitalized as part of cost of acquiring income producing asset)</a:t>
            </a:r>
          </a:p>
          <a:p>
            <a:r>
              <a:rPr lang="en-US" dirty="0"/>
              <a:t>Section 263A</a:t>
            </a:r>
          </a:p>
          <a:p>
            <a:pPr lvl="1"/>
            <a:r>
              <a:rPr lang="en-US" dirty="0"/>
              <a:t>Applies to all </a:t>
            </a:r>
            <a:r>
              <a:rPr lang="en-US" i="1" dirty="0"/>
              <a:t>real or tangible personal property </a:t>
            </a:r>
            <a:r>
              <a:rPr lang="en-US" b="1" i="1" dirty="0"/>
              <a:t>produced</a:t>
            </a:r>
            <a:r>
              <a:rPr lang="en-US" i="1" dirty="0"/>
              <a:t> by the TP.</a:t>
            </a:r>
          </a:p>
          <a:p>
            <a:pPr lvl="1"/>
            <a:r>
              <a:rPr lang="en-US" dirty="0"/>
              <a:t>Generally requires </a:t>
            </a:r>
            <a:r>
              <a:rPr lang="en-US" i="1" dirty="0"/>
              <a:t>direct costs</a:t>
            </a:r>
            <a:r>
              <a:rPr lang="en-US" dirty="0"/>
              <a:t> and allocable shares of </a:t>
            </a:r>
            <a:r>
              <a:rPr lang="en-US" i="1" dirty="0"/>
              <a:t>indirect costs</a:t>
            </a:r>
            <a:r>
              <a:rPr lang="en-US" dirty="0"/>
              <a:t> to be capitalized into produced property, with some exceptions, e.g. qualified creative expense incurred by writers, photographers, and artists.</a:t>
            </a:r>
          </a:p>
          <a:p>
            <a:pPr lvl="1"/>
            <a:r>
              <a:rPr lang="en-US" dirty="0"/>
              <a:t>Indirect costs: interest, labor costs, storage costs, depreciation, rents, sales &amp; property taxes, with some exceptions, e.g., R&amp;E expenses and amounts </a:t>
            </a:r>
            <a:r>
              <a:rPr lang="en-US"/>
              <a:t>deductible under §179.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E42C44-CD41-D0C6-BA44-00A6991D4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CIR v. Idaho Power Co</a:t>
            </a:r>
            <a:r>
              <a:rPr lang="en-US" dirty="0"/>
              <a:t>., 418 U.S. 1 (1974)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03B84B-DB24-D1A8-6D2E-54BB5C060B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7A4D34-3878-53B1-99AE-1134ADD81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Capital Expenditures and Expenses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016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21316</TotalTime>
  <Words>1661</Words>
  <Application>Microsoft Macintosh PowerPoint</Application>
  <PresentationFormat>Widescreen</PresentationFormat>
  <Paragraphs>112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NSimSun</vt:lpstr>
      <vt:lpstr>Arial</vt:lpstr>
      <vt:lpstr>Calibri</vt:lpstr>
      <vt:lpstr>Cambria Math</vt:lpstr>
      <vt:lpstr>Courier New</vt:lpstr>
      <vt:lpstr>Times New Roman</vt:lpstr>
      <vt:lpstr>Wingdings</vt:lpstr>
      <vt:lpstr>Wingdings 2</vt:lpstr>
      <vt:lpstr>CG Body - Standard</vt:lpstr>
      <vt:lpstr>Federal Income Taxation Capital Expenditures and Expenses</vt:lpstr>
      <vt:lpstr>Capital Expenditures vs Expenses</vt:lpstr>
      <vt:lpstr>Intangibles</vt:lpstr>
      <vt:lpstr>Capitalization of Intangibles:  Reg. §1.263(a)-4</vt:lpstr>
      <vt:lpstr>Capitalization of Intangibles:  Reg. §1.263(a)-5</vt:lpstr>
      <vt:lpstr>Capitalization of Tangible Assets: Reg. §1.263(a)-2</vt:lpstr>
      <vt:lpstr>De Minimis Amounts for Tangible Property:  Reg. §1.263(a)-1(f)</vt:lpstr>
      <vt:lpstr>The Big Battle: Repairs vs. Improvements of Tangible Property (Reg. § 1.263(a)-3))</vt:lpstr>
      <vt:lpstr>The Big Battle: Repairs vs. Improvements of Tangible Property (Reg. §1.263(a)-3))</vt:lpstr>
      <vt:lpstr>CIR v. Idaho Power Co., 418 U.S. 1 (1974)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/>
  <dc:creator>J Colon</dc:creator>
  <cp:keywords/>
  <dc:description/>
  <cp:lastModifiedBy>Colon, Jeffrey M.</cp:lastModifiedBy>
  <cp:revision>196</cp:revision>
  <cp:lastPrinted>2020-11-30T15:41:57Z</cp:lastPrinted>
  <dcterms:created xsi:type="dcterms:W3CDTF">2016-08-01T04:04:31Z</dcterms:created>
  <dcterms:modified xsi:type="dcterms:W3CDTF">2026-01-29T12:33:58Z</dcterms:modified>
  <cp:category/>
</cp:coreProperties>
</file>