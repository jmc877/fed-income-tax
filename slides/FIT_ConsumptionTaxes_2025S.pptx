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0"/>
  </p:notesMasterIdLst>
  <p:sldIdLst>
    <p:sldId id="295" r:id="rId2"/>
    <p:sldId id="256" r:id="rId3"/>
    <p:sldId id="296" r:id="rId4"/>
    <p:sldId id="297" r:id="rId5"/>
    <p:sldId id="298" r:id="rId6"/>
    <p:sldId id="299" r:id="rId7"/>
    <p:sldId id="300" r:id="rId8"/>
    <p:sldId id="301" r:id="rId9"/>
    <p:sldId id="303" r:id="rId10"/>
    <p:sldId id="304" r:id="rId11"/>
    <p:sldId id="305" r:id="rId12"/>
    <p:sldId id="306" r:id="rId13"/>
    <p:sldId id="310" r:id="rId14"/>
    <p:sldId id="307" r:id="rId15"/>
    <p:sldId id="311" r:id="rId16"/>
    <p:sldId id="312" r:id="rId17"/>
    <p:sldId id="313" r:id="rId18"/>
    <p:sldId id="314" r:id="rId19"/>
  </p:sldIdLst>
  <p:sldSz cx="12192000" cy="6858000"/>
  <p:notesSz cx="7010400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08"/>
    <p:restoredTop sz="96190"/>
  </p:normalViewPr>
  <p:slideViewPr>
    <p:cSldViewPr snapToGrid="0" snapToObjects="1">
      <p:cViewPr varScale="1">
        <p:scale>
          <a:sx n="123" d="100"/>
          <a:sy n="123" d="100"/>
        </p:scale>
        <p:origin x="76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lon, Jeffrey M." userId="615143b1-cdee-493d-9a9d-1565ce8666d9" providerId="ADAL" clId="{458F5B4D-4674-51EB-AE0A-4CE030354E61}"/>
    <pc:docChg chg="undo custSel modSld">
      <pc:chgData name="Colon, Jeffrey M." userId="615143b1-cdee-493d-9a9d-1565ce8666d9" providerId="ADAL" clId="{458F5B4D-4674-51EB-AE0A-4CE030354E61}" dt="2026-01-05T20:11:30.234" v="4" actId="20577"/>
      <pc:docMkLst>
        <pc:docMk/>
      </pc:docMkLst>
      <pc:sldChg chg="modSp mod">
        <pc:chgData name="Colon, Jeffrey M." userId="615143b1-cdee-493d-9a9d-1565ce8666d9" providerId="ADAL" clId="{458F5B4D-4674-51EB-AE0A-4CE030354E61}" dt="2026-01-05T20:11:30.234" v="4" actId="20577"/>
        <pc:sldMkLst>
          <pc:docMk/>
          <pc:sldMk cId="123558849" sldId="295"/>
        </pc:sldMkLst>
        <pc:spChg chg="mod">
          <ac:chgData name="Colon, Jeffrey M." userId="615143b1-cdee-493d-9a9d-1565ce8666d9" providerId="ADAL" clId="{458F5B4D-4674-51EB-AE0A-4CE030354E61}" dt="2026-01-05T20:11:30.234" v="4" actId="20577"/>
          <ac:spMkLst>
            <pc:docMk/>
            <pc:sldMk cId="123558849" sldId="295"/>
            <ac:spMk id="3" creationId="{00000000-0000-0000-0000-000000000000}"/>
          </ac:spMkLst>
        </pc:spChg>
      </pc:sldChg>
      <pc:sldChg chg="addSp delSp modSp mod addAnim delAnim">
        <pc:chgData name="Colon, Jeffrey M." userId="615143b1-cdee-493d-9a9d-1565ce8666d9" providerId="ADAL" clId="{458F5B4D-4674-51EB-AE0A-4CE030354E61}" dt="2026-01-05T20:10:10.792" v="2" actId="2085"/>
        <pc:sldMkLst>
          <pc:docMk/>
          <pc:sldMk cId="2735611943" sldId="310"/>
        </pc:sldMkLst>
        <pc:spChg chg="add del mod">
          <ac:chgData name="Colon, Jeffrey M." userId="615143b1-cdee-493d-9a9d-1565ce8666d9" providerId="ADAL" clId="{458F5B4D-4674-51EB-AE0A-4CE030354E61}" dt="2026-01-05T20:10:10.792" v="2" actId="2085"/>
          <ac:spMkLst>
            <pc:docMk/>
            <pc:sldMk cId="2735611943" sldId="310"/>
            <ac:spMk id="10" creationId="{EA77061D-E898-825D-5487-932845F230A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37840" cy="463408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1"/>
            <a:ext cx="3037840" cy="463408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r">
              <a:defRPr sz="1200"/>
            </a:lvl1pPr>
          </a:lstStyle>
          <a:p>
            <a:fld id="{83BC67FA-3E26-304D-BDBD-530C6272A0E0}" type="datetimeFigureOut">
              <a:rPr lang="en-US" smtClean="0"/>
              <a:t>1/5/26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3425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830" tIns="46415" rIns="92830" bIns="4641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44862"/>
            <a:ext cx="5608320" cy="3636705"/>
          </a:xfrm>
          <a:prstGeom prst="rect">
            <a:avLst/>
          </a:prstGeom>
        </p:spPr>
        <p:txBody>
          <a:bodyPr vert="horz" lIns="92830" tIns="46415" rIns="92830" bIns="46415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670"/>
            <a:ext cx="3037840" cy="463407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772670"/>
            <a:ext cx="3037840" cy="463407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r">
              <a:defRPr sz="1200"/>
            </a:lvl1pPr>
          </a:lstStyle>
          <a:p>
            <a:fld id="{BF72E6F7-09F5-B04E-8141-9A414430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690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73258D-F88C-F440-AD20-53E2DCDDB8B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84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2E6F7-09F5-B04E-8141-9A4144300CC5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64339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0" y="914400"/>
            <a:ext cx="12192000" cy="369888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fld id="{22D706CB-156B-8643-9A07-D8448DABBCBD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165600" y="6474733"/>
            <a:ext cx="3860800" cy="288925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59251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512064" y="533400"/>
            <a:ext cx="11277600" cy="5812064"/>
          </a:xfrm>
          <a:prstGeom prst="rect">
            <a:avLst/>
          </a:prstGeom>
        </p:spPr>
        <p:txBody>
          <a:bodyPr/>
          <a:lstStyle>
            <a:lvl1pPr marL="228600" indent="-228600" algn="just" defTabSz="9144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24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457200" indent="-22860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22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22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914400" indent="-228600" algn="just">
              <a:buClr>
                <a:srgbClr val="B01C2E"/>
              </a:buClr>
              <a:buSzPct val="60000"/>
              <a:buFont typeface="Arial" charset="0"/>
              <a:buChar char="•"/>
              <a:defRPr lang="en-US" sz="20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114300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41933"/>
            <a:ext cx="112776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marL="0" indent="0" algn="l">
              <a:tabLst>
                <a:tab pos="395288" algn="l"/>
              </a:tabLst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0"/>
          </p:nvPr>
        </p:nvSpPr>
        <p:spPr>
          <a:xfrm>
            <a:off x="11180064" y="6471105"/>
            <a:ext cx="609600" cy="365125"/>
          </a:xfrm>
        </p:spPr>
        <p:txBody>
          <a:bodyPr/>
          <a:lstStyle>
            <a:lvl1pPr algn="r">
              <a:defRPr/>
            </a:lvl1pPr>
          </a:lstStyle>
          <a:p>
            <a:fld id="{7B3E355C-57B9-BC4B-95D8-406A1F834537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 b="1" smtClean="0"/>
            </a:lvl1pPr>
          </a:lstStyle>
          <a:p>
            <a:pPr>
              <a:defRPr/>
            </a:pPr>
            <a:r>
              <a:rPr lang="en-US" dirty="0"/>
              <a:t>Introduction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1056713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463EAD6B-1B79-144E-A805-1CA6FF1F03F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2748039" y="5370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8748995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508000" y="3886200"/>
            <a:ext cx="111760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DBDD9035-58B9-F243-8D2E-5AB7C416733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9375077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508000" y="39319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fld id="{6C93E8D5-2692-0D44-9EA4-C6015F0C54D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620875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95527EB-3756-C241-BFD3-DBB1E111190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98184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2064" y="805002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814835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15" name="Rectangle 14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2"/>
            <a:ext cx="11277600" cy="3895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70938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62543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>
            <a:off x="5384800" y="3046413"/>
            <a:ext cx="13208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28800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652385A1-7A9F-1D44-AA51-16856D64E5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0245206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/>
          <p:cNvSpPr/>
          <p:nvPr userDrawn="1"/>
        </p:nvSpPr>
        <p:spPr bwMode="auto">
          <a:xfrm>
            <a:off x="5359125" y="2692959"/>
            <a:ext cx="1326383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Right Arrow 11"/>
          <p:cNvSpPr/>
          <p:nvPr userDrawn="1"/>
        </p:nvSpPr>
        <p:spPr bwMode="auto">
          <a:xfrm rot="10800000">
            <a:off x="5427337" y="3778176"/>
            <a:ext cx="1353183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0A6B8188-A85F-5349-B14D-08361E6A724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210112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180753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141732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7C6F7C23-5FF9-2A4B-BF08-C1294322DB5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507697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50501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411480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06494A95-A7E5-E34F-8DB1-F10A4839B0B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2760613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61912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5016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5016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61912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61912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016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501651" y="3302419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5016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1912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6191251" y="3302418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61912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/>
            </a:lvl1pPr>
          </a:lstStyle>
          <a:p>
            <a:fld id="{A23329EE-AB34-E748-89A3-8E74FFF398F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2"/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1179933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601565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513036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7408972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9747251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601565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84480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513036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7408972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9747251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1EB3DA79-8920-3645-A529-9AD16B41E65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9" name="Footer Placeholder 12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448545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609600" y="1417320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609600" y="3065544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609600" y="4713767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417320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3065543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4713767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055F7767-1EA1-1B4C-AF44-6A3FCE36527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1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7416052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563034" y="1397000"/>
            <a:ext cx="2317751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747434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114120" y="1397000"/>
            <a:ext cx="2317749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4931834" y="1397000"/>
            <a:ext cx="2315633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9298521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563033" y="2954338"/>
            <a:ext cx="2863851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291418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8748186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6019802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575734" y="4497388"/>
            <a:ext cx="3754967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4226985" y="4497388"/>
            <a:ext cx="3754967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7878234" y="4497388"/>
            <a:ext cx="3754967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/>
            </a:lvl1pPr>
          </a:lstStyle>
          <a:p>
            <a:fld id="{48E524AC-D0C7-2340-84EA-A4DF70E8214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3344818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344304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2360778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3377252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44800" y="4393726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5410200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609600" y="1344304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2357366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609600" y="3370428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609600" y="4383490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609600" y="5396552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19846C2F-D19C-FA45-A159-B087F18BCDE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787942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/>
          <p:cNvSpPr>
            <a:spLocks noChangeShapeType="1"/>
          </p:cNvSpPr>
          <p:nvPr/>
        </p:nvSpPr>
        <p:spPr bwMode="gray">
          <a:xfrm>
            <a:off x="58928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6" name="Line 115"/>
          <p:cNvSpPr>
            <a:spLocks noChangeShapeType="1"/>
          </p:cNvSpPr>
          <p:nvPr userDrawn="1"/>
        </p:nvSpPr>
        <p:spPr bwMode="gray">
          <a:xfrm>
            <a:off x="30480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7" name="Line 118"/>
          <p:cNvSpPr>
            <a:spLocks noChangeShapeType="1"/>
          </p:cNvSpPr>
          <p:nvPr/>
        </p:nvSpPr>
        <p:spPr bwMode="gray">
          <a:xfrm>
            <a:off x="90043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grpSp>
        <p:nvGrpSpPr>
          <p:cNvPr id="18" name="Group 123"/>
          <p:cNvGrpSpPr>
            <a:grpSpLocks/>
          </p:cNvGrpSpPr>
          <p:nvPr userDrawn="1"/>
        </p:nvGrpSpPr>
        <p:grpSpPr bwMode="auto">
          <a:xfrm>
            <a:off x="611718" y="3478213"/>
            <a:ext cx="10358967" cy="182562"/>
            <a:chOff x="289" y="2191"/>
            <a:chExt cx="4894" cy="115"/>
          </a:xfrm>
        </p:grpSpPr>
        <p:grpSp>
          <p:nvGrpSpPr>
            <p:cNvPr id="19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4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5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6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7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8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9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0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1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2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3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4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5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0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1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2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3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4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5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6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7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8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9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0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1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2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1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8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9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0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1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2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3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4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5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6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7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8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9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22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66" name="Line 125"/>
          <p:cNvSpPr>
            <a:spLocks noChangeShapeType="1"/>
          </p:cNvSpPr>
          <p:nvPr userDrawn="1"/>
        </p:nvSpPr>
        <p:spPr bwMode="gray">
          <a:xfrm>
            <a:off x="4572000" y="3651251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7" name="Line 4"/>
          <p:cNvSpPr>
            <a:spLocks noChangeShapeType="1"/>
          </p:cNvSpPr>
          <p:nvPr userDrawn="1"/>
        </p:nvSpPr>
        <p:spPr bwMode="gray">
          <a:xfrm>
            <a:off x="2235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8" name="Line 108"/>
          <p:cNvSpPr>
            <a:spLocks noChangeShapeType="1"/>
          </p:cNvSpPr>
          <p:nvPr userDrawn="1"/>
        </p:nvSpPr>
        <p:spPr bwMode="gray">
          <a:xfrm>
            <a:off x="74168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9" name="Line 111"/>
          <p:cNvSpPr>
            <a:spLocks noChangeShapeType="1"/>
          </p:cNvSpPr>
          <p:nvPr userDrawn="1"/>
        </p:nvSpPr>
        <p:spPr bwMode="gray">
          <a:xfrm>
            <a:off x="10261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0" name="Line 139"/>
          <p:cNvSpPr>
            <a:spLocks noChangeShapeType="1"/>
          </p:cNvSpPr>
          <p:nvPr userDrawn="1"/>
        </p:nvSpPr>
        <p:spPr bwMode="gray">
          <a:xfrm>
            <a:off x="4375151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1" name="AutoShape 3"/>
          <p:cNvSpPr>
            <a:spLocks noChangeArrowheads="1"/>
          </p:cNvSpPr>
          <p:nvPr userDrawn="1"/>
        </p:nvSpPr>
        <p:spPr bwMode="gray">
          <a:xfrm>
            <a:off x="603251" y="3413125"/>
            <a:ext cx="10985500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91440" bIns="9144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nl-NL" altLang="en-US" sz="1000" b="1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/>
          <p:cNvGrpSpPr>
            <a:grpSpLocks/>
          </p:cNvGrpSpPr>
          <p:nvPr userDrawn="1"/>
        </p:nvGrpSpPr>
        <p:grpSpPr bwMode="auto">
          <a:xfrm>
            <a:off x="814918" y="3460751"/>
            <a:ext cx="10358967" cy="182563"/>
            <a:chOff x="289" y="2191"/>
            <a:chExt cx="4894" cy="115"/>
          </a:xfrm>
        </p:grpSpPr>
        <p:grpSp>
          <p:nvGrpSpPr>
            <p:cNvPr id="73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8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9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0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1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2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3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4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5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6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7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8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9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4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5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6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7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8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9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0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1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2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3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4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5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6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5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2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3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4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5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6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7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8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9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0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1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2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3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76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7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8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9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80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3381155" y="12954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4224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47752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707136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963168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12192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92456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20320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64008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3556000" y="5181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79883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48768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132B4441-E44F-854A-A9C3-46F08E0FCFC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1" name="Footer Placeholder 133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3170367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1219201" y="129540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219201" y="1800013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219201" y="2304626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1219201" y="2809239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1219201" y="3313852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1219201" y="3818465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1219201" y="4323078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1219201" y="4827691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609600" y="129540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609600" y="1800013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609600" y="2304626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609600" y="2809239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609600" y="3313852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609600" y="3818465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609600" y="4323078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609600" y="4827691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10972800" y="129540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10972800" y="1800013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10972800" y="2304626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10972800" y="2809239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10972800" y="3313852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10972800" y="3818465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10972800" y="4323078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10972800" y="4827691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1215702" y="5332304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606100" y="5332304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10969300" y="5332304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1215702" y="583692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606100" y="583692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10969300" y="583692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/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/>
            </a:lvl1pPr>
          </a:lstStyle>
          <a:p>
            <a:fld id="{4A9EBD57-3091-C548-9F5E-83F63CC3338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3" name="Footer Placeholder 12"/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455457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1335024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609600" y="3744363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2540000" y="1348565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2540000" y="3763963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2540000" y="2199167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2540000" y="4619625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59200" y="1348565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59200" y="3763963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59200" y="2199167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3759200" y="4619625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1622A13A-1CFD-CA4E-A8DD-C641C07281E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3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7444763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/>
          <p:cNvSpPr>
            <a:spLocks/>
          </p:cNvSpPr>
          <p:nvPr userDrawn="1"/>
        </p:nvSpPr>
        <p:spPr bwMode="auto">
          <a:xfrm>
            <a:off x="6195484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8" name="Freeform 4"/>
          <p:cNvSpPr>
            <a:spLocks/>
          </p:cNvSpPr>
          <p:nvPr userDrawn="1"/>
        </p:nvSpPr>
        <p:spPr bwMode="auto">
          <a:xfrm>
            <a:off x="1003300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3122762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8315844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1002811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195893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9B3A2EF8-18A0-3548-8284-3CDE95E84B9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0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3240263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/>
          <p:cNvSpPr>
            <a:spLocks/>
          </p:cNvSpPr>
          <p:nvPr userDrawn="1"/>
        </p:nvSpPr>
        <p:spPr bwMode="auto">
          <a:xfrm>
            <a:off x="588434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2" name="Freeform 4"/>
          <p:cNvSpPr>
            <a:spLocks/>
          </p:cNvSpPr>
          <p:nvPr userDrawn="1"/>
        </p:nvSpPr>
        <p:spPr bwMode="auto">
          <a:xfrm>
            <a:off x="3403600" y="1911351"/>
            <a:ext cx="2559051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3" name="Freeform 4"/>
          <p:cNvSpPr>
            <a:spLocks/>
          </p:cNvSpPr>
          <p:nvPr userDrawn="1"/>
        </p:nvSpPr>
        <p:spPr bwMode="auto">
          <a:xfrm>
            <a:off x="6197601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4" name="Freeform 4"/>
          <p:cNvSpPr>
            <a:spLocks/>
          </p:cNvSpPr>
          <p:nvPr userDrawn="1"/>
        </p:nvSpPr>
        <p:spPr bwMode="auto">
          <a:xfrm>
            <a:off x="9027585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563115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4377013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7171436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10002267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89279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403177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6197600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9028431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6D75ED15-758A-614E-A17B-56CD5E692F6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525267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1104" y="1450181"/>
            <a:ext cx="3462528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4364739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8278372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364736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8278368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51104" y="2057402"/>
            <a:ext cx="3364992" cy="276999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8A4AF9FF-8501-8442-BA34-6C86C862CF8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77847825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9505696" y="1493520"/>
            <a:ext cx="1975104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64592" indent="-164592" algn="l">
              <a:lnSpc>
                <a:spcPts val="140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1200" b="0">
                <a:solidFill>
                  <a:srgbClr val="000000"/>
                </a:solidFill>
              </a:defRPr>
            </a:lvl1pPr>
            <a:lvl2pPr marL="164592" indent="0" algn="l">
              <a:spcBef>
                <a:spcPts val="700"/>
              </a:spcBef>
              <a:buNone/>
              <a:defRPr sz="1200" b="0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609600" y="16002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1200" b="1" baseline="0">
                <a:solidFill>
                  <a:srgbClr val="FFFFFF"/>
                </a:solidFill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609600" y="48768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609600" y="32385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922016" y="16002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922016" y="32385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922016" y="48768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00398512-78EB-D84B-88E3-8EFD360D49E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004918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/>
          <p:cNvSpPr>
            <a:spLocks noChangeArrowheads="1"/>
          </p:cNvSpPr>
          <p:nvPr userDrawn="1"/>
        </p:nvSpPr>
        <p:spPr bwMode="auto">
          <a:xfrm>
            <a:off x="912284" y="2635250"/>
            <a:ext cx="10369549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91440" bIns="9144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 sz="1800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40208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609600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40208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609600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B47071-B393-DC4F-9921-408D035EE57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2098441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>
            <a:spLocks/>
          </p:cNvSpPr>
          <p:nvPr userDrawn="1"/>
        </p:nvSpPr>
        <p:spPr bwMode="auto">
          <a:xfrm>
            <a:off x="5846233" y="3341688"/>
            <a:ext cx="501651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72000" tIns="72000" rIns="72000" bIns="72000" anchor="ctr"/>
          <a:lstStyle/>
          <a:p>
            <a:endParaRPr lang="en-US" sz="180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13536" y="1417320"/>
            <a:ext cx="4047744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7022169" y="1417320"/>
            <a:ext cx="407212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1113536" y="1874520"/>
            <a:ext cx="438912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6705177" y="1874520"/>
            <a:ext cx="438912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637242-61C1-4C47-AFEF-079B86936FE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179405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8242300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646176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3556000" y="18288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3556000" y="242316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3556000" y="301752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3556000" y="361188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3556000" y="420624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3556000" y="48006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3352800" y="1981200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3352800" y="2570074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3352800" y="315894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3352800" y="3747822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3352800" y="4336696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3352800" y="492556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6F716D94-026E-1240-A247-91A0127FD88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477543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528320" y="160020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495040" y="160020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528320" y="274828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495040" y="274828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28320" y="389636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495040" y="389636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6355" y="504444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3503075" y="504444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DDD5FA0E-3EAB-CB47-B428-C2E5915BFD6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6570538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1187196" y="794005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149600" y="1371600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149600" y="2474977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149600" y="3578353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149600" y="4681728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1187196" y="1897381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1187196" y="3000757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1187196" y="4104132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4835DA82-056E-9542-8819-BE1B86DFF07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131279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/>
          <p:cNvSpPr>
            <a:spLocks noChangeArrowheads="1"/>
          </p:cNvSpPr>
          <p:nvPr userDrawn="1"/>
        </p:nvSpPr>
        <p:spPr bwMode="auto">
          <a:xfrm rot="5400000">
            <a:off x="7797801" y="3117850"/>
            <a:ext cx="4406900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AutoShape 4"/>
          <p:cNvSpPr>
            <a:spLocks noChangeArrowheads="1"/>
          </p:cNvSpPr>
          <p:nvPr userDrawn="1"/>
        </p:nvSpPr>
        <p:spPr bwMode="auto">
          <a:xfrm rot="5400000">
            <a:off x="-277813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3" name="AutoShape 5"/>
          <p:cNvSpPr>
            <a:spLocks noChangeArrowheads="1"/>
          </p:cNvSpPr>
          <p:nvPr userDrawn="1"/>
        </p:nvSpPr>
        <p:spPr bwMode="auto">
          <a:xfrm rot="5400000">
            <a:off x="1741488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AutoShape 6"/>
          <p:cNvSpPr>
            <a:spLocks noChangeArrowheads="1"/>
          </p:cNvSpPr>
          <p:nvPr userDrawn="1"/>
        </p:nvSpPr>
        <p:spPr bwMode="auto">
          <a:xfrm rot="5400000">
            <a:off x="3758672" y="3122613"/>
            <a:ext cx="4416425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AutoShape 7"/>
          <p:cNvSpPr>
            <a:spLocks noChangeArrowheads="1"/>
          </p:cNvSpPr>
          <p:nvPr userDrawn="1"/>
        </p:nvSpPr>
        <p:spPr bwMode="auto">
          <a:xfrm rot="5400000">
            <a:off x="5777972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10160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30353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50524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70717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9086851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812800" y="21336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812800" y="33909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812800" y="4648200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4755A724-3117-D848-90FF-6F79FEC2065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87194213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4364736" y="1444752"/>
            <a:ext cx="3462528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7160768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812800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7160768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812800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7160768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812800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7160768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812800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/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/>
            </a:lvl1pPr>
          </a:lstStyle>
          <a:p>
            <a:fld id="{BA6B416F-5AE6-D74C-AE38-5D34E63DFA9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2"/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2354106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331200" y="1420504"/>
            <a:ext cx="3450336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15568">
              <a:buClr>
                <a:srgbClr val="B01C1A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70560" y="15544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70560" y="27482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70560" y="39420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670560" y="51358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/>
            </a:lvl1pPr>
          </a:lstStyle>
          <a:p>
            <a:fld id="{12EFD6B5-614C-464C-AC16-8E45A0815B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70695512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406400" y="2362200"/>
            <a:ext cx="8156448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406400" y="3491484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6400" y="4620768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8548577" y="1417320"/>
            <a:ext cx="280416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5854700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3698748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542796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542796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3698748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5854700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8548577" y="1861185"/>
            <a:ext cx="280416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08AE5534-AA48-F74E-87DE-645A72BA9DD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631887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/>
          <p:cNvSpPr>
            <a:spLocks/>
          </p:cNvSpPr>
          <p:nvPr userDrawn="1"/>
        </p:nvSpPr>
        <p:spPr bwMode="auto">
          <a:xfrm>
            <a:off x="4091518" y="1981201"/>
            <a:ext cx="3382433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17" name="Freeform 13"/>
          <p:cNvSpPr>
            <a:spLocks/>
          </p:cNvSpPr>
          <p:nvPr userDrawn="1"/>
        </p:nvSpPr>
        <p:spPr bwMode="auto">
          <a:xfrm>
            <a:off x="609601" y="1982789"/>
            <a:ext cx="3373967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1" name="Freeform 14"/>
          <p:cNvSpPr>
            <a:spLocks/>
          </p:cNvSpPr>
          <p:nvPr userDrawn="1"/>
        </p:nvSpPr>
        <p:spPr bwMode="auto">
          <a:xfrm>
            <a:off x="7579785" y="1981201"/>
            <a:ext cx="3829049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7574514" y="1983087"/>
            <a:ext cx="383432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091412" y="1983087"/>
            <a:ext cx="3565957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4038600"/>
            <a:ext cx="107696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609600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6114371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609600" y="1417320"/>
            <a:ext cx="692505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7541684" y="1417325"/>
            <a:ext cx="4047744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342900" marR="0" indent="-34290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1983087"/>
            <a:ext cx="3565957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609600" y="1981200"/>
            <a:ext cx="3297573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4192430" y="1988239"/>
            <a:ext cx="3183381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343400"/>
            <a:ext cx="107696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3736" indent="-173736">
              <a:lnSpc>
                <a:spcPct val="95000"/>
              </a:lnSpc>
              <a:spcBef>
                <a:spcPts val="720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7472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521208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9144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7683241" y="1987175"/>
            <a:ext cx="372559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E70D8206-912D-3041-8A60-C5747B4B98E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93213104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/>
          <p:cNvSpPr/>
          <p:nvPr userDrawn="1"/>
        </p:nvSpPr>
        <p:spPr bwMode="auto">
          <a:xfrm>
            <a:off x="7342718" y="1755775"/>
            <a:ext cx="905933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117475" eaLnBrk="0" hangingPunct="0">
              <a:lnSpc>
                <a:spcPct val="95000"/>
              </a:lnSpc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399164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63711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3991647" y="1290638"/>
            <a:ext cx="316992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8400511" y="1290638"/>
            <a:ext cx="316992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637117" y="1290638"/>
            <a:ext cx="316992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759037" y="173126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118872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759037" y="235712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759037" y="2982976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59037" y="3608832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759037" y="4234688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759037" y="548640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759037" y="486054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4113567" y="174345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4113567" y="236931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4113567" y="2995168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4113567" y="3621024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4113567" y="4246880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4113567" y="549859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4113567" y="487273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8400511" y="174345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8400511" y="236931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8400511" y="2995168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8400511" y="3621024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8400511" y="4246880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8400511" y="549859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8400511" y="487273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/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/>
            </a:lvl1pPr>
          </a:lstStyle>
          <a:p>
            <a:fld id="{250D9D91-D592-1043-AF8D-0FC015913F1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5" name="Footer Placeholder 33"/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4337482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/>
          <p:cNvSpPr/>
          <p:nvPr userDrawn="1"/>
        </p:nvSpPr>
        <p:spPr bwMode="auto">
          <a:xfrm>
            <a:off x="7133167" y="1497014"/>
            <a:ext cx="905933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9549384" y="-97536"/>
            <a:ext cx="640080" cy="3425952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156448" y="1981200"/>
            <a:ext cx="3425952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="1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="1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 b="1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5080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5080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5080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7432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7432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7432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49784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49784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49784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09CF501B-85A3-0748-9525-578425C4928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9855464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/>
          <p:cNvCxnSpPr>
            <a:cxnSpLocks noChangeShapeType="1"/>
          </p:cNvCxnSpPr>
          <p:nvPr userDrawn="1"/>
        </p:nvCxnSpPr>
        <p:spPr bwMode="auto">
          <a:xfrm rot="16200000" flipH="1">
            <a:off x="1340909" y="2289175"/>
            <a:ext cx="768350" cy="850900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/>
          <p:cNvCxnSpPr>
            <a:cxnSpLocks noChangeShapeType="1"/>
          </p:cNvCxnSpPr>
          <p:nvPr userDrawn="1"/>
        </p:nvCxnSpPr>
        <p:spPr bwMode="auto">
          <a:xfrm rot="16200000" flipH="1">
            <a:off x="2881313" y="3486680"/>
            <a:ext cx="752475" cy="833967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/>
          <p:cNvCxnSpPr>
            <a:cxnSpLocks noChangeShapeType="1"/>
          </p:cNvCxnSpPr>
          <p:nvPr userDrawn="1"/>
        </p:nvCxnSpPr>
        <p:spPr bwMode="auto">
          <a:xfrm rot="16200000" flipH="1">
            <a:off x="4429126" y="4714875"/>
            <a:ext cx="698500" cy="793751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5175608" y="4986243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638822" y="1441358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2150310" y="2622986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3674314" y="3804614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0C10D6D8-3B97-854D-B9A2-DD1E2B17F6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61958301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 userDrawn="1"/>
        </p:nvSpPr>
        <p:spPr bwMode="auto">
          <a:xfrm>
            <a:off x="950384" y="1782764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8" name="Parallelogram 7"/>
          <p:cNvSpPr/>
          <p:nvPr userDrawn="1"/>
        </p:nvSpPr>
        <p:spPr bwMode="auto">
          <a:xfrm>
            <a:off x="950384" y="5300664"/>
            <a:ext cx="10625667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Parallelogram 13"/>
          <p:cNvSpPr/>
          <p:nvPr userDrawn="1"/>
        </p:nvSpPr>
        <p:spPr bwMode="auto">
          <a:xfrm>
            <a:off x="950384" y="4129089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Parallelogram 14"/>
          <p:cNvSpPr/>
          <p:nvPr userDrawn="1"/>
        </p:nvSpPr>
        <p:spPr bwMode="auto">
          <a:xfrm>
            <a:off x="950384" y="2955925"/>
            <a:ext cx="10625667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944921" y="1501649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944921" y="5019703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marR="0" indent="-176213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944921" y="3847016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944921" y="2674335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97E92AD8-7AD1-8240-8596-9839AB315E2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4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9958287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/>
          <p:cNvCxnSpPr>
            <a:cxnSpLocks noChangeShapeType="1"/>
          </p:cNvCxnSpPr>
          <p:nvPr userDrawn="1"/>
        </p:nvCxnSpPr>
        <p:spPr bwMode="auto">
          <a:xfrm>
            <a:off x="637117" y="3294064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637117" y="4670425"/>
            <a:ext cx="10651067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>
            <a:off x="637117" y="6046789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2110661" y="1290643"/>
            <a:ext cx="2494291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9195340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6819046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442752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2068960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609600" y="343666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609600" y="480248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110661" y="2068960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110661" y="344150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2110661" y="480732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442752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442752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4442752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19045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819045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6819045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195340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9195340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9195340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/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>
              <a:defRPr/>
            </a:lvl1pPr>
          </a:lstStyle>
          <a:p>
            <a:fld id="{BC9105C1-E9DE-DA45-BFF7-4F496C07EBD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6" name="Footer Placeholder 37"/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3327755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/>
          <p:cNvSpPr>
            <a:spLocks noChangeArrowheads="1"/>
          </p:cNvSpPr>
          <p:nvPr userDrawn="1"/>
        </p:nvSpPr>
        <p:spPr bwMode="auto">
          <a:xfrm>
            <a:off x="2868085" y="1277938"/>
            <a:ext cx="8824383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2880784" y="1568450"/>
            <a:ext cx="8811683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 rot="16200000" flipH="1">
            <a:off x="554302" y="3602303"/>
            <a:ext cx="4665662" cy="16933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/>
          <p:cNvGrpSpPr>
            <a:grpSpLocks/>
          </p:cNvGrpSpPr>
          <p:nvPr userDrawn="1"/>
        </p:nvGrpSpPr>
        <p:grpSpPr bwMode="auto">
          <a:xfrm>
            <a:off x="3445933" y="1576388"/>
            <a:ext cx="7374467" cy="4367212"/>
            <a:chOff x="2585007" y="1576462"/>
            <a:chExt cx="5530617" cy="4041195"/>
          </a:xfrm>
        </p:grpSpPr>
        <p:cxnSp>
          <p:nvCxnSpPr>
            <p:cNvPr id="42" name="Straight Connector 12"/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/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/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/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/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/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/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/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/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/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/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/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/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/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/>
          <p:cNvSpPr>
            <a:spLocks noChangeArrowheads="1"/>
          </p:cNvSpPr>
          <p:nvPr userDrawn="1"/>
        </p:nvSpPr>
        <p:spPr bwMode="auto">
          <a:xfrm>
            <a:off x="624417" y="1860550"/>
            <a:ext cx="10759016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/>
          <p:cNvSpPr>
            <a:spLocks noChangeArrowheads="1"/>
          </p:cNvSpPr>
          <p:nvPr userDrawn="1"/>
        </p:nvSpPr>
        <p:spPr bwMode="auto">
          <a:xfrm>
            <a:off x="624418" y="1277938"/>
            <a:ext cx="2256367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/>
          <p:cNvCxnSpPr>
            <a:cxnSpLocks noChangeShapeType="1"/>
          </p:cNvCxnSpPr>
          <p:nvPr userDrawn="1"/>
        </p:nvCxnSpPr>
        <p:spPr bwMode="auto">
          <a:xfrm>
            <a:off x="630767" y="1277938"/>
            <a:ext cx="22352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879952" y="1282930"/>
            <a:ext cx="8496387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02149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88796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886892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345419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6290700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685800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15609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572339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855990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912720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742530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992604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694508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1026180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1082911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730741" y="1548247"/>
            <a:ext cx="860776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868569" y="1278088"/>
            <a:ext cx="860776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711200" y="1905000"/>
            <a:ext cx="207264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73736" indent="-173736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/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>
              <a:defRPr/>
            </a:lvl1pPr>
          </a:lstStyle>
          <a:p>
            <a:fld id="{A2AEA599-6C77-BA4A-9F89-7B2425581CA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4" name="Footer Placeholder 47"/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30598318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/>
          <p:cNvSpPr>
            <a:spLocks noChangeArrowheads="1"/>
          </p:cNvSpPr>
          <p:nvPr userDrawn="1"/>
        </p:nvSpPr>
        <p:spPr bwMode="auto">
          <a:xfrm>
            <a:off x="2074333" y="1828801"/>
            <a:ext cx="9508067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sp>
        <p:nvSpPr>
          <p:cNvPr id="71" name="Rectangle 13"/>
          <p:cNvSpPr>
            <a:spLocks noChangeArrowheads="1"/>
          </p:cNvSpPr>
          <p:nvPr userDrawn="1"/>
        </p:nvSpPr>
        <p:spPr bwMode="auto">
          <a:xfrm>
            <a:off x="596900" y="2189163"/>
            <a:ext cx="1464733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grpSp>
        <p:nvGrpSpPr>
          <p:cNvPr id="72" name="Group 84"/>
          <p:cNvGrpSpPr>
            <a:grpSpLocks/>
          </p:cNvGrpSpPr>
          <p:nvPr userDrawn="1"/>
        </p:nvGrpSpPr>
        <p:grpSpPr bwMode="auto">
          <a:xfrm>
            <a:off x="590551" y="1819275"/>
            <a:ext cx="10979149" cy="3657600"/>
            <a:chOff x="443344" y="1819866"/>
            <a:chExt cx="8234523" cy="3657600"/>
          </a:xfrm>
        </p:grpSpPr>
        <p:grpSp>
          <p:nvGrpSpPr>
            <p:cNvPr id="73" name="Group 83"/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/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/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/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/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/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/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/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/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/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/>
          <p:cNvSpPr txBox="1">
            <a:spLocks noChangeArrowheads="1"/>
          </p:cNvSpPr>
          <p:nvPr userDrawn="1"/>
        </p:nvSpPr>
        <p:spPr bwMode="auto">
          <a:xfrm>
            <a:off x="683685" y="1566864"/>
            <a:ext cx="117898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/>
          <p:cNvSpPr txBox="1">
            <a:spLocks noChangeArrowheads="1"/>
          </p:cNvSpPr>
          <p:nvPr userDrawn="1"/>
        </p:nvSpPr>
        <p:spPr bwMode="auto">
          <a:xfrm>
            <a:off x="683685" y="1939925"/>
            <a:ext cx="1178983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/>
          <p:cNvCxnSpPr>
            <a:cxnSpLocks noChangeShapeType="1"/>
          </p:cNvCxnSpPr>
          <p:nvPr userDrawn="1"/>
        </p:nvCxnSpPr>
        <p:spPr bwMode="auto">
          <a:xfrm>
            <a:off x="590551" y="2200275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/>
          <p:cNvCxnSpPr>
            <a:cxnSpLocks noChangeShapeType="1"/>
          </p:cNvCxnSpPr>
          <p:nvPr userDrawn="1"/>
        </p:nvCxnSpPr>
        <p:spPr bwMode="auto">
          <a:xfrm>
            <a:off x="590551" y="5486400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/>
          <p:cNvSpPr>
            <a:spLocks/>
          </p:cNvSpPr>
          <p:nvPr userDrawn="1"/>
        </p:nvSpPr>
        <p:spPr bwMode="auto">
          <a:xfrm>
            <a:off x="2074334" y="1468439"/>
            <a:ext cx="9469967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cxnSp>
        <p:nvCxnSpPr>
          <p:cNvPr id="100" name="Straight Connector 42"/>
          <p:cNvCxnSpPr>
            <a:cxnSpLocks noChangeShapeType="1"/>
          </p:cNvCxnSpPr>
          <p:nvPr userDrawn="1"/>
        </p:nvCxnSpPr>
        <p:spPr bwMode="auto">
          <a:xfrm>
            <a:off x="2061634" y="1828800"/>
            <a:ext cx="865717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061633" y="1835813"/>
            <a:ext cx="86121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937751" y="1835813"/>
            <a:ext cx="86251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3800274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4662791" y="1835813"/>
            <a:ext cx="85603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18824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6394315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7250347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8112867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8975387" y="1835813"/>
            <a:ext cx="86252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9844389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10700427" y="1835813"/>
            <a:ext cx="87089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25653" y="223026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625653" y="259557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625653" y="296088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625653" y="332619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625653" y="369150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625653" y="405681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625653" y="5152742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625653" y="442212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625653" y="478743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2083023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94301C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93775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380027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466279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55188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6394315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725034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811286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897538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9844389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107004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2061633" y="232170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2061633" y="268701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2061633" y="305232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2061633" y="3417630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2061633" y="3782940"/>
            <a:ext cx="6096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2061633" y="414825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2061633" y="451356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2061633" y="487887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2061633" y="5244182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4582160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4064000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7140089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6621929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/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>
              <a:defRPr/>
            </a:lvl1pPr>
          </a:lstStyle>
          <a:p>
            <a:fld id="{D003C6ED-C4A5-154D-A951-DFA096D6467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2" name="Footer Placeholder 79"/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0644388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/>
          <p:cNvCxnSpPr>
            <a:cxnSpLocks noChangeShapeType="1"/>
          </p:cNvCxnSpPr>
          <p:nvPr userDrawn="1"/>
        </p:nvCxnSpPr>
        <p:spPr bwMode="auto">
          <a:xfrm>
            <a:off x="2372785" y="5981700"/>
            <a:ext cx="7327900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89717" y="5453936"/>
            <a:ext cx="7315200" cy="474325"/>
          </a:xfrm>
          <a:prstGeom prst="rect">
            <a:avLst/>
          </a:prstGeom>
        </p:spPr>
        <p:txBody>
          <a:bodyPr/>
          <a:lstStyle>
            <a:lvl1pPr algn="l">
              <a:defRPr sz="1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66755"/>
            <a:ext cx="73152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6042020"/>
            <a:ext cx="73152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1026004" y="0"/>
            <a:ext cx="10139992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22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614CE4E3-D3DE-AB41-A281-30813EB547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35593479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603254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603254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603254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9337923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9337923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9337923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9337923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603254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1B28FF10-2575-714D-9D0B-AB6D45C94EA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70181634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212506" y="1419225"/>
            <a:ext cx="3376247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1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1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1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1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1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B598768-D1F4-594C-B51E-99B1ED0603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94692366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766735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19B113F-1BA8-CA4E-A6B3-92D1D8C0C88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6506504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09601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7697687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24011BE-5C53-0E48-93A9-5E9857491FB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9128295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2768600" y="2667000"/>
            <a:ext cx="88392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3" name="TextBox 13"/>
          <p:cNvSpPr txBox="1">
            <a:spLocks noChangeArrowheads="1"/>
          </p:cNvSpPr>
          <p:nvPr userDrawn="1"/>
        </p:nvSpPr>
        <p:spPr bwMode="auto">
          <a:xfrm>
            <a:off x="27559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/>
          <p:cNvSpPr txBox="1">
            <a:spLocks noChangeArrowheads="1"/>
          </p:cNvSpPr>
          <p:nvPr userDrawn="1"/>
        </p:nvSpPr>
        <p:spPr bwMode="auto">
          <a:xfrm>
            <a:off x="73406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756408" y="2743200"/>
            <a:ext cx="8851392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Char char=" "/>
              <a:defRPr sz="1000" b="0" baseline="0">
                <a:latin typeface="+mn-lt"/>
              </a:defRPr>
            </a:lvl1pPr>
            <a:lvl2pPr marL="0" indent="0">
              <a:lnSpc>
                <a:spcPts val="1200"/>
              </a:lnSpc>
              <a:spcBef>
                <a:spcPts val="0"/>
              </a:spcBef>
              <a:spcAft>
                <a:spcPts val="1200"/>
              </a:spcAft>
              <a:buFont typeface="Arial" pitchFamily="34" charset="0"/>
              <a:buChar char=" "/>
              <a:defRPr sz="100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228600" indent="-228600">
              <a:buClr>
                <a:srgbClr val="B01C2E"/>
              </a:buClr>
              <a:buFont typeface="Wingdings 2" pitchFamily="18" charset="2"/>
              <a:buChar char="¡"/>
              <a:defRPr sz="1000" baseline="0">
                <a:latin typeface="Arial" pitchFamily="34" charset="0"/>
              </a:defRPr>
            </a:lvl3pPr>
            <a:lvl4pPr marL="4572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4pPr>
            <a:lvl5pPr marL="6858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607483" y="1108074"/>
            <a:ext cx="1560576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7487" y="2722996"/>
            <a:ext cx="2034116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1000"/>
              </a:lnSpc>
              <a:buNone/>
              <a:defRPr sz="1000" b="0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7340600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756408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756408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7340600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756408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NSimSun" pitchFamily="49" charset="-122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340600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Arial" pitchFamily="34" charset="0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3D17329F-BDC0-3444-A6CB-5CFB4AFF00F8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11366941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76931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769313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623842" y="1246188"/>
            <a:ext cx="10917767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12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93062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930622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5133498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5133498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7322517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7322514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9525389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9525389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76931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769313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93062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930622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5133498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5133498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7322517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7322514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9525389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9525389" y="3962401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516D5A61-1BB2-3C40-A809-0A00CE29D5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8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22988937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/>
          <p:cNvSpPr txBox="1">
            <a:spLocks noChangeArrowheads="1"/>
          </p:cNvSpPr>
          <p:nvPr/>
        </p:nvSpPr>
        <p:spPr bwMode="auto">
          <a:xfrm>
            <a:off x="588433" y="14398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PARTNERS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>
            <a:off x="584201" y="18970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588433" y="32686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ASSOCIATES</a:t>
            </a:r>
          </a:p>
        </p:txBody>
      </p:sp>
      <p:sp>
        <p:nvSpPr>
          <p:cNvPr id="13" name="Line 24"/>
          <p:cNvSpPr>
            <a:spLocks noChangeShapeType="1"/>
          </p:cNvSpPr>
          <p:nvPr/>
        </p:nvSpPr>
        <p:spPr bwMode="auto">
          <a:xfrm>
            <a:off x="584201" y="37258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3478108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6372015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9265920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975104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6299200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975104" y="4800600"/>
            <a:ext cx="829056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584201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B0AC1651-679E-F444-9932-326657929C5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58711758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77461BCF-BBA5-5E4A-ABD5-3E5D9382F9D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38692242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31BEBA66-216E-7243-B012-B44CAA5F986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23024348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601133" y="6020181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601133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818451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5035768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7253085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9470400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818451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818451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5035768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5035768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7253085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725308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9470400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4A3DAED-98CA-ED44-BD8D-010557C4E8A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92079638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5123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65CD288-24B3-4B48-8EA0-67784588A8A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48866573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90FE7E78-F63E-6945-90BC-87516667A72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99006345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52400"/>
            <a:ext cx="103632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" y="914400"/>
            <a:ext cx="103632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Introduction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>
              <a:latin typeface="Calibri"/>
            </a:endParaRPr>
          </a:p>
          <a:p>
            <a:fld id="{32A47CA8-1D40-3C49-82CF-CF2201A41E4F}" type="slidenum">
              <a:rPr lang="en-US" smtClean="0">
                <a:latin typeface="Calibri"/>
              </a:rPr>
              <a:pPr/>
              <a:t>‹#›</a:t>
            </a:fld>
            <a:endParaRPr lang="en-US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546976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022781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512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/>
          <p:cNvSpPr>
            <a:spLocks noChangeShapeType="1"/>
          </p:cNvSpPr>
          <p:nvPr/>
        </p:nvSpPr>
        <p:spPr bwMode="gray">
          <a:xfrm>
            <a:off x="0" y="6423027"/>
            <a:ext cx="12192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11480800" y="6436634"/>
            <a:ext cx="60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800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algn="r"/>
            <a:fld id="{D9D5F7EB-196B-A148-8812-2A4F7A2FBBD6}" type="slidenum">
              <a:rPr lang="en-US" altLang="en-US" smtClean="0"/>
              <a:pPr algn="r"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"/>
          </p:nvPr>
        </p:nvSpPr>
        <p:spPr>
          <a:xfrm>
            <a:off x="4165600" y="6442487"/>
            <a:ext cx="3860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000" smtClean="0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 dirty="0"/>
              <a:t>Consumption Taxes</a:t>
            </a:r>
          </a:p>
        </p:txBody>
      </p:sp>
      <p:sp>
        <p:nvSpPr>
          <p:cNvPr id="9" name="Footer Placeholder 3"/>
          <p:cNvSpPr txBox="1">
            <a:spLocks/>
          </p:cNvSpPr>
          <p:nvPr userDrawn="1"/>
        </p:nvSpPr>
        <p:spPr>
          <a:xfrm>
            <a:off x="96545" y="6423028"/>
            <a:ext cx="314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800" baseline="0" dirty="0">
                <a:latin typeface="+mn-lt"/>
              </a:rPr>
              <a:t>FIT_ConsumptionTaxes_2025</a:t>
            </a:r>
            <a:endParaRPr lang="en-US" sz="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1776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715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7" r:id="rId28"/>
    <p:sldLayoutId id="2147483688" r:id="rId29"/>
    <p:sldLayoutId id="2147483689" r:id="rId30"/>
    <p:sldLayoutId id="2147483690" r:id="rId31"/>
    <p:sldLayoutId id="2147483691" r:id="rId32"/>
    <p:sldLayoutId id="2147483692" r:id="rId33"/>
    <p:sldLayoutId id="2147483693" r:id="rId34"/>
    <p:sldLayoutId id="2147483694" r:id="rId35"/>
    <p:sldLayoutId id="2147483695" r:id="rId36"/>
    <p:sldLayoutId id="2147483696" r:id="rId37"/>
    <p:sldLayoutId id="2147483697" r:id="rId38"/>
    <p:sldLayoutId id="2147483698" r:id="rId39"/>
    <p:sldLayoutId id="2147483699" r:id="rId40"/>
    <p:sldLayoutId id="2147483700" r:id="rId41"/>
    <p:sldLayoutId id="2147483701" r:id="rId42"/>
    <p:sldLayoutId id="2147483702" r:id="rId43"/>
    <p:sldLayoutId id="2147483703" r:id="rId44"/>
    <p:sldLayoutId id="2147483704" r:id="rId45"/>
    <p:sldLayoutId id="2147483705" r:id="rId46"/>
    <p:sldLayoutId id="2147483706" r:id="rId47"/>
    <p:sldLayoutId id="2147483707" r:id="rId48"/>
    <p:sldLayoutId id="2147483708" r:id="rId49"/>
    <p:sldLayoutId id="2147483709" r:id="rId50"/>
    <p:sldLayoutId id="2147483710" r:id="rId51"/>
    <p:sldLayoutId id="2147483711" r:id="rId52"/>
    <p:sldLayoutId id="2147483712" r:id="rId53"/>
    <p:sldLayoutId id="2147483713" r:id="rId54"/>
    <p:sldLayoutId id="2147483714" r:id="rId55"/>
    <p:sldLayoutId id="2147483716" r:id="rId56"/>
    <p:sldLayoutId id="2147483717" r:id="rId57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Federal Income Taxation</a:t>
            </a:r>
            <a:br>
              <a:rPr lang="en-US" dirty="0"/>
            </a:br>
            <a:r>
              <a:rPr lang="en-US" i="1" dirty="0"/>
              <a:t>Consumption Taxes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58533" y="5013325"/>
            <a:ext cx="6858000" cy="609600"/>
          </a:xfrm>
          <a:prstGeom prst="rect">
            <a:avLst/>
          </a:prstGeom>
        </p:spPr>
        <p:txBody>
          <a:bodyPr>
            <a:normAutofit fontScale="85000" lnSpcReduction="20000"/>
          </a:bodyPr>
          <a:lstStyle/>
          <a:p>
            <a:r>
              <a:rPr lang="en-US" sz="2100" b="1" dirty="0"/>
              <a:t>Prof. Colon</a:t>
            </a:r>
          </a:p>
          <a:p>
            <a:r>
              <a:rPr lang="en-US" sz="2100" b="1" dirty="0"/>
              <a:t>Spring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D80FCD-05A6-764D-BFDB-63AA23C97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EAF7C4-7F9E-D84A-9606-10CB55E91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58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SHS:</a:t>
            </a:r>
          </a:p>
          <a:p>
            <a:pPr lvl="1"/>
            <a:r>
              <a:rPr lang="en-US" dirty="0"/>
              <a:t>Increases in wealth minus decreases in wealth, but not if decreases represent personal consumption.</a:t>
            </a:r>
          </a:p>
          <a:p>
            <a:pPr lvl="1" algn="l"/>
            <a:r>
              <a:rPr lang="en-US" dirty="0"/>
              <a:t>Since neither personal consumption nor savings are deductible, they are included in the tax base.  </a:t>
            </a:r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dirty="0"/>
              <a:t>Consumption tax base:</a:t>
            </a:r>
          </a:p>
          <a:p>
            <a:pPr lvl="1"/>
            <a:r>
              <a:rPr lang="en-US" dirty="0"/>
              <a:t>Personal consumption (perhaps with an exclusion for subsistence consumption)</a:t>
            </a:r>
          </a:p>
          <a:p>
            <a:pPr lvl="1"/>
            <a:r>
              <a:rPr lang="en-US" dirty="0"/>
              <a:t>Savings are excluded</a:t>
            </a:r>
            <a:endParaRPr lang="en-US" dirty="0">
              <a:latin typeface="+mn-lt"/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Consumption Taxes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D706CB-156B-8643-9A07-D8448DABBCBD}" type="slidenum">
              <a:rPr lang="en-US" altLang="en-US" smtClean="0"/>
              <a:pPr/>
              <a:t>2</a:t>
            </a:fld>
            <a:endParaRPr lang="en-US" alt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31222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8CF7F4E-94E2-DC36-EF6E-8855DDDB7F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U.S. largely relied on consumption taxes to fund the government before the enactment of the 16</a:t>
            </a:r>
            <a:r>
              <a:rPr lang="en-US" baseline="30000" dirty="0"/>
              <a:t>th</a:t>
            </a:r>
            <a:r>
              <a:rPr lang="en-US" dirty="0"/>
              <a:t> Amendment in 1913 and many political candidates have argued for replacing (or adding onto) the current income tax with a consumption tax.</a:t>
            </a:r>
          </a:p>
          <a:p>
            <a:r>
              <a:rPr lang="en-US" b="1" dirty="0">
                <a:solidFill>
                  <a:srgbClr val="FF0000"/>
                </a:solidFill>
              </a:rPr>
              <a:t>The current U.S. tax system is best viewed as a </a:t>
            </a:r>
            <a:r>
              <a:rPr lang="en-US" b="1" i="1" dirty="0">
                <a:solidFill>
                  <a:srgbClr val="FF0000"/>
                </a:solidFill>
              </a:rPr>
              <a:t>hybrid</a:t>
            </a:r>
            <a:r>
              <a:rPr lang="en-US" b="1" dirty="0">
                <a:solidFill>
                  <a:srgbClr val="FF0000"/>
                </a:solidFill>
              </a:rPr>
              <a:t> of an income tax system and a consumption tax system.</a:t>
            </a:r>
          </a:p>
          <a:p>
            <a:r>
              <a:rPr lang="en-US" dirty="0"/>
              <a:t>Help to better understand the serious challenge of </a:t>
            </a:r>
            <a:r>
              <a:rPr lang="en-US" b="1" i="1" dirty="0"/>
              <a:t>tax arbitrage</a:t>
            </a:r>
          </a:p>
          <a:p>
            <a:pPr lvl="1"/>
            <a:r>
              <a:rPr lang="en-US" dirty="0"/>
              <a:t>Applying the rules of one system (income tax) against the rules of another system (consumption tax)</a:t>
            </a:r>
          </a:p>
          <a:p>
            <a:pPr lvl="1"/>
            <a:r>
              <a:rPr lang="en-US" dirty="0"/>
              <a:t>Taxpayer can potentially obtain a better result than if either system applied separately</a:t>
            </a:r>
          </a:p>
          <a:p>
            <a:pPr lvl="1"/>
            <a:r>
              <a:rPr lang="en-US" dirty="0"/>
              <a:t>Example:  purchasing an investment under consumption tax rules (investment made with pre-tax dollars or return is excludable) with borrowed money and deducting the interest on the debt.</a:t>
            </a:r>
          </a:p>
          <a:p>
            <a:pPr lvl="2"/>
            <a:r>
              <a:rPr lang="en-US" dirty="0"/>
              <a:t>Result:  Double tax benefit for the same dollars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CCB5B6B-D369-D1D0-10FC-2BA326359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Study Consumption Taxes?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BBF6CA-6F8E-AD6B-5969-F8BE49942B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3579CA-1C5E-9E95-D98A-3088320F2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7288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5497C4B-7B11-9125-0ED5-AE5DC3D587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Purchases of consumer goods (and sometimes services) subject to flat rate</a:t>
            </a:r>
          </a:p>
          <a:p>
            <a:pPr lvl="1"/>
            <a:r>
              <a:rPr lang="en-US" dirty="0"/>
              <a:t>Imposed at final retail sale to customer for personal consumption</a:t>
            </a:r>
          </a:p>
          <a:p>
            <a:pPr lvl="1"/>
            <a:r>
              <a:rPr lang="en-US" dirty="0"/>
              <a:t>Excludes business purchases and purchases of investment </a:t>
            </a:r>
            <a:r>
              <a:rPr lang="en-US" dirty="0" err="1"/>
              <a:t>propery</a:t>
            </a:r>
            <a:endParaRPr lang="en-US" dirty="0"/>
          </a:p>
          <a:p>
            <a:pPr lvl="1"/>
            <a:r>
              <a:rPr lang="en-US" dirty="0"/>
              <a:t>NJ: 6.625%; NY: 8.532%</a:t>
            </a:r>
          </a:p>
          <a:p>
            <a:pPr lvl="1"/>
            <a:r>
              <a:rPr lang="en-US" dirty="0"/>
              <a:t>To preserve </a:t>
            </a:r>
            <a:r>
              <a:rPr lang="en-US" i="1" dirty="0"/>
              <a:t>some</a:t>
            </a:r>
            <a:r>
              <a:rPr lang="en-US" dirty="0"/>
              <a:t> progressivity, certain purchases are exempt, </a:t>
            </a:r>
            <a:r>
              <a:rPr lang="en-US" i="1" dirty="0"/>
              <a:t>e.g</a:t>
            </a:r>
            <a:r>
              <a:rPr lang="en-US" dirty="0"/>
              <a:t>., food in NJ</a:t>
            </a:r>
            <a:br>
              <a:rPr lang="en-US" dirty="0"/>
            </a:br>
            <a:endParaRPr lang="en-US" dirty="0"/>
          </a:p>
          <a:p>
            <a:r>
              <a:rPr lang="en-US" dirty="0"/>
              <a:t>Example: Maria buys a car for $30,000.  NJ imposes a sales tax of 6.625%.  The final price paid is $31,988.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3FF334B-FC11-71C7-3CE0-C144B1BAA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Retail Sales Tax (RST)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ADD4B4-2D6C-7101-559D-D35491B081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4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98284A-C403-5C26-5CDF-3EED37F15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A0F389F-0CAB-BD40-0960-D91F882FB5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99699"/>
              </p:ext>
            </p:extLst>
          </p:nvPr>
        </p:nvGraphicFramePr>
        <p:xfrm>
          <a:off x="2937429" y="3332747"/>
          <a:ext cx="6032500" cy="190967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44446">
                  <a:extLst>
                    <a:ext uri="{9D8B030D-6E8A-4147-A177-3AD203B41FA5}">
                      <a16:colId xmlns:a16="http://schemas.microsoft.com/office/drawing/2014/main" val="3809692368"/>
                    </a:ext>
                  </a:extLst>
                </a:gridCol>
                <a:gridCol w="2360136">
                  <a:extLst>
                    <a:ext uri="{9D8B030D-6E8A-4147-A177-3AD203B41FA5}">
                      <a16:colId xmlns:a16="http://schemas.microsoft.com/office/drawing/2014/main" val="1290123667"/>
                    </a:ext>
                  </a:extLst>
                </a:gridCol>
                <a:gridCol w="1627918">
                  <a:extLst>
                    <a:ext uri="{9D8B030D-6E8A-4147-A177-3AD203B41FA5}">
                      <a16:colId xmlns:a16="http://schemas.microsoft.com/office/drawing/2014/main" val="1029926155"/>
                    </a:ext>
                  </a:extLst>
                </a:gridCol>
              </a:tblGrid>
              <a:tr h="27039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1650154"/>
                  </a:ext>
                </a:extLst>
              </a:tr>
              <a:tr h="540794">
                <a:tc>
                  <a:txBody>
                    <a:bodyPr/>
                    <a:lstStyle/>
                    <a:p>
                      <a:pPr algn="ctr" fontAlgn="b"/>
                      <a:r>
                        <a:rPr lang="en-US" sz="2600" b="1" u="none" strike="noStrike" dirty="0">
                          <a:effectLst/>
                        </a:rPr>
                        <a:t>Car</a:t>
                      </a:r>
                      <a:endParaRPr lang="en-US" sz="2600" b="1" i="0" u="none" strike="noStrike" dirty="0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600" b="1" u="none" strike="noStrike" dirty="0">
                          <a:effectLst/>
                        </a:rPr>
                        <a:t>$30,000</a:t>
                      </a:r>
                      <a:endParaRPr lang="en-US" sz="2600" b="1" i="0" u="none" strike="noStrike" dirty="0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600" b="0" i="0" u="none" strike="noStrike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3799666"/>
                  </a:ext>
                </a:extLst>
              </a:tr>
              <a:tr h="557694">
                <a:tc>
                  <a:txBody>
                    <a:bodyPr/>
                    <a:lstStyle/>
                    <a:p>
                      <a:pPr algn="ctr" fontAlgn="b"/>
                      <a:r>
                        <a:rPr lang="en-US" sz="2600" b="1" u="sng" strike="noStrike" dirty="0">
                          <a:effectLst/>
                        </a:rPr>
                        <a:t>Sales Tax</a:t>
                      </a:r>
                      <a:endParaRPr lang="en-US" sz="2600" b="1" i="0" u="sng" strike="noStrike" dirty="0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600" b="1" u="sng" strike="noStrike" dirty="0">
                          <a:effectLst/>
                        </a:rPr>
                        <a:t>$1,988</a:t>
                      </a:r>
                      <a:endParaRPr lang="en-US" sz="2600" b="1" i="0" u="sng" strike="noStrike" dirty="0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600" u="none" strike="noStrike" dirty="0">
                          <a:effectLst/>
                        </a:rPr>
                        <a:t>@6.625%</a:t>
                      </a:r>
                      <a:endParaRPr lang="en-US" sz="2600" b="1" i="0" u="none" strike="noStrike" dirty="0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909947"/>
                  </a:ext>
                </a:extLst>
              </a:tr>
              <a:tr h="540794">
                <a:tc>
                  <a:txBody>
                    <a:bodyPr/>
                    <a:lstStyle/>
                    <a:p>
                      <a:pPr algn="ctr" fontAlgn="b"/>
                      <a:r>
                        <a:rPr lang="en-US" sz="2600" b="1" u="none" strike="noStrike" dirty="0">
                          <a:effectLst/>
                        </a:rPr>
                        <a:t>Total Price</a:t>
                      </a:r>
                      <a:endParaRPr lang="en-US" sz="2600" b="1" i="0" u="none" strike="noStrike" dirty="0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600" b="1" u="none" strike="noStrike" dirty="0">
                          <a:effectLst/>
                        </a:rPr>
                        <a:t>$31,988</a:t>
                      </a:r>
                      <a:endParaRPr lang="en-US" sz="2600" b="1" i="0" u="none" strike="noStrike" dirty="0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600" b="1" i="0" u="none" strike="noStrike" dirty="0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77057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839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73C4AC-E815-460A-92ED-0A40009F52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800" dirty="0"/>
              <a:t>Tax collected on the </a:t>
            </a:r>
            <a:r>
              <a:rPr lang="en-US" sz="2800" i="1" dirty="0"/>
              <a:t>value added</a:t>
            </a:r>
            <a:r>
              <a:rPr lang="en-US" sz="2800" dirty="0"/>
              <a:t> at each stage of manufacturing and selling process.</a:t>
            </a:r>
          </a:p>
          <a:p>
            <a:r>
              <a:rPr lang="en-US" sz="2800" dirty="0"/>
              <a:t>To get credit for a VAT imposed on purchases, a seller must collect/remit a VAT on its own sales.</a:t>
            </a:r>
          </a:p>
          <a:p>
            <a:r>
              <a:rPr lang="en-US" sz="2800" dirty="0"/>
              <a:t>Example: Assume a VAT of 10%.  </a:t>
            </a:r>
          </a:p>
          <a:p>
            <a:pPr lvl="1"/>
            <a:r>
              <a:rPr lang="en-US" sz="2800" dirty="0"/>
              <a:t>A logging company sells wood to a paper manufacturer for $200.  </a:t>
            </a:r>
          </a:p>
          <a:p>
            <a:pPr lvl="1"/>
            <a:r>
              <a:rPr lang="en-US" sz="2800" dirty="0"/>
              <a:t>The paper manufacturer sells it to a printing company for $500.  </a:t>
            </a:r>
          </a:p>
          <a:p>
            <a:pPr lvl="1"/>
            <a:r>
              <a:rPr lang="en-US" sz="2800" dirty="0"/>
              <a:t>The printing company prints books and sells them to a publisher for $1,000.</a:t>
            </a:r>
          </a:p>
          <a:p>
            <a:pPr lvl="1"/>
            <a:r>
              <a:rPr lang="en-US" sz="2800" dirty="0"/>
              <a:t>The publisher sells them to a retailer for $2,000.</a:t>
            </a:r>
          </a:p>
          <a:p>
            <a:pPr lvl="1"/>
            <a:r>
              <a:rPr lang="en-US" sz="2800" dirty="0"/>
              <a:t>The retailer sells the books for $3,000.</a:t>
            </a:r>
          </a:p>
          <a:p>
            <a:r>
              <a:rPr lang="en-US" sz="2800" dirty="0"/>
              <a:t>At each step, a VAT of 10% is imposed on the seller, who, in turn, can deduct any VAT it paid the purchase of its inputs.</a:t>
            </a:r>
          </a:p>
          <a:p>
            <a:endParaRPr lang="en-US" sz="2000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ADC7C8-E6DF-6761-C372-3C9B0DCCD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Added Tax (VAT)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39F89-E924-A0B3-80E9-494F1616C8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5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27AA7B-2309-D8AA-6904-70AD520CF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4133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EBBCB67D-2F89-A705-68DC-59D4C8DC5A7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33861220"/>
              </p:ext>
            </p:extLst>
          </p:nvPr>
        </p:nvGraphicFramePr>
        <p:xfrm>
          <a:off x="512065" y="945641"/>
          <a:ext cx="11277602" cy="3901440"/>
        </p:xfrm>
        <a:graphic>
          <a:graphicData uri="http://schemas.openxmlformats.org/drawingml/2006/table">
            <a:tbl>
              <a:tblPr/>
              <a:tblGrid>
                <a:gridCol w="1953549">
                  <a:extLst>
                    <a:ext uri="{9D8B030D-6E8A-4147-A177-3AD203B41FA5}">
                      <a16:colId xmlns:a16="http://schemas.microsoft.com/office/drawing/2014/main" val="2406399900"/>
                    </a:ext>
                  </a:extLst>
                </a:gridCol>
                <a:gridCol w="1268623">
                  <a:extLst>
                    <a:ext uri="{9D8B030D-6E8A-4147-A177-3AD203B41FA5}">
                      <a16:colId xmlns:a16="http://schemas.microsoft.com/office/drawing/2014/main" val="1228848229"/>
                    </a:ext>
                  </a:extLst>
                </a:gridCol>
                <a:gridCol w="1611086">
                  <a:extLst>
                    <a:ext uri="{9D8B030D-6E8A-4147-A177-3AD203B41FA5}">
                      <a16:colId xmlns:a16="http://schemas.microsoft.com/office/drawing/2014/main" val="3044171029"/>
                    </a:ext>
                  </a:extLst>
                </a:gridCol>
                <a:gridCol w="1611086">
                  <a:extLst>
                    <a:ext uri="{9D8B030D-6E8A-4147-A177-3AD203B41FA5}">
                      <a16:colId xmlns:a16="http://schemas.microsoft.com/office/drawing/2014/main" val="2983867435"/>
                    </a:ext>
                  </a:extLst>
                </a:gridCol>
                <a:gridCol w="1611086">
                  <a:extLst>
                    <a:ext uri="{9D8B030D-6E8A-4147-A177-3AD203B41FA5}">
                      <a16:colId xmlns:a16="http://schemas.microsoft.com/office/drawing/2014/main" val="4158182302"/>
                    </a:ext>
                  </a:extLst>
                </a:gridCol>
                <a:gridCol w="1611086">
                  <a:extLst>
                    <a:ext uri="{9D8B030D-6E8A-4147-A177-3AD203B41FA5}">
                      <a16:colId xmlns:a16="http://schemas.microsoft.com/office/drawing/2014/main" val="3988882808"/>
                    </a:ext>
                  </a:extLst>
                </a:gridCol>
                <a:gridCol w="1611086">
                  <a:extLst>
                    <a:ext uri="{9D8B030D-6E8A-4147-A177-3AD203B41FA5}">
                      <a16:colId xmlns:a16="http://schemas.microsoft.com/office/drawing/2014/main" val="30926358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2000" b="1" dirty="0"/>
                        <a:t>Stage</a:t>
                      </a:r>
                      <a:endParaRPr lang="en-US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dirty="0"/>
                        <a:t>Sale Price</a:t>
                      </a:r>
                      <a:endParaRPr lang="en-US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/>
                        <a:t>VAT Charged (10%)</a:t>
                      </a:r>
                      <a:endParaRPr lang="en-US" sz="2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dirty="0"/>
                        <a:t>Total Price (Including VAT)</a:t>
                      </a:r>
                      <a:endParaRPr lang="en-US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3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dirty="0"/>
                        <a:t>VAT Paid to Government</a:t>
                      </a:r>
                      <a:endParaRPr lang="en-US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dirty="0"/>
                        <a:t>VAT Deducted</a:t>
                      </a:r>
                      <a:endParaRPr lang="en-US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dirty="0"/>
                        <a:t>Net VAT Remitted</a:t>
                      </a:r>
                      <a:endParaRPr lang="en-US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109774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000" b="1" dirty="0"/>
                        <a:t>Logging Company</a:t>
                      </a:r>
                      <a:endParaRPr lang="en-US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$200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$220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177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000" b="1" dirty="0"/>
                        <a:t>Paper Manufacturer</a:t>
                      </a:r>
                      <a:endParaRPr lang="en-US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$500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$50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$550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16713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000" b="1"/>
                        <a:t>Printing Company</a:t>
                      </a:r>
                      <a:endParaRPr lang="en-US" sz="2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$1,000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$100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$1,100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$50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$50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$50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6605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000" b="1"/>
                        <a:t>Book Publisher</a:t>
                      </a:r>
                      <a:endParaRPr lang="en-US" sz="2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$2,000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$200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$2,200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$100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$100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$100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969434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000" b="1"/>
                        <a:t>Retailer</a:t>
                      </a:r>
                      <a:endParaRPr lang="en-US" sz="2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$3,000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$300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$3,300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$100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$200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$100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026864"/>
                  </a:ext>
                </a:extLst>
              </a:tr>
            </a:tbl>
          </a:graphicData>
        </a:graphic>
      </p:graphicFrame>
      <p:sp>
        <p:nvSpPr>
          <p:cNvPr id="9" name="Title 8">
            <a:extLst>
              <a:ext uri="{FF2B5EF4-FFF2-40B4-BE49-F238E27FC236}">
                <a16:creationId xmlns:a16="http://schemas.microsoft.com/office/drawing/2014/main" id="{253D7508-76E9-EB27-4436-E229EFCE5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Total VAT Collected in Example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33B50E-B8D0-7372-12BF-2FBE08A1BC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6F0A94-AD2E-974D-AF6B-04AF335E854A}" type="slidenum">
              <a:rPr lang="en-US" altLang="en-US" smtClean="0"/>
              <a:pPr/>
              <a:t>6</a:t>
            </a:fld>
            <a:endParaRPr lang="en-US" alt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16DDFA3-A4A6-EB71-4E13-3A8A2E6AF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0D45D1-273A-7DA7-1144-F4CA4AADE7DF}"/>
              </a:ext>
            </a:extLst>
          </p:cNvPr>
          <p:cNvSpPr txBox="1"/>
          <p:nvPr/>
        </p:nvSpPr>
        <p:spPr>
          <a:xfrm>
            <a:off x="664461" y="5285585"/>
            <a:ext cx="10790939" cy="8358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Note: the total VAT paid is $300, which is the same amount paid under an RST.  The VAT is borne by the final retail customers. </a:t>
            </a:r>
          </a:p>
        </p:txBody>
      </p:sp>
    </p:spTree>
    <p:extLst>
      <p:ext uri="{BB962C8B-B14F-4D97-AF65-F5344CB8AC3E}">
        <p14:creationId xmlns:p14="http://schemas.microsoft.com/office/powerpoint/2010/main" val="39069196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03EA42F-44EE-13AE-4DF9-93D28FE1A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Given that RSTs/VATs are imposed on transactions, they can’t take into account any personal characteristics of the purchaser, such as income or wealth.</a:t>
            </a:r>
          </a:p>
          <a:p>
            <a:r>
              <a:rPr lang="en-US" sz="2800" dirty="0"/>
              <a:t>RSTs and VATs must generally use a single rate, so that rich pay the same rate as poor. </a:t>
            </a:r>
          </a:p>
          <a:p>
            <a:r>
              <a:rPr lang="en-US" sz="2800" dirty="0"/>
              <a:t>Various political candidates and politicians have put forth proposals to adopt a federal VAT or RST.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9E0704B-99BB-88EE-E595-5BB165FE4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RSTs and VATs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C9665-C411-DE23-928B-922983CAC7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7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72E587-7387-5690-FB47-16D844854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4355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C939CA6-E25F-75EA-5062-FEC68EC866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HS income tax includes </a:t>
            </a:r>
            <a:r>
              <a:rPr lang="en-US" sz="2800" b="1" dirty="0"/>
              <a:t>both</a:t>
            </a:r>
            <a:r>
              <a:rPr lang="en-US" sz="2800" dirty="0"/>
              <a:t> consumption and savings/investments in the tax base.</a:t>
            </a:r>
          </a:p>
          <a:p>
            <a:r>
              <a:rPr lang="en-US" sz="2800" dirty="0"/>
              <a:t> Savings/investments are included in the tax base because capital expenditures are not deductible. </a:t>
            </a:r>
          </a:p>
          <a:p>
            <a:r>
              <a:rPr lang="en-US" sz="2800" dirty="0"/>
              <a:t>Under a CFCT, </a:t>
            </a:r>
            <a:r>
              <a:rPr lang="en-US" sz="2800" b="1" dirty="0"/>
              <a:t>ALL</a:t>
            </a:r>
            <a:r>
              <a:rPr lang="en-US" sz="2800" dirty="0"/>
              <a:t> cash receipts would be included in the tax base, but all outlays that were not personal consumption would be deducted.</a:t>
            </a:r>
          </a:p>
          <a:p>
            <a:pPr lvl="1"/>
            <a:r>
              <a:rPr lang="en-US" sz="2600" dirty="0"/>
              <a:t>Goal is to tax personal consumption but not investment/savings</a:t>
            </a:r>
          </a:p>
          <a:p>
            <a:pPr lvl="1"/>
            <a:r>
              <a:rPr lang="en-US" sz="2400" dirty="0"/>
              <a:t>No concept of basis (previously taxed dollars) since the purchase of all investment or business assets would be deductible in the year of purchase.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80F4F23-0FA4-9C76-44D2-B8F6234EA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Cash Flow Consumption Tax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AB15CA-1B26-169D-0BEB-7F68CCA1A1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8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7C0997-0670-FBB2-725F-FDD02F34D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3792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ADFF0D4-FD30-346B-6119-0D6C109EE5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Revenue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Business owner sells consulting services for </a:t>
            </a:r>
            <a:r>
              <a:rPr lang="en-US" b="1" dirty="0"/>
              <a:t>$500,000</a:t>
            </a:r>
            <a:r>
              <a:rPr lang="en-US" dirty="0"/>
              <a:t> (cash inflows).</a:t>
            </a:r>
          </a:p>
          <a:p>
            <a:pPr lvl="1"/>
            <a:r>
              <a:rPr lang="en-US" dirty="0"/>
              <a:t>Sells stock for </a:t>
            </a:r>
            <a:r>
              <a:rPr lang="en-US" b="1" dirty="0"/>
              <a:t>$100,000 </a:t>
            </a:r>
            <a:r>
              <a:rPr lang="en-US" dirty="0"/>
              <a:t>that he purchased for $90,000 (cash inflow).</a:t>
            </a:r>
          </a:p>
          <a:p>
            <a:r>
              <a:rPr lang="en-US" b="1" dirty="0"/>
              <a:t>Expenses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Purchases inventory: </a:t>
            </a:r>
            <a:r>
              <a:rPr lang="en-US" b="1" dirty="0"/>
              <a:t>$300,000</a:t>
            </a:r>
            <a:r>
              <a:rPr lang="en-US" dirty="0"/>
              <a:t> (cash outflow).</a:t>
            </a:r>
          </a:p>
          <a:p>
            <a:pPr lvl="1"/>
            <a:r>
              <a:rPr lang="en-US" dirty="0"/>
              <a:t>Pays wages: </a:t>
            </a:r>
            <a:r>
              <a:rPr lang="en-US" b="1" dirty="0"/>
              <a:t>$100,000</a:t>
            </a:r>
            <a:r>
              <a:rPr lang="en-US" dirty="0"/>
              <a:t> (cash outflow).</a:t>
            </a:r>
          </a:p>
          <a:p>
            <a:pPr lvl="1"/>
            <a:r>
              <a:rPr lang="en-US" dirty="0"/>
              <a:t>Pays rent and utilities: </a:t>
            </a:r>
            <a:r>
              <a:rPr lang="en-US" b="1" dirty="0"/>
              <a:t>$50,000</a:t>
            </a:r>
            <a:r>
              <a:rPr lang="en-US" dirty="0"/>
              <a:t> (cash outflow).</a:t>
            </a:r>
          </a:p>
          <a:p>
            <a:pPr lvl="1"/>
            <a:r>
              <a:rPr lang="en-US" dirty="0"/>
              <a:t>Purchases a machine: </a:t>
            </a:r>
            <a:r>
              <a:rPr lang="en-US" b="1" dirty="0"/>
              <a:t>$70,000</a:t>
            </a:r>
            <a:r>
              <a:rPr lang="en-US" dirty="0"/>
              <a:t> (investment, cash outflow).</a:t>
            </a:r>
          </a:p>
          <a:p>
            <a:pPr lvl="1" algn="l"/>
            <a:r>
              <a:rPr lang="en-US" dirty="0"/>
              <a:t>Purchases stock: </a:t>
            </a:r>
            <a:r>
              <a:rPr lang="en-US" b="1" dirty="0"/>
              <a:t>$20,000</a:t>
            </a:r>
            <a:r>
              <a:rPr lang="en-US" dirty="0"/>
              <a:t> (investment, cash outflow).</a:t>
            </a:r>
            <a:br>
              <a:rPr lang="en-US" dirty="0"/>
            </a:br>
            <a:endParaRPr lang="en-US" dirty="0"/>
          </a:p>
          <a:p>
            <a:r>
              <a:rPr lang="en-US" dirty="0"/>
              <a:t>Total cash inflows = </a:t>
            </a:r>
            <a:r>
              <a:rPr lang="en-US" b="1" dirty="0"/>
              <a:t>$600,000</a:t>
            </a:r>
          </a:p>
          <a:p>
            <a:r>
              <a:rPr lang="en-US" dirty="0"/>
              <a:t>Total cash outflows = </a:t>
            </a:r>
            <a:r>
              <a:rPr lang="en-US" b="1" dirty="0"/>
              <a:t>$300,000 + $100,000 + $50,000 + $70,000 + $20,000 = $540,000</a:t>
            </a:r>
          </a:p>
          <a:p>
            <a:r>
              <a:rPr lang="en-US" b="1" dirty="0"/>
              <a:t>Taxable Amount = $60,000 </a:t>
            </a:r>
            <a:r>
              <a:rPr lang="en-US" dirty="0"/>
              <a:t>(spent on consumption)</a:t>
            </a:r>
            <a:endParaRPr lang="en-US" b="1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1B3EBA-D99C-1A59-7E67-1B9DCEF44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Cash Flow Consumption Tax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30DDF6-387A-1ED9-3D8A-4EB0CF7F2B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9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A50407-D6D7-673E-04C7-102FE369E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8894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1DD20CE-3734-6157-A5C8-4CB728AEF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Differences between a CFCT and an Income Tax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2F0907-4919-0F51-4928-3D46A868B8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10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427466-6811-FC0E-70CA-35B438E07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27C0B4E0-2F59-DD6C-519A-796F173D7D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105491"/>
              </p:ext>
            </p:extLst>
          </p:nvPr>
        </p:nvGraphicFramePr>
        <p:xfrm>
          <a:off x="512064" y="631361"/>
          <a:ext cx="11277600" cy="5469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94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111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6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25402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Category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Amount ($)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Income Tax Treatment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CFCT T</a:t>
                      </a:r>
                      <a:r>
                        <a:rPr sz="1800" dirty="0"/>
                        <a:t>reatment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5402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Consulting Revenue</a:t>
                      </a:r>
                      <a:endParaRPr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$500,000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Taxable income.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Included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cash inflow.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7561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Stock Sale</a:t>
                      </a:r>
                      <a:endParaRPr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$100,000</a:t>
                      </a:r>
                      <a:endParaRPr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Only gain taxable (10,000)</a:t>
                      </a:r>
                      <a:endParaRPr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Entire 100,000 included</a:t>
                      </a:r>
                      <a:endParaRPr sz="1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7561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- Inventory Purchase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$300,000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Deductible when inventory is sold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Fully deductible</a:t>
                      </a:r>
                      <a:r>
                        <a:rPr lang="en-US" sz="1800" dirty="0"/>
                        <a:t> when purchased.</a:t>
                      </a:r>
                      <a:endParaRPr sz="1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7561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- Wages Paid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$100,000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Fully deductible.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Fully deductible.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7561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- Rent and Utilities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Fully deductible.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Fully deductible.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64853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- Machine Purchase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$70,000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Deductible through depreciation</a:t>
                      </a:r>
                      <a:r>
                        <a:rPr lang="en-US" sz="1800" dirty="0"/>
                        <a:t>; (capital expenditure)</a:t>
                      </a:r>
                      <a:endParaRPr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D</a:t>
                      </a:r>
                      <a:r>
                        <a:rPr sz="1800" dirty="0"/>
                        <a:t>eductible in the year of purchase.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11579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- Stock Purchase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$20,000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Not deductible </a:t>
                      </a:r>
                      <a:r>
                        <a:rPr lang="en-US" sz="1800" dirty="0"/>
                        <a:t> (capital expenditure)</a:t>
                      </a:r>
                      <a:endParaRPr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Fully deductible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87448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3A0EFE8-0700-0CE1-E980-E8A4B8CEEE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For employees, tax base would solely of wages, with possibly an exemption amount</a:t>
            </a:r>
          </a:p>
          <a:p>
            <a:pPr lvl="1"/>
            <a:r>
              <a:rPr lang="en-US" sz="2400" dirty="0"/>
              <a:t>All capital returns, CGs, dividends, interest, &amp; royalties would be exempt</a:t>
            </a:r>
          </a:p>
          <a:p>
            <a:r>
              <a:rPr lang="en-US" sz="2800" dirty="0"/>
              <a:t>For businesses, CFCT—tax base would be cash receipts less all business and investment outlays</a:t>
            </a:r>
          </a:p>
          <a:p>
            <a:r>
              <a:rPr lang="en-US" sz="2800" dirty="0"/>
              <a:t>Wage tax explicitly exempts capital returns</a:t>
            </a:r>
          </a:p>
          <a:p>
            <a:r>
              <a:rPr lang="en-US" sz="2800" dirty="0"/>
              <a:t>A CFCT allows investments to be deducted but taxes all investment returns</a:t>
            </a:r>
          </a:p>
          <a:p>
            <a:r>
              <a:rPr lang="en-US" sz="2800" b="1" dirty="0"/>
              <a:t>Under certain assumptions, a wage tax and a CFCT are equivalent</a:t>
            </a:r>
          </a:p>
          <a:p>
            <a:pPr lvl="1"/>
            <a:r>
              <a:rPr lang="en-US" sz="2400" dirty="0"/>
              <a:t>Constant tax rates over time</a:t>
            </a:r>
          </a:p>
          <a:p>
            <a:pPr lvl="1"/>
            <a:r>
              <a:rPr lang="en-US" sz="2400" dirty="0"/>
              <a:t> Investments yield only the expected (</a:t>
            </a:r>
            <a:r>
              <a:rPr lang="en-US" sz="2400" i="1" dirty="0"/>
              <a:t>norma</a:t>
            </a:r>
            <a:r>
              <a:rPr lang="en-US" sz="2400" dirty="0"/>
              <a:t>l) market return and not </a:t>
            </a:r>
            <a:r>
              <a:rPr lang="en-US" sz="2400" i="1" dirty="0"/>
              <a:t>a supranormal </a:t>
            </a:r>
            <a:r>
              <a:rPr lang="en-US" sz="2400" dirty="0"/>
              <a:t>return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CF5619E-1122-4A0F-6406-7F499B142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Wage Tax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10B397-79FD-3EDF-1EE8-AC3583B48F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11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B9EAB5-A272-11B8-6273-03752A5FF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6922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3F9953D-E4D8-AD85-3877-DCD4C296AD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itchFamily="2" charset="2"/>
              <a:buChar char="§"/>
            </a:pPr>
            <a:r>
              <a:rPr lang="en-US" sz="2800" dirty="0"/>
              <a:t>Tax Rate: 25%</a:t>
            </a:r>
          </a:p>
          <a:p>
            <a:pPr>
              <a:buFont typeface="Wingdings" pitchFamily="2" charset="2"/>
              <a:buChar char="§"/>
            </a:pPr>
            <a:r>
              <a:rPr lang="en-US" sz="2800" dirty="0"/>
              <a:t>Wages: $120,000 </a:t>
            </a:r>
          </a:p>
          <a:p>
            <a:pPr>
              <a:buFont typeface="Wingdings" pitchFamily="2" charset="2"/>
              <a:buChar char="§"/>
            </a:pPr>
            <a:r>
              <a:rPr lang="en-US" sz="2800" dirty="0"/>
              <a:t>Investment Return: 6%</a:t>
            </a:r>
          </a:p>
          <a:p>
            <a:pPr>
              <a:buFont typeface="Wingdings" pitchFamily="2" charset="2"/>
              <a:buChar char="§"/>
            </a:pPr>
            <a:r>
              <a:rPr lang="en-US" sz="2800" dirty="0"/>
              <a:t>Peter will invest all remaining income after any taxes and consume the entire amount, including investment gains, in Year 2.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2F7354C-9A6E-9DBA-E086-2853860E8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Income, Wage, and CFCT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52DBDC-FE55-2B46-0C75-9AE1DCD844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12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C7D33D-E967-9E96-7FA3-A1EE46F92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46747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9E1F84E-E175-47A6-F9C9-B4B9DA30E8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2064" y="626327"/>
            <a:ext cx="3653535" cy="406576"/>
          </a:xfrm>
        </p:spPr>
        <p:txBody>
          <a:bodyPr/>
          <a:lstStyle/>
          <a:p>
            <a:r>
              <a:rPr lang="en-US" dirty="0"/>
              <a:t>Income Tax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C0B7B7-22F3-78B1-5524-EFA3E514725A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4361122" y="627898"/>
            <a:ext cx="3665278" cy="380392"/>
          </a:xfrm>
        </p:spPr>
        <p:txBody>
          <a:bodyPr/>
          <a:lstStyle/>
          <a:p>
            <a:r>
              <a:rPr lang="en-US" dirty="0"/>
              <a:t>Wage Tax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515797-45BB-3AF3-D353-E17DB385960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03936" y="1026913"/>
            <a:ext cx="3661663" cy="5124022"/>
          </a:xfrm>
        </p:spPr>
        <p:txBody>
          <a:bodyPr/>
          <a:lstStyle/>
          <a:p>
            <a:r>
              <a:rPr lang="en-US" sz="2000" dirty="0"/>
              <a:t>Year 1</a:t>
            </a:r>
          </a:p>
          <a:p>
            <a:pPr lvl="1"/>
            <a:r>
              <a:rPr lang="en-US" sz="2000" dirty="0"/>
              <a:t>25% tax on wages of $120,000</a:t>
            </a:r>
          </a:p>
          <a:p>
            <a:pPr lvl="1"/>
            <a:r>
              <a:rPr lang="en-US" sz="2000" dirty="0"/>
              <a:t>$30,000 taxes</a:t>
            </a:r>
          </a:p>
          <a:p>
            <a:pPr lvl="1"/>
            <a:r>
              <a:rPr lang="en-US" sz="2000" dirty="0"/>
              <a:t>Invest $90,000 in stock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Year 2</a:t>
            </a:r>
          </a:p>
          <a:p>
            <a:pPr lvl="1"/>
            <a:r>
              <a:rPr lang="en-US" sz="2000" dirty="0"/>
              <a:t>Sell stock for $95,400</a:t>
            </a:r>
          </a:p>
          <a:p>
            <a:pPr lvl="1"/>
            <a:r>
              <a:rPr lang="en-US" sz="2000" dirty="0"/>
              <a:t>Investment return of $5,400</a:t>
            </a:r>
          </a:p>
          <a:p>
            <a:pPr lvl="1"/>
            <a:r>
              <a:rPr lang="en-US" sz="2000" dirty="0"/>
              <a:t>Tax on return of  $1,350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Total ATCF</a:t>
            </a:r>
          </a:p>
          <a:p>
            <a:pPr lvl="1"/>
            <a:r>
              <a:rPr lang="en-US" sz="2000" dirty="0"/>
              <a:t>$95,400 - $1,350 or </a:t>
            </a:r>
            <a:r>
              <a:rPr lang="en-US" sz="2000" b="1" dirty="0"/>
              <a:t>$94,050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B5A6DD-51D3-F004-3D46-0D9D3A78842F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4361122" y="1026912"/>
            <a:ext cx="3666603" cy="5124022"/>
          </a:xfrm>
        </p:spPr>
        <p:txBody>
          <a:bodyPr/>
          <a:lstStyle/>
          <a:p>
            <a:r>
              <a:rPr lang="en-US" sz="2000" dirty="0"/>
              <a:t>Year 1</a:t>
            </a:r>
          </a:p>
          <a:p>
            <a:pPr lvl="1"/>
            <a:r>
              <a:rPr lang="en-US" sz="2000" dirty="0"/>
              <a:t>25% tax on wages of $120,000</a:t>
            </a:r>
          </a:p>
          <a:p>
            <a:pPr lvl="1"/>
            <a:r>
              <a:rPr lang="en-US" sz="2000" dirty="0"/>
              <a:t>$30,000 taxes</a:t>
            </a:r>
          </a:p>
          <a:p>
            <a:pPr lvl="1"/>
            <a:r>
              <a:rPr lang="en-US" sz="2000" dirty="0"/>
              <a:t>Invest $90,000 in stock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Year 2</a:t>
            </a:r>
          </a:p>
          <a:p>
            <a:pPr lvl="1"/>
            <a:r>
              <a:rPr lang="en-US" sz="2000" dirty="0"/>
              <a:t>Sell stock for $95,400</a:t>
            </a:r>
          </a:p>
          <a:p>
            <a:pPr lvl="1"/>
            <a:r>
              <a:rPr lang="en-US" sz="2000" dirty="0"/>
              <a:t>Investment return of $5,400</a:t>
            </a:r>
          </a:p>
          <a:p>
            <a:pPr lvl="1"/>
            <a:r>
              <a:rPr lang="en-US" sz="2000" dirty="0"/>
              <a:t>$0 tax on return</a:t>
            </a:r>
          </a:p>
          <a:p>
            <a:pPr lvl="1"/>
            <a:endParaRPr lang="en-US" sz="2000" dirty="0"/>
          </a:p>
          <a:p>
            <a:r>
              <a:rPr lang="en-US" sz="2000" dirty="0"/>
              <a:t>Total ATCF</a:t>
            </a:r>
          </a:p>
          <a:p>
            <a:pPr lvl="1"/>
            <a:r>
              <a:rPr lang="en-US" sz="2000" b="1" dirty="0"/>
              <a:t>$95,400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8FDFC2-4C0C-DB60-A92A-6E64D67D2134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856F0A94-AD2E-974D-AF6B-04AF335E854A}" type="slidenum">
              <a:rPr lang="en-US" altLang="en-US" smtClean="0"/>
              <a:pPr/>
              <a:t>13</a:t>
            </a:fld>
            <a:endParaRPr lang="en-US" alt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20596CA-42DA-54D3-091A-A282BAE4A1F3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DD204A2-EAF2-6967-B0F3-2241B9F88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Income, Wage, and CFCT Example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77061D-E898-825D-5487-932845F230AA}"/>
              </a:ext>
            </a:extLst>
          </p:cNvPr>
          <p:cNvSpPr/>
          <p:nvPr/>
        </p:nvSpPr>
        <p:spPr>
          <a:xfrm>
            <a:off x="8221923" y="596481"/>
            <a:ext cx="3653535" cy="40657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CFCT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F21C1C-1AA2-7A36-E622-2CE875651B30}"/>
              </a:ext>
            </a:extLst>
          </p:cNvPr>
          <p:cNvSpPr txBox="1"/>
          <p:nvPr/>
        </p:nvSpPr>
        <p:spPr>
          <a:xfrm>
            <a:off x="8221923" y="1026912"/>
            <a:ext cx="3666603" cy="5201424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marL="228600" marR="0" lvl="0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Year 1</a:t>
            </a:r>
          </a:p>
          <a:p>
            <a:pPr marL="457200" marR="0" lvl="1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itchFamily="34" charset="0"/>
              </a:rPr>
              <a:t>Invest $120,000 in stock—no tax: inclusion of $120,000 minus investment of $120,000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itchFamily="34" charset="0"/>
              </a:rPr>
            </a:b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Arial" pitchFamily="34" charset="0"/>
            </a:endParaRPr>
          </a:p>
          <a:p>
            <a:pPr marL="228600" marR="0" lvl="0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Year 2</a:t>
            </a:r>
          </a:p>
          <a:p>
            <a:pPr marL="457200" marR="0" lvl="1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itchFamily="34" charset="0"/>
              </a:rPr>
              <a:t>Sell stock for $127,200</a:t>
            </a:r>
          </a:p>
          <a:p>
            <a:pPr marL="457200" marR="0" lvl="1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itchFamily="34" charset="0"/>
              </a:rPr>
              <a:t>Cash flow of $127,200; investment return of $7,200</a:t>
            </a:r>
          </a:p>
          <a:p>
            <a:pPr marL="457200" marR="0" lvl="1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itchFamily="34" charset="0"/>
              </a:rPr>
              <a:t>$31,800 tax on CF</a:t>
            </a:r>
          </a:p>
          <a:p>
            <a:pPr marL="457200" marR="0" lvl="1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Arial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Arial" pitchFamily="34" charset="0"/>
            </a:endParaRPr>
          </a:p>
          <a:p>
            <a:pPr marL="228600" marR="0" lvl="0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Total ATCF</a:t>
            </a:r>
          </a:p>
          <a:p>
            <a:pPr marL="457200" marR="0" lvl="1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itchFamily="34" charset="0"/>
              </a:rPr>
              <a:t>$127,200 - $31,800 =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itchFamily="34" charset="0"/>
              </a:rPr>
              <a:t>$95,400 </a:t>
            </a:r>
          </a:p>
        </p:txBody>
      </p:sp>
    </p:spTree>
    <p:extLst>
      <p:ext uri="{BB962C8B-B14F-4D97-AF65-F5344CB8AC3E}">
        <p14:creationId xmlns:p14="http://schemas.microsoft.com/office/powerpoint/2010/main" val="2735611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  <p:bldP spid="5" grpId="0" uiExpand="1" build="p" animBg="1"/>
      <p:bldP spid="10" grpId="0" animBg="1"/>
      <p:bldP spid="1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9F8B8715-E294-FD86-809A-E58E1B4233B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70818803"/>
              </p:ext>
            </p:extLst>
          </p:nvPr>
        </p:nvGraphicFramePr>
        <p:xfrm>
          <a:off x="893763" y="1175657"/>
          <a:ext cx="10515600" cy="4286668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148415307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407026227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33545188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00792942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4146459846"/>
                    </a:ext>
                  </a:extLst>
                </a:gridCol>
              </a:tblGrid>
              <a:tr h="1008498">
                <a:tc>
                  <a:txBody>
                    <a:bodyPr/>
                    <a:lstStyle/>
                    <a:p>
                      <a:r>
                        <a:rPr lang="en-US" sz="2400" b="1" dirty="0"/>
                        <a:t>Tax System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0000"/>
                            <a:lumOff val="60000"/>
                          </a:schemeClr>
                        </a:gs>
                        <a:gs pos="91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 dirty="0"/>
                        <a:t>Tax in Year 1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0000"/>
                            <a:lumOff val="60000"/>
                          </a:schemeClr>
                        </a:gs>
                        <a:gs pos="91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 dirty="0"/>
                        <a:t>Tax in Year 2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0000"/>
                            <a:lumOff val="60000"/>
                          </a:schemeClr>
                        </a:gs>
                        <a:gs pos="91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 dirty="0"/>
                        <a:t>Total Tax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0000"/>
                            <a:lumOff val="60000"/>
                          </a:schemeClr>
                        </a:gs>
                        <a:gs pos="91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 dirty="0"/>
                        <a:t>Final Consumption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0000"/>
                            <a:lumOff val="60000"/>
                          </a:schemeClr>
                        </a:gs>
                        <a:gs pos="91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409865982"/>
                  </a:ext>
                </a:extLst>
              </a:tr>
              <a:tr h="1261174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CFCT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$0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$31,800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$31,800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/>
                        <a:t>$95,400</a:t>
                      </a:r>
                      <a:endParaRPr lang="en-US" sz="2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3652179"/>
                  </a:ext>
                </a:extLst>
              </a:tr>
              <a:tr h="1008498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Wage Tax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$30,000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$0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$30,000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 dirty="0"/>
                        <a:t>$95,400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7388666"/>
                  </a:ext>
                </a:extLst>
              </a:tr>
              <a:tr h="1008498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Income Tax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$30,000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$1,350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$31,350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 dirty="0"/>
                        <a:t>$94,050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3277532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D2D55BCA-E5F4-6686-C427-AB8D98C3C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Income, Wage, and CFCT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842A76-EA38-3A24-B306-AE45FB27C3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14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C78C95-EAB5-0B6D-DC0A-EA833472F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90489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BBE3897-C789-CF1B-B00B-90160C6BC0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2600" b="1" dirty="0"/>
              <a:t>Equivalence of Cash-Flow and Wage Taxes</a:t>
            </a:r>
            <a:r>
              <a:rPr lang="en-US" sz="2600" dirty="0"/>
              <a:t>:</a:t>
            </a:r>
          </a:p>
          <a:p>
            <a:pPr lvl="1"/>
            <a:r>
              <a:rPr lang="en-US" sz="2600" dirty="0"/>
              <a:t>Both systems result in the same final consumption ($95,400), as neither taxes investment returns.</a:t>
            </a:r>
          </a:p>
          <a:p>
            <a:r>
              <a:rPr lang="en-US" sz="2600" b="1" dirty="0"/>
              <a:t>Income Tax Difference</a:t>
            </a:r>
            <a:r>
              <a:rPr lang="en-US" sz="2600" dirty="0"/>
              <a:t>:</a:t>
            </a:r>
          </a:p>
          <a:p>
            <a:pPr lvl="1"/>
            <a:r>
              <a:rPr lang="en-US" sz="2600" dirty="0"/>
              <a:t>Under an income tax, the investment is made with after-tax dollars, and the investment return is is included in the tax base. </a:t>
            </a:r>
          </a:p>
          <a:p>
            <a:r>
              <a:rPr lang="en-US" sz="2600" b="1" dirty="0"/>
              <a:t>Tax Timing</a:t>
            </a:r>
            <a:r>
              <a:rPr lang="en-US" sz="2600" dirty="0"/>
              <a:t>:</a:t>
            </a:r>
          </a:p>
          <a:p>
            <a:pPr lvl="1"/>
            <a:r>
              <a:rPr lang="en-US" sz="2600" b="1" dirty="0"/>
              <a:t>CFCT defers taxation until consumption occurs, while the wage tax applies the tax upfront</a:t>
            </a:r>
            <a:r>
              <a:rPr lang="en-US" sz="2600" dirty="0"/>
              <a:t>.</a:t>
            </a:r>
          </a:p>
          <a:p>
            <a:pPr lvl="1"/>
            <a:r>
              <a:rPr lang="en-US" sz="2600" dirty="0"/>
              <a:t>The income tax spreads the burden across </a:t>
            </a:r>
            <a:r>
              <a:rPr lang="en-US" sz="2600" b="1" dirty="0"/>
              <a:t>both wages and investment return</a:t>
            </a:r>
            <a:r>
              <a:rPr lang="en-US" sz="2600" dirty="0"/>
              <a:t>s.</a:t>
            </a:r>
          </a:p>
          <a:p>
            <a:endParaRPr lang="en-US" dirty="0"/>
          </a:p>
          <a:p>
            <a:r>
              <a:rPr lang="en-US" sz="2600" b="1" dirty="0"/>
              <a:t>E. Cary Brown yield exemption phenomenon</a:t>
            </a:r>
            <a:r>
              <a:rPr lang="en-US" sz="2600" dirty="0"/>
              <a:t>: exempting investment returns (wage tax) produces the same result as a CFCT under which the investment is deducted but 100% of the returns (both the original investment and capital return) are taxed.</a:t>
            </a:r>
          </a:p>
          <a:p>
            <a:endParaRPr lang="en-US" sz="2600" dirty="0"/>
          </a:p>
          <a:p>
            <a:r>
              <a:rPr lang="en-US" sz="2600" b="1" dirty="0"/>
              <a:t>Note</a:t>
            </a:r>
            <a:r>
              <a:rPr lang="en-US" sz="2600" dirty="0"/>
              <a:t>: A CFCT and wage tax don’t produce the same outcome if the investment earns supranormal returns after it is made.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425CA6F-A234-98FF-8FAD-70A3073A3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Income, Wage, and CFCT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D6215C-5505-B9BA-8E6A-D16FB1E77A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15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81BF41-464E-DE3F-E747-8398CC9E2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490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62CEA62-C015-6D0F-9770-2BF9A5DE9F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en-US" b="1" dirty="0"/>
              <a:t>Individual retirement account (IRA</a:t>
            </a:r>
            <a:r>
              <a:rPr lang="en-US" dirty="0"/>
              <a:t>): deduction of investment when made; full taxation when withdrawn from account</a:t>
            </a:r>
            <a:br>
              <a:rPr lang="en-US" dirty="0"/>
            </a:br>
            <a:endParaRPr lang="en-US" dirty="0"/>
          </a:p>
          <a:p>
            <a:pPr algn="l"/>
            <a:r>
              <a:rPr lang="en-US" b="1" dirty="0"/>
              <a:t>Roth IRA</a:t>
            </a:r>
            <a:r>
              <a:rPr lang="en-US" dirty="0"/>
              <a:t>: No deduction when made; no taxation of investment return when withdrawn</a:t>
            </a:r>
            <a:br>
              <a:rPr lang="en-US" dirty="0"/>
            </a:br>
            <a:endParaRPr lang="en-US" dirty="0"/>
          </a:p>
          <a:p>
            <a:pPr algn="l"/>
            <a:r>
              <a:rPr lang="en-US" b="1" dirty="0"/>
              <a:t>Section 179 Expensing</a:t>
            </a:r>
            <a:r>
              <a:rPr lang="en-US" dirty="0"/>
              <a:t>: purchase of business equipment is immediately deductible instead of being capitalized and depreciated</a:t>
            </a:r>
            <a:br>
              <a:rPr lang="en-US" dirty="0"/>
            </a:br>
            <a:endParaRPr lang="en-US" dirty="0"/>
          </a:p>
          <a:p>
            <a:pPr algn="l"/>
            <a:r>
              <a:rPr lang="en-US" b="1" dirty="0"/>
              <a:t>Exclusion of Personal Residence Gain under §121</a:t>
            </a:r>
            <a:br>
              <a:rPr lang="en-US" b="1" dirty="0"/>
            </a:br>
            <a:endParaRPr lang="en-US" b="1" dirty="0"/>
          </a:p>
          <a:p>
            <a:pPr algn="l"/>
            <a:r>
              <a:rPr lang="en-US" b="1" dirty="0"/>
              <a:t>Exclusion of State &amp; Local bond interest under §103</a:t>
            </a:r>
            <a:br>
              <a:rPr lang="en-US" b="1" dirty="0"/>
            </a:br>
            <a:endParaRPr lang="en-US" b="1" dirty="0"/>
          </a:p>
          <a:p>
            <a:pPr algn="l"/>
            <a:r>
              <a:rPr lang="en-US" b="1" dirty="0"/>
              <a:t>Forgiveness of unrealized gains at death under §1014</a:t>
            </a:r>
            <a:br>
              <a:rPr lang="en-US" b="1" dirty="0"/>
            </a:br>
            <a:endParaRPr lang="en-US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595BD77-2571-C410-3207-1556BA316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Consumption Taxes in the IRC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C95FB8-C1EA-F24D-1148-CBB0E92BE8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16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2F946D-6B44-A153-66BE-7F1933B0A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7575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EE5B727-03EB-E7D0-8DC0-29BB8F40C0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 an </a:t>
            </a:r>
            <a:r>
              <a:rPr lang="en-US" b="1" dirty="0"/>
              <a:t>income tax</a:t>
            </a:r>
            <a:r>
              <a:rPr lang="en-US" dirty="0"/>
              <a:t>, borrowed money is neither taxable when received nor deductible when paid.</a:t>
            </a:r>
          </a:p>
          <a:p>
            <a:pPr lvl="1"/>
            <a:r>
              <a:rPr lang="en-US" dirty="0"/>
              <a:t>Borrowing doesn’t represent a change in wealth: $ increases, but so do liabilities</a:t>
            </a:r>
          </a:p>
          <a:p>
            <a:pPr lvl="1"/>
            <a:r>
              <a:rPr lang="en-US" dirty="0"/>
              <a:t>Repayment doesn’t represent a change in wealth: $ decreases, but so do liabilities</a:t>
            </a:r>
          </a:p>
          <a:p>
            <a:pPr lvl="1"/>
            <a:r>
              <a:rPr lang="en-US" dirty="0"/>
              <a:t>Interest is a decrease in wealth and is generally deductible as business interest (§163(a)) or investment interest (§163(d)) </a:t>
            </a:r>
          </a:p>
          <a:p>
            <a:r>
              <a:rPr lang="en-US" dirty="0"/>
              <a:t>Purchases subject to an </a:t>
            </a:r>
            <a:r>
              <a:rPr lang="en-US" b="1" dirty="0"/>
              <a:t>RST</a:t>
            </a:r>
            <a:r>
              <a:rPr lang="en-US" dirty="0"/>
              <a:t> whether made with savings or borrowed money</a:t>
            </a:r>
          </a:p>
          <a:p>
            <a:r>
              <a:rPr lang="en-US" b="1" dirty="0"/>
              <a:t>Wage tax</a:t>
            </a:r>
            <a:r>
              <a:rPr lang="en-US" dirty="0"/>
              <a:t>: borrowed money not included in the tax base (not wages) but interest is not deductible—investment returns are not taxed so investment expenses are not deductible.</a:t>
            </a:r>
          </a:p>
          <a:p>
            <a:r>
              <a:rPr lang="en-US" b="1" dirty="0"/>
              <a:t>CFCT</a:t>
            </a:r>
            <a:r>
              <a:rPr lang="en-US" dirty="0"/>
              <a:t>: Borrowed funds would be includible and repayment of borrowing and interest would be deductible.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A8FCC90-0BA7-4CF9-6F48-B7F88A687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474F5-F207-B77C-33F4-3CBBD4667A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17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BEE1C7-28CA-53B5-1344-8D0D583FE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7639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4D7D541-618D-0E5E-9C88-4EBB569FB4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Applying the rules from one system (income tax) and another (wage tax) to obtain a result that is better than if only one system applied.</a:t>
            </a:r>
          </a:p>
          <a:p>
            <a:r>
              <a:rPr lang="en-US" dirty="0"/>
              <a:t>Raises issues of fairness and economic efficiency</a:t>
            </a:r>
          </a:p>
          <a:p>
            <a:r>
              <a:rPr lang="en-US" dirty="0"/>
              <a:t>Example:  borrow money to purchase an asset that benefits from consumption tax treatment.</a:t>
            </a:r>
          </a:p>
          <a:p>
            <a:pPr lvl="1"/>
            <a:r>
              <a:rPr lang="en-US" dirty="0"/>
              <a:t>Peter borrows $10K to purchase a machine that is eligible for immediate expensing under §179 (CFCT treatment).  Under §162, Peter can also deduct the interest on the borrowing since the machine is a business asset.  </a:t>
            </a:r>
          </a:p>
          <a:p>
            <a:pPr lvl="1"/>
            <a:r>
              <a:rPr lang="en-US" dirty="0"/>
              <a:t>Thus, Peter excludes the loan proceeds, deducts the cost of the machine (CFCT), and deducts the interest (not permitted under a CFCT, if debt and interest are excluded).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6F2F171-527E-C9F6-9838-DE09B3771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 Arbitrage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4B595A-DAC1-D18C-8877-4477527757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18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957FB3-2802-29EC-6B60-5E1EF17A3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96125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5A5CEC7A-9E78-BE40-8F14-2D245F9926E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18528</TotalTime>
  <Words>1914</Words>
  <Application>Microsoft Macintosh PowerPoint</Application>
  <PresentationFormat>Widescreen</PresentationFormat>
  <Paragraphs>283</Paragraphs>
  <Slides>18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8" baseType="lpstr">
      <vt:lpstr>NSimSun</vt:lpstr>
      <vt:lpstr>Aptos Narrow</vt:lpstr>
      <vt:lpstr>Arial</vt:lpstr>
      <vt:lpstr>Calibri</vt:lpstr>
      <vt:lpstr>Courier New</vt:lpstr>
      <vt:lpstr>Times New Roman</vt:lpstr>
      <vt:lpstr>Verdana</vt:lpstr>
      <vt:lpstr>Wingdings</vt:lpstr>
      <vt:lpstr>Wingdings 2</vt:lpstr>
      <vt:lpstr>CG Body - Standard</vt:lpstr>
      <vt:lpstr>Federal Income Taxation Consumption Taxes</vt:lpstr>
      <vt:lpstr>Consumption Taxes</vt:lpstr>
      <vt:lpstr>Why Study Consumption Taxes?</vt:lpstr>
      <vt:lpstr>Retail Sales Tax (RST)</vt:lpstr>
      <vt:lpstr>Value Added Tax (VAT)</vt:lpstr>
      <vt:lpstr>Total VAT Collected in Example</vt:lpstr>
      <vt:lpstr>Issues with RSTs and VATs</vt:lpstr>
      <vt:lpstr>Cash Flow Consumption Tax</vt:lpstr>
      <vt:lpstr>Cash Flow Consumption Tax Example</vt:lpstr>
      <vt:lpstr>Example: Differences between a CFCT and an Income Tax</vt:lpstr>
      <vt:lpstr>Wage Tax</vt:lpstr>
      <vt:lpstr>Income, Wage, and CFCT Example</vt:lpstr>
      <vt:lpstr>Income, Wage, and CFCT Example</vt:lpstr>
      <vt:lpstr>Income, Wage, and CFCT Example</vt:lpstr>
      <vt:lpstr>Income, Wage, and CFCT Example</vt:lpstr>
      <vt:lpstr>Consumption Taxes in the IRC</vt:lpstr>
      <vt:lpstr>Debt</vt:lpstr>
      <vt:lpstr>Tax Arbitrage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</dc:title>
  <dc:subject/>
  <dc:creator>J Colon</dc:creator>
  <cp:keywords/>
  <dc:description/>
  <cp:lastModifiedBy>Colon, Jeffrey M.</cp:lastModifiedBy>
  <cp:revision>196</cp:revision>
  <cp:lastPrinted>2020-11-30T15:41:57Z</cp:lastPrinted>
  <dcterms:created xsi:type="dcterms:W3CDTF">2016-08-01T04:04:31Z</dcterms:created>
  <dcterms:modified xsi:type="dcterms:W3CDTF">2026-01-05T20:11:35Z</dcterms:modified>
  <cp:category/>
</cp:coreProperties>
</file>