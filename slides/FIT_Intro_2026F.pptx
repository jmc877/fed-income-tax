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95" r:id="rId2"/>
    <p:sldId id="256" r:id="rId3"/>
    <p:sldId id="296" r:id="rId4"/>
    <p:sldId id="297" r:id="rId5"/>
    <p:sldId id="282" r:id="rId6"/>
    <p:sldId id="298" r:id="rId7"/>
    <p:sldId id="299" r:id="rId8"/>
    <p:sldId id="300" r:id="rId9"/>
    <p:sldId id="307" r:id="rId10"/>
    <p:sldId id="261" r:id="rId11"/>
    <p:sldId id="306" r:id="rId12"/>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50"/>
    <p:restoredTop sz="96188"/>
  </p:normalViewPr>
  <p:slideViewPr>
    <p:cSldViewPr snapToGrid="0" snapToObjects="1">
      <p:cViewPr varScale="1">
        <p:scale>
          <a:sx n="150" d="100"/>
          <a:sy n="150" d="100"/>
        </p:scale>
        <p:origin x="160" y="1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1"/>
            <a:ext cx="3037840" cy="463408"/>
          </a:xfrm>
          <a:prstGeom prst="rect">
            <a:avLst/>
          </a:prstGeom>
        </p:spPr>
        <p:txBody>
          <a:bodyPr vert="horz" lIns="92830" tIns="46415" rIns="92830" bIns="46415" rtlCol="0"/>
          <a:lstStyle>
            <a:lvl1pPr algn="r">
              <a:defRPr sz="1200"/>
            </a:lvl1pPr>
          </a:lstStyle>
          <a:p>
            <a:fld id="{83BC67FA-3E26-304D-BDBD-530C6272A0E0}" type="datetimeFigureOut">
              <a:rPr lang="en-US" smtClean="0"/>
              <a:t>8/19/26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2"/>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70"/>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70"/>
            <a:ext cx="3037840" cy="463407"/>
          </a:xfrm>
          <a:prstGeom prst="rect">
            <a:avLst/>
          </a:prstGeom>
        </p:spPr>
        <p:txBody>
          <a:bodyPr vert="horz" lIns="92830" tIns="46415" rIns="92830" bIns="46415" rtlCol="0" anchor="b"/>
          <a:lstStyle>
            <a:lvl1pPr algn="r">
              <a:defRPr sz="1200"/>
            </a:lvl1pPr>
          </a:lstStyle>
          <a:p>
            <a:fld id="{BF72E6F7-09F5-B04E-8141-9A4144300CC5}" type="slidenum">
              <a:rPr lang="en-US" smtClean="0"/>
              <a:t>‹#›</a:t>
            </a:fld>
            <a:endParaRPr lang="en-US"/>
          </a:p>
        </p:txBody>
      </p:sp>
    </p:spTree>
    <p:extLst>
      <p:ext uri="{BB962C8B-B14F-4D97-AF65-F5344CB8AC3E}">
        <p14:creationId xmlns:p14="http://schemas.microsoft.com/office/powerpoint/2010/main" val="1319690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36888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72E6F7-09F5-B04E-8141-9A4144300CC5}" type="slidenum">
              <a:rPr lang="en-US" smtClean="0"/>
              <a:t>2</a:t>
            </a:fld>
            <a:endParaRPr lang="en-US" dirty="0"/>
          </a:p>
        </p:txBody>
      </p:sp>
    </p:spTree>
    <p:extLst>
      <p:ext uri="{BB962C8B-B14F-4D97-AF65-F5344CB8AC3E}">
        <p14:creationId xmlns:p14="http://schemas.microsoft.com/office/powerpoint/2010/main" val="1436433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73258D-F88C-F440-AD20-53E2DCDDB8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5999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A1E50C9-9D3D-CF4C-95BC-90F860D77D37}" type="slidenum">
              <a:rPr kumimoji="0" lang="en-US" altLang="en-US" sz="1200" b="0" i="0" u="none" strike="noStrike" kern="1200" cap="none" spc="0" normalizeH="0" baseline="0" noProof="0">
                <a:ln>
                  <a:noFill/>
                </a:ln>
                <a:solidFill>
                  <a:prstClr val="black"/>
                </a:solidFill>
                <a:effectLst/>
                <a:uLnTx/>
                <a:uFillTx/>
                <a:latin typeface="Times" charset="0"/>
                <a:ea typeface="ＭＳ Ｐゴシック"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Times" charset="0"/>
              <a:ea typeface="ＭＳ Ｐゴシック" charset="-128"/>
              <a:cs typeface="+mn-cs"/>
            </a:endParaRPr>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p>
        </p:txBody>
      </p:sp>
    </p:spTree>
    <p:extLst>
      <p:ext uri="{BB962C8B-B14F-4D97-AF65-F5344CB8AC3E}">
        <p14:creationId xmlns:p14="http://schemas.microsoft.com/office/powerpoint/2010/main" val="2030084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A2FD415-3503-C54A-920B-CD0EF3E8E5CE}" type="slidenum">
              <a:rPr kumimoji="0" lang="en-US" altLang="en-US" sz="1200" b="0" i="0" u="none" strike="noStrike" kern="1200" cap="none" spc="0" normalizeH="0" baseline="0" noProof="0">
                <a:ln>
                  <a:noFill/>
                </a:ln>
                <a:solidFill>
                  <a:prstClr val="black"/>
                </a:solidFill>
                <a:effectLst/>
                <a:uLnTx/>
                <a:uFillTx/>
                <a:latin typeface="Times" charset="0"/>
                <a:ea typeface="ＭＳ Ｐゴシック"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Times" charset="0"/>
              <a:ea typeface="ＭＳ Ｐゴシック" charset="-128"/>
              <a:cs typeface="+mn-cs"/>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p>
        </p:txBody>
      </p:sp>
    </p:spTree>
    <p:extLst>
      <p:ext uri="{BB962C8B-B14F-4D97-AF65-F5344CB8AC3E}">
        <p14:creationId xmlns:p14="http://schemas.microsoft.com/office/powerpoint/2010/main" val="1130093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Verdana" charset="0"/>
                <a:ea typeface="ＭＳ Ｐゴシック" charset="0"/>
                <a:cs typeface="ＭＳ Ｐゴシック" charset="0"/>
              </a:defRPr>
            </a:lvl1pPr>
            <a:lvl2pPr marL="742950" indent="-285750" eaLnBrk="0" hangingPunct="0">
              <a:defRPr sz="2500">
                <a:solidFill>
                  <a:schemeClr val="tx1"/>
                </a:solidFill>
                <a:latin typeface="Verdana" charset="0"/>
                <a:ea typeface="ＭＳ Ｐゴシック" charset="0"/>
              </a:defRPr>
            </a:lvl2pPr>
            <a:lvl3pPr marL="1143000" indent="-228600" eaLnBrk="0" hangingPunct="0">
              <a:defRPr sz="2500">
                <a:solidFill>
                  <a:schemeClr val="tx1"/>
                </a:solidFill>
                <a:latin typeface="Verdana" charset="0"/>
                <a:ea typeface="ＭＳ Ｐゴシック" charset="0"/>
              </a:defRPr>
            </a:lvl3pPr>
            <a:lvl4pPr marL="1600200" indent="-228600" eaLnBrk="0" hangingPunct="0">
              <a:defRPr sz="2500">
                <a:solidFill>
                  <a:schemeClr val="tx1"/>
                </a:solidFill>
                <a:latin typeface="Verdana" charset="0"/>
                <a:ea typeface="ＭＳ Ｐゴシック" charset="0"/>
              </a:defRPr>
            </a:lvl4pPr>
            <a:lvl5pPr marL="2057400" indent="-228600" eaLnBrk="0" hangingPunct="0">
              <a:defRPr sz="2500">
                <a:solidFill>
                  <a:schemeClr val="tx1"/>
                </a:solidFill>
                <a:latin typeface="Verdana" charset="0"/>
                <a:ea typeface="ＭＳ Ｐゴシック" charset="0"/>
              </a:defRPr>
            </a:lvl5pPr>
            <a:lvl6pPr marL="2514600" indent="-228600" eaLnBrk="0" fontAlgn="base" hangingPunct="0">
              <a:spcBef>
                <a:spcPct val="0"/>
              </a:spcBef>
              <a:spcAft>
                <a:spcPct val="0"/>
              </a:spcAft>
              <a:defRPr sz="2500">
                <a:solidFill>
                  <a:schemeClr val="tx1"/>
                </a:solidFill>
                <a:latin typeface="Verdana" charset="0"/>
                <a:ea typeface="ＭＳ Ｐゴシック" charset="0"/>
              </a:defRPr>
            </a:lvl6pPr>
            <a:lvl7pPr marL="2971800" indent="-228600" eaLnBrk="0" fontAlgn="base" hangingPunct="0">
              <a:spcBef>
                <a:spcPct val="0"/>
              </a:spcBef>
              <a:spcAft>
                <a:spcPct val="0"/>
              </a:spcAft>
              <a:defRPr sz="2500">
                <a:solidFill>
                  <a:schemeClr val="tx1"/>
                </a:solidFill>
                <a:latin typeface="Verdana" charset="0"/>
                <a:ea typeface="ＭＳ Ｐゴシック" charset="0"/>
              </a:defRPr>
            </a:lvl7pPr>
            <a:lvl8pPr marL="3429000" indent="-228600" eaLnBrk="0" fontAlgn="base" hangingPunct="0">
              <a:spcBef>
                <a:spcPct val="0"/>
              </a:spcBef>
              <a:spcAft>
                <a:spcPct val="0"/>
              </a:spcAft>
              <a:defRPr sz="2500">
                <a:solidFill>
                  <a:schemeClr val="tx1"/>
                </a:solidFill>
                <a:latin typeface="Verdana" charset="0"/>
                <a:ea typeface="ＭＳ Ｐゴシック" charset="0"/>
              </a:defRPr>
            </a:lvl8pPr>
            <a:lvl9pPr marL="3886200" indent="-228600" eaLnBrk="0" fontAlgn="base" hangingPunct="0">
              <a:spcBef>
                <a:spcPct val="0"/>
              </a:spcBef>
              <a:spcAft>
                <a:spcPct val="0"/>
              </a:spcAft>
              <a:defRPr sz="2500">
                <a:solidFill>
                  <a:schemeClr val="tx1"/>
                </a:solidFill>
                <a:latin typeface="Verdana" charset="0"/>
                <a:ea typeface="ＭＳ Ｐゴシック" charset="0"/>
              </a:defRPr>
            </a:lvl9pPr>
          </a:lstStyle>
          <a:p>
            <a:fld id="{F49BD236-AF7E-0D44-A239-5A6799889AFE}" type="slidenum">
              <a:rPr lang="en-US" sz="1200">
                <a:latin typeface="Calibri" charset="0"/>
              </a:rPr>
              <a:pPr/>
              <a:t>10</a:t>
            </a:fld>
            <a:endParaRPr lang="en-US" sz="1200" dirty="0">
              <a:latin typeface="Calibri"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pt-BR" dirty="0">
              <a:ea typeface="ＭＳ Ｐゴシック" charset="0"/>
              <a:cs typeface="ＭＳ Ｐゴシック" charset="0"/>
            </a:endParaRPr>
          </a:p>
        </p:txBody>
      </p:sp>
    </p:spTree>
    <p:extLst>
      <p:ext uri="{BB962C8B-B14F-4D97-AF65-F5344CB8AC3E}">
        <p14:creationId xmlns:p14="http://schemas.microsoft.com/office/powerpoint/2010/main" val="821723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Introduction</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a:p>
        </p:txBody>
      </p:sp>
      <p:sp>
        <p:nvSpPr>
          <p:cNvPr id="6" name="Footer Placeholder 4"/>
          <p:cNvSpPr>
            <a:spLocks noGrp="1"/>
          </p:cNvSpPr>
          <p:nvPr>
            <p:ph type="ftr" sz="quarter" idx="11"/>
          </p:nvPr>
        </p:nvSpPr>
        <p:spPr/>
        <p:txBody>
          <a:bodyPr/>
          <a:lstStyle>
            <a:lvl1pPr>
              <a:defRPr sz="1000" b="1" smtClean="0"/>
            </a:lvl1pPr>
          </a:lstStyle>
          <a:p>
            <a:pPr>
              <a:defRPr/>
            </a:pPr>
            <a:r>
              <a:rPr lang="en-US" dirty="0"/>
              <a:t>Introduction</a:t>
            </a:r>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a:p>
        </p:txBody>
      </p:sp>
      <p:sp>
        <p:nvSpPr>
          <p:cNvPr id="6" name="Footer Placeholder 12"/>
          <p:cNvSpPr>
            <a:spLocks noGrp="1"/>
          </p:cNvSpPr>
          <p:nvPr>
            <p:ph type="ftr" sz="quarter" idx="19"/>
          </p:nvPr>
        </p:nvSpPr>
        <p:spPr/>
        <p:txBody>
          <a:bodyPr/>
          <a:lstStyle>
            <a:lvl1pPr>
              <a:defRPr/>
            </a:lvl1pPr>
          </a:lstStyle>
          <a:p>
            <a:pPr>
              <a:defRPr/>
            </a:pPr>
            <a:r>
              <a:rPr lang="en-US"/>
              <a:t>Introduction</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a:p>
        </p:txBody>
      </p:sp>
      <p:sp>
        <p:nvSpPr>
          <p:cNvPr id="8" name="Footer Placeholder 12"/>
          <p:cNvSpPr>
            <a:spLocks noGrp="1"/>
          </p:cNvSpPr>
          <p:nvPr>
            <p:ph type="ftr" sz="quarter" idx="20"/>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Introduction</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Introduction</a:t>
            </a:r>
          </a:p>
        </p:txBody>
      </p:sp>
      <p:sp>
        <p:nvSpPr>
          <p:cNvPr id="5" name="Rectangle 4"/>
          <p:cNvSpPr>
            <a:spLocks noGrp="1" noChangeArrowheads="1"/>
          </p:cNvSpPr>
          <p:nvPr>
            <p:ph type="sldNum" sz="quarter" idx="11"/>
          </p:nvPr>
        </p:nvSpPr>
        <p:spPr/>
        <p:txBody>
          <a:bodyPr/>
          <a:lstStyle>
            <a:lvl1pPr>
              <a:defRPr/>
            </a:lvl1pPr>
          </a:lstStyle>
          <a:p>
            <a:endParaRPr lang="en-US">
              <a:latin typeface="Calibri"/>
            </a:endParaRPr>
          </a:p>
          <a:p>
            <a:fld id="{32A47CA8-1D40-3C49-82CF-CF2201A41E4F}"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227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36145127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smtClean="0">
                <a:solidFill>
                  <a:srgbClr val="898989"/>
                </a:solidFill>
                <a:latin typeface="+mn-lt"/>
                <a:ea typeface="+mn-ea"/>
              </a:defRPr>
            </a:lvl1pPr>
          </a:lstStyle>
          <a:p>
            <a:pPr>
              <a:defRPr/>
            </a:pPr>
            <a:r>
              <a:rPr lang="en-US" dirty="0"/>
              <a:t>Introduction</a:t>
            </a:r>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baseline="0" dirty="0">
                <a:latin typeface="+mn-lt"/>
              </a:rPr>
              <a:t>FIT_Intro_2026F</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6" r:id="rId56"/>
    <p:sldLayoutId id="2147483717" r:id="rId57"/>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3" Type="http://schemas.openxmlformats.org/officeDocument/2006/relationships/hyperlink" Target="https://jmc877.github.io/Fed-Income-Tax/"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taxnotes.com/researc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Federal Income Taxation</a:t>
            </a:r>
            <a:br>
              <a:rPr lang="en-US" dirty="0"/>
            </a:br>
            <a:r>
              <a:rPr lang="en-US" i="1" dirty="0"/>
              <a:t>Introduction</a:t>
            </a:r>
            <a:endParaRPr lang="en-US" dirty="0"/>
          </a:p>
        </p:txBody>
      </p:sp>
      <p:sp>
        <p:nvSpPr>
          <p:cNvPr id="3" name="Subtitle 2"/>
          <p:cNvSpPr>
            <a:spLocks noGrp="1"/>
          </p:cNvSpPr>
          <p:nvPr>
            <p:ph type="subTitle" idx="1"/>
          </p:nvPr>
        </p:nvSpPr>
        <p:spPr>
          <a:xfrm>
            <a:off x="2667000" y="3735244"/>
            <a:ext cx="6858000" cy="609600"/>
          </a:xfrm>
          <a:prstGeom prst="rect">
            <a:avLst/>
          </a:prstGeom>
        </p:spPr>
        <p:txBody>
          <a:bodyPr>
            <a:normAutofit fontScale="85000" lnSpcReduction="20000"/>
          </a:bodyPr>
          <a:lstStyle/>
          <a:p>
            <a:r>
              <a:rPr lang="en-US" sz="2100" b="1" dirty="0"/>
              <a:t>Prof. Colon</a:t>
            </a:r>
          </a:p>
          <a:p>
            <a:r>
              <a:rPr lang="en-US" sz="2100" b="1" dirty="0"/>
              <a:t>Fall 2026</a:t>
            </a:r>
          </a:p>
        </p:txBody>
      </p:sp>
      <p:sp>
        <p:nvSpPr>
          <p:cNvPr id="6" name="Footer Placeholder 5">
            <a:extLst>
              <a:ext uri="{FF2B5EF4-FFF2-40B4-BE49-F238E27FC236}">
                <a16:creationId xmlns:a16="http://schemas.microsoft.com/office/drawing/2014/main" id="{D8D80FCD-05A6-764D-BFDB-63AA23C975A4}"/>
              </a:ext>
            </a:extLst>
          </p:cNvPr>
          <p:cNvSpPr>
            <a:spLocks noGrp="1"/>
          </p:cNvSpPr>
          <p:nvPr>
            <p:ph type="ftr" sz="quarter" idx="11"/>
          </p:nvPr>
        </p:nvSpPr>
        <p:spPr/>
        <p:txBody>
          <a:bodyPr/>
          <a:lstStyle/>
          <a:p>
            <a:r>
              <a:rPr lang="en-US"/>
              <a:t>Introduction</a:t>
            </a:r>
          </a:p>
        </p:txBody>
      </p:sp>
      <p:sp>
        <p:nvSpPr>
          <p:cNvPr id="7" name="Slide Number Placeholder 6">
            <a:extLst>
              <a:ext uri="{FF2B5EF4-FFF2-40B4-BE49-F238E27FC236}">
                <a16:creationId xmlns:a16="http://schemas.microsoft.com/office/drawing/2014/main" id="{17EAF7C4-7F9E-D84A-9606-10CB55E9141B}"/>
              </a:ext>
            </a:extLst>
          </p:cNvPr>
          <p:cNvSpPr>
            <a:spLocks noGrp="1"/>
          </p:cNvSpPr>
          <p:nvPr>
            <p:ph type="sldNum" sz="quarter" idx="12"/>
          </p:nvPr>
        </p:nvSpPr>
        <p:spPr/>
        <p:txBody>
          <a:bodyPr/>
          <a:lstStyle/>
          <a:p>
            <a:fld id="{96D85B43-D788-46F7-A773-91C165729B06}" type="slidenum">
              <a:rPr lang="en-US" smtClean="0"/>
              <a:t>1</a:t>
            </a:fld>
            <a:endParaRPr lang="en-US"/>
          </a:p>
        </p:txBody>
      </p:sp>
      <p:pic>
        <p:nvPicPr>
          <p:cNvPr id="4" name="Picture 3" descr="pic1.tiff">
            <a:extLst>
              <a:ext uri="{FF2B5EF4-FFF2-40B4-BE49-F238E27FC236}">
                <a16:creationId xmlns:a16="http://schemas.microsoft.com/office/drawing/2014/main" id="{5FBE4712-B185-3E2A-6BCF-EA745AF23B6D}"/>
              </a:ext>
            </a:extLst>
          </p:cNvPr>
          <p:cNvPicPr>
            <a:picLocks noChangeAspect="1"/>
          </p:cNvPicPr>
          <p:nvPr/>
        </p:nvPicPr>
        <p:blipFill>
          <a:blip r:embed="rId3"/>
          <a:stretch>
            <a:fillRect/>
          </a:stretch>
        </p:blipFill>
        <p:spPr>
          <a:xfrm>
            <a:off x="4572001" y="4893917"/>
            <a:ext cx="2873661" cy="649527"/>
          </a:xfrm>
          <a:prstGeom prst="rect">
            <a:avLst/>
          </a:prstGeom>
        </p:spPr>
      </p:pic>
    </p:spTree>
    <p:extLst>
      <p:ext uri="{BB962C8B-B14F-4D97-AF65-F5344CB8AC3E}">
        <p14:creationId xmlns:p14="http://schemas.microsoft.com/office/powerpoint/2010/main" val="12355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lnSpcReduction="10000"/>
          </a:bodyPr>
          <a:lstStyle/>
          <a:p>
            <a:pPr algn="l"/>
            <a:r>
              <a:rPr lang="en-US" sz="2800" dirty="0"/>
              <a:t>Class web page: </a:t>
            </a:r>
            <a:r>
              <a:rPr lang="en-US" sz="2800" dirty="0">
                <a:hlinkClick r:id="rId3"/>
              </a:rPr>
              <a:t>https://jmc877.github.io/Fed-Income-Tax/</a:t>
            </a:r>
            <a:endParaRPr lang="en-US" sz="2800" dirty="0"/>
          </a:p>
          <a:p>
            <a:r>
              <a:rPr lang="en-US" sz="2800" dirty="0"/>
              <a:t>Textbook &amp; Code</a:t>
            </a:r>
          </a:p>
          <a:p>
            <a:pPr lvl="1"/>
            <a:r>
              <a:rPr lang="en-US" sz="2000" dirty="0"/>
              <a:t>Geier, </a:t>
            </a:r>
            <a:r>
              <a:rPr lang="en-US" sz="2000" i="1" dirty="0"/>
              <a:t>U.S. Federal Income Taxation of Individuals </a:t>
            </a:r>
            <a:r>
              <a:rPr lang="en-US" sz="2000" dirty="0"/>
              <a:t>(2025) [FIT].  There is a MS Word version too.</a:t>
            </a:r>
          </a:p>
          <a:p>
            <a:pPr lvl="1"/>
            <a:r>
              <a:rPr lang="en-US" sz="2000" dirty="0"/>
              <a:t>Code &amp; Regs</a:t>
            </a:r>
          </a:p>
          <a:p>
            <a:pPr lvl="2"/>
            <a:r>
              <a:rPr lang="en-US" sz="2000" dirty="0"/>
              <a:t>Pdf of Code and Regs that we’ll use this semester posted on class web page.</a:t>
            </a:r>
          </a:p>
          <a:p>
            <a:pPr lvl="2"/>
            <a:r>
              <a:rPr lang="en-US" sz="2000" dirty="0"/>
              <a:t>Commercial versions: I like </a:t>
            </a:r>
            <a:r>
              <a:rPr lang="en-US" sz="2000" i="1" dirty="0"/>
              <a:t>CCH, Selected Sections, </a:t>
            </a:r>
            <a:r>
              <a:rPr lang="en-US" sz="2000" dirty="0"/>
              <a:t>but</a:t>
            </a:r>
            <a:r>
              <a:rPr lang="en-US" sz="2000" i="1" dirty="0"/>
              <a:t> </a:t>
            </a:r>
            <a:r>
              <a:rPr lang="en-US" sz="2000" dirty="0"/>
              <a:t>West or Foundation are also good.  If you order a printed version, make sure that it has the 2025 OBBBA provisions.</a:t>
            </a:r>
          </a:p>
          <a:p>
            <a:pPr lvl="2"/>
            <a:r>
              <a:rPr lang="en-US" sz="2000" dirty="0"/>
              <a:t>Fantastic free database of federal tax materials:  </a:t>
            </a:r>
            <a:r>
              <a:rPr lang="en-US" sz="2000" dirty="0">
                <a:hlinkClick r:id="rId4"/>
              </a:rPr>
              <a:t>Tax Analysts </a:t>
            </a:r>
            <a:endParaRPr lang="en-US" sz="2000" dirty="0"/>
          </a:p>
          <a:p>
            <a:r>
              <a:rPr lang="en-US" sz="2800" dirty="0"/>
              <a:t>Exam: </a:t>
            </a:r>
          </a:p>
          <a:p>
            <a:pPr lvl="1"/>
            <a:r>
              <a:rPr lang="en-US" sz="2400" dirty="0"/>
              <a:t>Yes</a:t>
            </a:r>
          </a:p>
          <a:p>
            <a:pPr lvl="1"/>
            <a:r>
              <a:rPr lang="en-US" sz="2400" dirty="0"/>
              <a:t>Type = MC + Short Answer</a:t>
            </a:r>
          </a:p>
          <a:p>
            <a:r>
              <a:rPr lang="en-US" sz="2800" dirty="0"/>
              <a:t>Recording: Yes, but: </a:t>
            </a:r>
            <a:r>
              <a:rPr lang="en-US" sz="2800" b="1" i="1" dirty="0"/>
              <a:t>a</a:t>
            </a:r>
            <a:r>
              <a:rPr lang="en-US" sz="2800" b="1" i="1" dirty="0">
                <a:ea typeface="ＭＳ Ｐゴシック" charset="0"/>
              </a:rPr>
              <a:t>ll class recordings are the property of instructor, and students may not download or capture the recording in any manner, share the recording, or use it for non-class purposes. Students may not record the class. </a:t>
            </a:r>
          </a:p>
          <a:p>
            <a:endParaRPr lang="en-US" dirty="0">
              <a:latin typeface="+mn-lt"/>
            </a:endParaRPr>
          </a:p>
        </p:txBody>
      </p:sp>
      <p:sp>
        <p:nvSpPr>
          <p:cNvPr id="4" name="Title 3"/>
          <p:cNvSpPr>
            <a:spLocks noGrp="1"/>
          </p:cNvSpPr>
          <p:nvPr>
            <p:ph type="title"/>
          </p:nvPr>
        </p:nvSpPr>
        <p:spPr/>
        <p:txBody>
          <a:bodyPr/>
          <a:lstStyle/>
          <a:p>
            <a:r>
              <a:rPr lang="en-US" dirty="0"/>
              <a:t>Administrative Details</a:t>
            </a:r>
          </a:p>
        </p:txBody>
      </p:sp>
      <p:sp>
        <p:nvSpPr>
          <p:cNvPr id="2" name="Slide Number Placeholder 1"/>
          <p:cNvSpPr>
            <a:spLocks noGrp="1"/>
          </p:cNvSpPr>
          <p:nvPr>
            <p:ph type="sldNum" sz="quarter" idx="10"/>
          </p:nvPr>
        </p:nvSpPr>
        <p:spPr/>
        <p:txBody>
          <a:bodyPr/>
          <a:lstStyle/>
          <a:p>
            <a:fld id="{22D706CB-156B-8643-9A07-D8448DABBCBD}" type="slidenum">
              <a:rPr lang="en-US" altLang="en-US" smtClean="0"/>
              <a:pPr/>
              <a:t>2</a:t>
            </a:fld>
            <a:endParaRPr lang="en-US" altLang="en-US" dirty="0"/>
          </a:p>
        </p:txBody>
      </p:sp>
      <p:sp>
        <p:nvSpPr>
          <p:cNvPr id="3" name="Footer Placeholder 2"/>
          <p:cNvSpPr>
            <a:spLocks noGrp="1"/>
          </p:cNvSpPr>
          <p:nvPr>
            <p:ph type="ftr" sz="quarter" idx="11"/>
          </p:nvPr>
        </p:nvSpPr>
        <p:spPr/>
        <p:txBody>
          <a:bodyPr/>
          <a:lstStyle/>
          <a:p>
            <a:pPr>
              <a:defRPr/>
            </a:pPr>
            <a:r>
              <a:rPr lang="en-US" dirty="0"/>
              <a:t>Introduction</a:t>
            </a:r>
          </a:p>
        </p:txBody>
      </p:sp>
    </p:spTree>
    <p:extLst>
      <p:ext uri="{BB962C8B-B14F-4D97-AF65-F5344CB8AC3E}">
        <p14:creationId xmlns:p14="http://schemas.microsoft.com/office/powerpoint/2010/main" val="23122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D4533D-3FBC-5BEF-6432-163CB51F243B}"/>
              </a:ext>
            </a:extLst>
          </p:cNvPr>
          <p:cNvSpPr>
            <a:spLocks noGrp="1"/>
          </p:cNvSpPr>
          <p:nvPr>
            <p:ph idx="1"/>
          </p:nvPr>
        </p:nvSpPr>
        <p:spPr/>
        <p:txBody>
          <a:bodyPr/>
          <a:lstStyle/>
          <a:p>
            <a:r>
              <a:rPr lang="en-US" sz="3200" dirty="0"/>
              <a:t>Understand and be able to apply to problems the fundamental provisions of the US tax rules applicable to US individuals:</a:t>
            </a:r>
          </a:p>
          <a:p>
            <a:pPr lvl="1"/>
            <a:r>
              <a:rPr lang="en-US" sz="2800" dirty="0"/>
              <a:t>Scope of the term “income”; gifts and income shifting; borrowing &amp; lending; debt &amp; property; disposition of property, including CGs &amp; CLs; tax shelters, and the treatment of human capital, among other topics.</a:t>
            </a:r>
          </a:p>
          <a:p>
            <a:pPr lvl="1"/>
            <a:r>
              <a:rPr lang="en-US" sz="2800" dirty="0"/>
              <a:t>IRS administrative guidance (revenue rulings, revenue procedures, notices, and PLRs)</a:t>
            </a:r>
          </a:p>
          <a:p>
            <a:pPr lvl="1"/>
            <a:r>
              <a:rPr lang="en-US" sz="2800" dirty="0"/>
              <a:t>Judicial decisions interpreting the Code &amp; Regs, especially the application of common law and statutory substance-over-form principles</a:t>
            </a:r>
          </a:p>
          <a:p>
            <a:endParaRPr lang="en-US" dirty="0"/>
          </a:p>
        </p:txBody>
      </p:sp>
      <p:sp>
        <p:nvSpPr>
          <p:cNvPr id="3" name="Title 2">
            <a:extLst>
              <a:ext uri="{FF2B5EF4-FFF2-40B4-BE49-F238E27FC236}">
                <a16:creationId xmlns:a16="http://schemas.microsoft.com/office/drawing/2014/main" id="{C744B4CC-B278-B784-81DB-A1C0AFC5D41D}"/>
              </a:ext>
            </a:extLst>
          </p:cNvPr>
          <p:cNvSpPr>
            <a:spLocks noGrp="1"/>
          </p:cNvSpPr>
          <p:nvPr>
            <p:ph type="title"/>
          </p:nvPr>
        </p:nvSpPr>
        <p:spPr/>
        <p:txBody>
          <a:bodyPr/>
          <a:lstStyle/>
          <a:p>
            <a:r>
              <a:rPr lang="en-US" dirty="0"/>
              <a:t>Course Goals	</a:t>
            </a:r>
          </a:p>
        </p:txBody>
      </p:sp>
      <p:sp>
        <p:nvSpPr>
          <p:cNvPr id="4" name="Slide Number Placeholder 3">
            <a:extLst>
              <a:ext uri="{FF2B5EF4-FFF2-40B4-BE49-F238E27FC236}">
                <a16:creationId xmlns:a16="http://schemas.microsoft.com/office/drawing/2014/main" id="{8D860933-51B3-C84B-D97E-879C96006B3F}"/>
              </a:ext>
            </a:extLst>
          </p:cNvPr>
          <p:cNvSpPr>
            <a:spLocks noGrp="1"/>
          </p:cNvSpPr>
          <p:nvPr>
            <p:ph type="sldNum" sz="quarter" idx="10"/>
          </p:nvPr>
        </p:nvSpPr>
        <p:spPr/>
        <p:txBody>
          <a:bodyPr/>
          <a:lstStyle/>
          <a:p>
            <a:fld id="{7B3E355C-57B9-BC4B-95D8-406A1F834537}" type="slidenum">
              <a:rPr lang="en-US" altLang="en-US" smtClean="0"/>
              <a:pPr/>
              <a:t>3</a:t>
            </a:fld>
            <a:endParaRPr lang="en-US" altLang="en-US"/>
          </a:p>
        </p:txBody>
      </p:sp>
      <p:sp>
        <p:nvSpPr>
          <p:cNvPr id="5" name="Footer Placeholder 4">
            <a:extLst>
              <a:ext uri="{FF2B5EF4-FFF2-40B4-BE49-F238E27FC236}">
                <a16:creationId xmlns:a16="http://schemas.microsoft.com/office/drawing/2014/main" id="{84F13218-7548-CA34-B983-4A0F91E07F0A}"/>
              </a:ext>
            </a:extLst>
          </p:cNvPr>
          <p:cNvSpPr>
            <a:spLocks noGrp="1"/>
          </p:cNvSpPr>
          <p:nvPr>
            <p:ph type="ftr" sz="quarter" idx="11"/>
          </p:nvPr>
        </p:nvSpPr>
        <p:spPr/>
        <p:txBody>
          <a:bodyPr/>
          <a:lstStyle/>
          <a:p>
            <a:pPr>
              <a:defRPr/>
            </a:pPr>
            <a:r>
              <a:rPr lang="en-US"/>
              <a:t>Introduction</a:t>
            </a:r>
            <a:endParaRPr lang="en-US" dirty="0"/>
          </a:p>
        </p:txBody>
      </p:sp>
    </p:spTree>
    <p:extLst>
      <p:ext uri="{BB962C8B-B14F-4D97-AF65-F5344CB8AC3E}">
        <p14:creationId xmlns:p14="http://schemas.microsoft.com/office/powerpoint/2010/main" val="579957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4DDB84-B3F8-6348-C623-C721716F7172}"/>
              </a:ext>
            </a:extLst>
          </p:cNvPr>
          <p:cNvSpPr>
            <a:spLocks noGrp="1"/>
          </p:cNvSpPr>
          <p:nvPr>
            <p:ph type="title"/>
          </p:nvPr>
        </p:nvSpPr>
        <p:spPr/>
        <p:txBody>
          <a:bodyPr/>
          <a:lstStyle/>
          <a:p>
            <a:r>
              <a:rPr lang="en-US" dirty="0"/>
              <a:t>Legislative Branch</a:t>
            </a:r>
          </a:p>
        </p:txBody>
      </p:sp>
      <p:sp>
        <p:nvSpPr>
          <p:cNvPr id="4" name="Slide Number Placeholder 3">
            <a:extLst>
              <a:ext uri="{FF2B5EF4-FFF2-40B4-BE49-F238E27FC236}">
                <a16:creationId xmlns:a16="http://schemas.microsoft.com/office/drawing/2014/main" id="{7715E5E7-B5C6-219B-41FF-5706EB821317}"/>
              </a:ext>
            </a:extLst>
          </p:cNvPr>
          <p:cNvSpPr>
            <a:spLocks noGrp="1"/>
          </p:cNvSpPr>
          <p:nvPr>
            <p:ph type="sldNum" sz="quarter" idx="10"/>
          </p:nvPr>
        </p:nvSpPr>
        <p:spPr/>
        <p:txBody>
          <a:bodyPr/>
          <a:lstStyle/>
          <a:p>
            <a:fld id="{7B3E355C-57B9-BC4B-95D8-406A1F834537}" type="slidenum">
              <a:rPr lang="en-US" altLang="en-US" smtClean="0"/>
              <a:pPr/>
              <a:t>4</a:t>
            </a:fld>
            <a:endParaRPr lang="en-US" altLang="en-US"/>
          </a:p>
        </p:txBody>
      </p:sp>
      <p:sp>
        <p:nvSpPr>
          <p:cNvPr id="5" name="Footer Placeholder 4">
            <a:extLst>
              <a:ext uri="{FF2B5EF4-FFF2-40B4-BE49-F238E27FC236}">
                <a16:creationId xmlns:a16="http://schemas.microsoft.com/office/drawing/2014/main" id="{D573DDAC-3AE7-FE8D-884E-762F50158C68}"/>
              </a:ext>
            </a:extLst>
          </p:cNvPr>
          <p:cNvSpPr>
            <a:spLocks noGrp="1"/>
          </p:cNvSpPr>
          <p:nvPr>
            <p:ph type="ftr" sz="quarter" idx="11"/>
          </p:nvPr>
        </p:nvSpPr>
        <p:spPr/>
        <p:txBody>
          <a:bodyPr/>
          <a:lstStyle/>
          <a:p>
            <a:pPr>
              <a:defRPr/>
            </a:pPr>
            <a:r>
              <a:rPr lang="en-US" dirty="0"/>
              <a:t>Introduction</a:t>
            </a:r>
          </a:p>
        </p:txBody>
      </p:sp>
      <p:sp>
        <p:nvSpPr>
          <p:cNvPr id="6" name="Rectangle 4">
            <a:extLst>
              <a:ext uri="{FF2B5EF4-FFF2-40B4-BE49-F238E27FC236}">
                <a16:creationId xmlns:a16="http://schemas.microsoft.com/office/drawing/2014/main" id="{11E96A6B-10AC-EB0B-F91E-CBC7F4C51A73}"/>
              </a:ext>
            </a:extLst>
          </p:cNvPr>
          <p:cNvSpPr>
            <a:spLocks noChangeArrowheads="1"/>
          </p:cNvSpPr>
          <p:nvPr/>
        </p:nvSpPr>
        <p:spPr bwMode="auto">
          <a:xfrm>
            <a:off x="3028951" y="4562475"/>
            <a:ext cx="2827735"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Reconciliation Conference</a:t>
            </a:r>
          </a:p>
        </p:txBody>
      </p:sp>
      <p:sp>
        <p:nvSpPr>
          <p:cNvPr id="7" name="Rectangle 6">
            <a:extLst>
              <a:ext uri="{FF2B5EF4-FFF2-40B4-BE49-F238E27FC236}">
                <a16:creationId xmlns:a16="http://schemas.microsoft.com/office/drawing/2014/main" id="{9881F5D0-AE32-DFE8-13D6-05BB755EFFE9}"/>
              </a:ext>
            </a:extLst>
          </p:cNvPr>
          <p:cNvSpPr>
            <a:spLocks noChangeArrowheads="1"/>
          </p:cNvSpPr>
          <p:nvPr/>
        </p:nvSpPr>
        <p:spPr bwMode="auto">
          <a:xfrm>
            <a:off x="3028951" y="3190875"/>
            <a:ext cx="2827735" cy="60245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dirty="0">
                <a:solidFill>
                  <a:prstClr val="black"/>
                </a:solidFill>
                <a:cs typeface="+mn-cs"/>
              </a:rPr>
              <a:t>Executive Sessions of Ways and Means and Senate Finance</a:t>
            </a:r>
          </a:p>
        </p:txBody>
      </p:sp>
      <p:sp>
        <p:nvSpPr>
          <p:cNvPr id="8" name="Rectangle 7">
            <a:extLst>
              <a:ext uri="{FF2B5EF4-FFF2-40B4-BE49-F238E27FC236}">
                <a16:creationId xmlns:a16="http://schemas.microsoft.com/office/drawing/2014/main" id="{9D084291-8D8B-EDDA-BE54-28D936AEE51E}"/>
              </a:ext>
            </a:extLst>
          </p:cNvPr>
          <p:cNvSpPr>
            <a:spLocks noChangeArrowheads="1"/>
          </p:cNvSpPr>
          <p:nvPr/>
        </p:nvSpPr>
        <p:spPr bwMode="auto">
          <a:xfrm>
            <a:off x="3086101" y="5076826"/>
            <a:ext cx="2827735" cy="4881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Bill Returned to Full House and Senate</a:t>
            </a:r>
          </a:p>
        </p:txBody>
      </p:sp>
      <p:sp>
        <p:nvSpPr>
          <p:cNvPr id="9" name="Rectangle 8">
            <a:extLst>
              <a:ext uri="{FF2B5EF4-FFF2-40B4-BE49-F238E27FC236}">
                <a16:creationId xmlns:a16="http://schemas.microsoft.com/office/drawing/2014/main" id="{65F86D82-9968-3CBE-D359-28D5D58CBD03}"/>
              </a:ext>
            </a:extLst>
          </p:cNvPr>
          <p:cNvSpPr>
            <a:spLocks noChangeArrowheads="1"/>
          </p:cNvSpPr>
          <p:nvPr/>
        </p:nvSpPr>
        <p:spPr bwMode="auto">
          <a:xfrm>
            <a:off x="3028951" y="3933826"/>
            <a:ext cx="2827735" cy="4881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Bill Referred to House and Senate Floors</a:t>
            </a:r>
          </a:p>
        </p:txBody>
      </p:sp>
      <p:sp>
        <p:nvSpPr>
          <p:cNvPr id="10" name="Rectangle 11">
            <a:extLst>
              <a:ext uri="{FF2B5EF4-FFF2-40B4-BE49-F238E27FC236}">
                <a16:creationId xmlns:a16="http://schemas.microsoft.com/office/drawing/2014/main" id="{8EE7D859-7BB0-2E77-FA97-33EAE6688515}"/>
              </a:ext>
            </a:extLst>
          </p:cNvPr>
          <p:cNvSpPr>
            <a:spLocks noChangeArrowheads="1"/>
          </p:cNvSpPr>
          <p:nvPr/>
        </p:nvSpPr>
        <p:spPr bwMode="auto">
          <a:xfrm>
            <a:off x="5429251" y="18121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endParaRPr lang="en-US" altLang="en-US" sz="1800">
              <a:solidFill>
                <a:prstClr val="black"/>
              </a:solidFill>
              <a:cs typeface="+mn-cs"/>
            </a:endParaRPr>
          </a:p>
        </p:txBody>
      </p:sp>
      <p:sp>
        <p:nvSpPr>
          <p:cNvPr id="11" name="Rectangle 12">
            <a:extLst>
              <a:ext uri="{FF2B5EF4-FFF2-40B4-BE49-F238E27FC236}">
                <a16:creationId xmlns:a16="http://schemas.microsoft.com/office/drawing/2014/main" id="{6ADD2917-F518-589A-1D30-1D5F5FFDC71D}"/>
              </a:ext>
            </a:extLst>
          </p:cNvPr>
          <p:cNvSpPr>
            <a:spLocks noChangeArrowheads="1"/>
          </p:cNvSpPr>
          <p:nvPr/>
        </p:nvSpPr>
        <p:spPr bwMode="auto">
          <a:xfrm>
            <a:off x="5372101" y="289798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endParaRPr lang="en-US" altLang="en-US" sz="1800">
              <a:solidFill>
                <a:prstClr val="black"/>
              </a:solidFill>
              <a:cs typeface="+mn-cs"/>
            </a:endParaRPr>
          </a:p>
        </p:txBody>
      </p:sp>
      <p:sp>
        <p:nvSpPr>
          <p:cNvPr id="12" name="Rectangle 13">
            <a:extLst>
              <a:ext uri="{FF2B5EF4-FFF2-40B4-BE49-F238E27FC236}">
                <a16:creationId xmlns:a16="http://schemas.microsoft.com/office/drawing/2014/main" id="{3E551BF3-F9B2-5E66-F7DD-FE906F0EB384}"/>
              </a:ext>
            </a:extLst>
          </p:cNvPr>
          <p:cNvSpPr>
            <a:spLocks noChangeArrowheads="1"/>
          </p:cNvSpPr>
          <p:nvPr/>
        </p:nvSpPr>
        <p:spPr bwMode="auto">
          <a:xfrm>
            <a:off x="3028951" y="1362075"/>
            <a:ext cx="2827735" cy="5143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dirty="0">
                <a:solidFill>
                  <a:prstClr val="black"/>
                </a:solidFill>
                <a:cs typeface="+mn-cs"/>
              </a:rPr>
              <a:t>Bill Introduced in the House of Representatives and Senate</a:t>
            </a:r>
          </a:p>
        </p:txBody>
      </p:sp>
      <p:sp>
        <p:nvSpPr>
          <p:cNvPr id="13" name="Rectangle 16">
            <a:extLst>
              <a:ext uri="{FF2B5EF4-FFF2-40B4-BE49-F238E27FC236}">
                <a16:creationId xmlns:a16="http://schemas.microsoft.com/office/drawing/2014/main" id="{0079A783-8A8F-5400-14E9-2AD3AD38A32F}"/>
              </a:ext>
            </a:extLst>
          </p:cNvPr>
          <p:cNvSpPr>
            <a:spLocks noChangeArrowheads="1"/>
          </p:cNvSpPr>
          <p:nvPr/>
        </p:nvSpPr>
        <p:spPr bwMode="auto">
          <a:xfrm>
            <a:off x="3028951" y="2105025"/>
            <a:ext cx="2827735" cy="900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Bill Referred to and Public Hearings by House Committee on Ways and Means and Senate Committee on Finance</a:t>
            </a:r>
          </a:p>
        </p:txBody>
      </p:sp>
      <p:cxnSp>
        <p:nvCxnSpPr>
          <p:cNvPr id="14" name="AutoShape 18">
            <a:extLst>
              <a:ext uri="{FF2B5EF4-FFF2-40B4-BE49-F238E27FC236}">
                <a16:creationId xmlns:a16="http://schemas.microsoft.com/office/drawing/2014/main" id="{A3AA4765-70F0-C6AA-0261-E881D34F4B1F}"/>
              </a:ext>
            </a:extLst>
          </p:cNvPr>
          <p:cNvCxnSpPr>
            <a:cxnSpLocks noChangeShapeType="1"/>
            <a:stCxn id="12" idx="2"/>
            <a:endCxn id="13" idx="0"/>
          </p:cNvCxnSpPr>
          <p:nvPr/>
        </p:nvCxnSpPr>
        <p:spPr bwMode="auto">
          <a:xfrm>
            <a:off x="4443413" y="1876425"/>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9">
            <a:extLst>
              <a:ext uri="{FF2B5EF4-FFF2-40B4-BE49-F238E27FC236}">
                <a16:creationId xmlns:a16="http://schemas.microsoft.com/office/drawing/2014/main" id="{939CE48C-DFD8-7BF6-D75D-FF942A5E1000}"/>
              </a:ext>
            </a:extLst>
          </p:cNvPr>
          <p:cNvCxnSpPr>
            <a:cxnSpLocks noChangeShapeType="1"/>
            <a:stCxn id="13" idx="2"/>
            <a:endCxn id="7" idx="0"/>
          </p:cNvCxnSpPr>
          <p:nvPr/>
        </p:nvCxnSpPr>
        <p:spPr bwMode="auto">
          <a:xfrm>
            <a:off x="4442819" y="3005138"/>
            <a:ext cx="0" cy="18573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20">
            <a:extLst>
              <a:ext uri="{FF2B5EF4-FFF2-40B4-BE49-F238E27FC236}">
                <a16:creationId xmlns:a16="http://schemas.microsoft.com/office/drawing/2014/main" id="{190491D5-5DBF-AF92-7189-83671CDBEF0E}"/>
              </a:ext>
            </a:extLst>
          </p:cNvPr>
          <p:cNvCxnSpPr>
            <a:cxnSpLocks noChangeShapeType="1"/>
            <a:stCxn id="7" idx="2"/>
          </p:cNvCxnSpPr>
          <p:nvPr/>
        </p:nvCxnSpPr>
        <p:spPr bwMode="auto">
          <a:xfrm>
            <a:off x="4442819" y="3793333"/>
            <a:ext cx="1785" cy="1547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21">
            <a:extLst>
              <a:ext uri="{FF2B5EF4-FFF2-40B4-BE49-F238E27FC236}">
                <a16:creationId xmlns:a16="http://schemas.microsoft.com/office/drawing/2014/main" id="{FF9A0221-D6FE-99C8-C80F-350D9CF6ACF2}"/>
              </a:ext>
            </a:extLst>
          </p:cNvPr>
          <p:cNvCxnSpPr>
            <a:cxnSpLocks noChangeShapeType="1"/>
            <a:stCxn id="9" idx="2"/>
          </p:cNvCxnSpPr>
          <p:nvPr/>
        </p:nvCxnSpPr>
        <p:spPr bwMode="auto">
          <a:xfrm>
            <a:off x="4443413" y="4421983"/>
            <a:ext cx="1191" cy="1547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8" name="Rectangle 25">
            <a:extLst>
              <a:ext uri="{FF2B5EF4-FFF2-40B4-BE49-F238E27FC236}">
                <a16:creationId xmlns:a16="http://schemas.microsoft.com/office/drawing/2014/main" id="{AB0C2EC4-5E10-415A-6D3B-AFF1A62156E7}"/>
              </a:ext>
            </a:extLst>
          </p:cNvPr>
          <p:cNvSpPr>
            <a:spLocks noChangeArrowheads="1"/>
          </p:cNvSpPr>
          <p:nvPr/>
        </p:nvSpPr>
        <p:spPr bwMode="auto">
          <a:xfrm>
            <a:off x="6743700" y="2962275"/>
            <a:ext cx="1028700" cy="51435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Executive Branch</a:t>
            </a:r>
          </a:p>
        </p:txBody>
      </p:sp>
      <p:cxnSp>
        <p:nvCxnSpPr>
          <p:cNvPr id="19" name="AutoShape 27">
            <a:extLst>
              <a:ext uri="{FF2B5EF4-FFF2-40B4-BE49-F238E27FC236}">
                <a16:creationId xmlns:a16="http://schemas.microsoft.com/office/drawing/2014/main" id="{ABE02DC4-D8B0-2C4C-C225-A72F7E38B411}"/>
              </a:ext>
            </a:extLst>
          </p:cNvPr>
          <p:cNvCxnSpPr>
            <a:cxnSpLocks noChangeShapeType="1"/>
            <a:stCxn id="8" idx="3"/>
            <a:endCxn id="18" idx="2"/>
          </p:cNvCxnSpPr>
          <p:nvPr/>
        </p:nvCxnSpPr>
        <p:spPr bwMode="auto">
          <a:xfrm flipV="1">
            <a:off x="5913836" y="3476625"/>
            <a:ext cx="1344215" cy="1844279"/>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8">
            <a:extLst>
              <a:ext uri="{FF2B5EF4-FFF2-40B4-BE49-F238E27FC236}">
                <a16:creationId xmlns:a16="http://schemas.microsoft.com/office/drawing/2014/main" id="{3177547C-2B1E-D3B9-CF03-C3F263C953DB}"/>
              </a:ext>
            </a:extLst>
          </p:cNvPr>
          <p:cNvCxnSpPr>
            <a:cxnSpLocks noChangeShapeType="1"/>
            <a:stCxn id="18" idx="0"/>
            <a:endCxn id="12" idx="3"/>
          </p:cNvCxnSpPr>
          <p:nvPr/>
        </p:nvCxnSpPr>
        <p:spPr bwMode="auto">
          <a:xfrm flipH="1" flipV="1">
            <a:off x="5856686" y="1619250"/>
            <a:ext cx="1401365" cy="13430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1" name="Line 33">
            <a:extLst>
              <a:ext uri="{FF2B5EF4-FFF2-40B4-BE49-F238E27FC236}">
                <a16:creationId xmlns:a16="http://schemas.microsoft.com/office/drawing/2014/main" id="{861E1A35-4ED1-8D28-FC7B-CB794E22E7DC}"/>
              </a:ext>
            </a:extLst>
          </p:cNvPr>
          <p:cNvSpPr>
            <a:spLocks noChangeShapeType="1"/>
          </p:cNvSpPr>
          <p:nvPr/>
        </p:nvSpPr>
        <p:spPr bwMode="auto">
          <a:xfrm>
            <a:off x="4457700" y="48482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pPr defTabSz="685800" fontAlgn="auto">
              <a:spcBef>
                <a:spcPts val="0"/>
              </a:spcBef>
              <a:spcAft>
                <a:spcPts val="0"/>
              </a:spcAft>
            </a:pPr>
            <a:endParaRPr lang="en-US" sz="1350">
              <a:solidFill>
                <a:prstClr val="black"/>
              </a:solidFill>
              <a:latin typeface="Calibri" panose="020F0502020204030204"/>
              <a:ea typeface="+mn-ea"/>
              <a:cs typeface="+mn-cs"/>
            </a:endParaRPr>
          </a:p>
        </p:txBody>
      </p:sp>
    </p:spTree>
    <p:extLst>
      <p:ext uri="{BB962C8B-B14F-4D97-AF65-F5344CB8AC3E}">
        <p14:creationId xmlns:p14="http://schemas.microsoft.com/office/powerpoint/2010/main" val="214712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7" grpId="0" animBg="1" autoUpdateAnimBg="0"/>
      <p:bldP spid="8" grpId="0" animBg="1" autoUpdateAnimBg="0"/>
      <p:bldP spid="9" grpId="0" animBg="1" autoUpdateAnimBg="0"/>
      <p:bldP spid="12" grpId="0" animBg="1" autoUpdateAnimBg="0"/>
      <p:bldP spid="13" grpId="0" animBg="1" autoUpdateAnimBg="0"/>
      <p:bldP spid="18" grpId="0" animBg="1" autoUpdateAnimBg="0"/>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p:txBody>
          <a:bodyPr>
            <a:normAutofit lnSpcReduction="10000"/>
          </a:bodyPr>
          <a:lstStyle/>
          <a:p>
            <a:pPr algn="ctr">
              <a:lnSpc>
                <a:spcPct val="90000"/>
              </a:lnSpc>
              <a:buFontTx/>
              <a:buNone/>
            </a:pPr>
            <a:r>
              <a:rPr lang="en-US" altLang="en-US" sz="1800" b="1" dirty="0"/>
              <a:t>Conference Committee Report (H.R. CONF. REP. NO. 115-466)</a:t>
            </a:r>
            <a:endParaRPr lang="en-US" altLang="en-US" sz="1800" dirty="0"/>
          </a:p>
          <a:p>
            <a:pPr algn="ctr">
              <a:lnSpc>
                <a:spcPct val="90000"/>
              </a:lnSpc>
              <a:buFontTx/>
              <a:buNone/>
            </a:pPr>
            <a:r>
              <a:rPr lang="en-US" altLang="en-US" sz="1800" b="1" i="1" dirty="0"/>
              <a:t>House Bill</a:t>
            </a:r>
          </a:p>
          <a:p>
            <a:pPr>
              <a:lnSpc>
                <a:spcPct val="90000"/>
              </a:lnSpc>
              <a:buFontTx/>
              <a:buNone/>
            </a:pPr>
            <a:r>
              <a:rPr lang="en-US" sz="1800" dirty="0"/>
              <a:t>The </a:t>
            </a:r>
            <a:r>
              <a:rPr lang="en-US" sz="1800" b="1" dirty="0"/>
              <a:t>deduction for business interest is limited to the sum of (1) business interest income; (2) 30% of the </a:t>
            </a:r>
            <a:r>
              <a:rPr lang="en-US" sz="1800" b="1" u="sng" dirty="0"/>
              <a:t>adjusted taxable income </a:t>
            </a:r>
            <a:r>
              <a:rPr lang="en-US" sz="1800" b="1" dirty="0"/>
              <a:t>of the taxpayer for the taxable year</a:t>
            </a:r>
            <a:r>
              <a:rPr lang="en-US" sz="1800" dirty="0"/>
              <a:t>; </a:t>
            </a:r>
            <a:r>
              <a:rPr lang="mr-IN" sz="1800" dirty="0"/>
              <a:t>…</a:t>
            </a:r>
            <a:r>
              <a:rPr lang="en-US" sz="1800" dirty="0"/>
              <a:t> The amount of any business interest not allowed as a deduction for any taxable year may be carried forward for up to five years beyond the year in which the business interest was paid or accrued, treating business interest as allowed as a deduction on a first-in, first-out basis</a:t>
            </a:r>
            <a:r>
              <a:rPr lang="mr-IN" sz="1800" dirty="0"/>
              <a:t>…</a:t>
            </a:r>
            <a:endParaRPr lang="en-US" sz="1800" dirty="0"/>
          </a:p>
          <a:p>
            <a:pPr>
              <a:lnSpc>
                <a:spcPct val="90000"/>
              </a:lnSpc>
              <a:buFontTx/>
              <a:buNone/>
            </a:pPr>
            <a:r>
              <a:rPr lang="en-US" sz="1800" dirty="0"/>
              <a:t> </a:t>
            </a:r>
            <a:r>
              <a:rPr lang="en-US" sz="1800" b="1" u="sng" dirty="0"/>
              <a:t>Adjusted taxable income</a:t>
            </a:r>
            <a:r>
              <a:rPr lang="en-US" sz="1800" dirty="0"/>
              <a:t> means the taxable income of the taxpayer computed </a:t>
            </a:r>
            <a:r>
              <a:rPr lang="en-US" sz="1800" b="1" dirty="0"/>
              <a:t>without regard to </a:t>
            </a:r>
            <a:r>
              <a:rPr lang="en-US" sz="1800" dirty="0"/>
              <a:t>(1) any item of income, gain, deduction, or loss which is not properly allocable to a trade or business; (2) any business interest or business interest income; (3) the amount of any net operating loss deduction; and (4) </a:t>
            </a:r>
            <a:r>
              <a:rPr lang="en-US" sz="1800" b="1" u="sng" dirty="0"/>
              <a:t>any deduction allowable for depreciation, amortization, or depletion</a:t>
            </a:r>
            <a:r>
              <a:rPr lang="mr-IN" sz="1800" b="1" u="sng" dirty="0"/>
              <a:t>…</a:t>
            </a:r>
            <a:r>
              <a:rPr lang="en-US" sz="1800" b="1" u="sng" dirty="0"/>
              <a:t>.</a:t>
            </a:r>
            <a:endParaRPr lang="en-US" altLang="en-US" sz="1800" b="1" u="sng" dirty="0"/>
          </a:p>
          <a:p>
            <a:pPr algn="ctr">
              <a:lnSpc>
                <a:spcPct val="90000"/>
              </a:lnSpc>
              <a:buFontTx/>
              <a:buNone/>
            </a:pPr>
            <a:r>
              <a:rPr lang="en-US" altLang="en-US" sz="1800" b="1" i="1" dirty="0"/>
              <a:t>Senate Amendment</a:t>
            </a:r>
          </a:p>
          <a:p>
            <a:pPr>
              <a:lnSpc>
                <a:spcPct val="90000"/>
              </a:lnSpc>
              <a:buFontTx/>
              <a:buNone/>
            </a:pPr>
            <a:r>
              <a:rPr lang="en-US" sz="1800" dirty="0"/>
              <a:t>The Senate amendment makes several changes to the definition of adjusted taxable income. Specifically</a:t>
            </a:r>
            <a:r>
              <a:rPr lang="en-US" sz="1800" b="1" u="sng" dirty="0"/>
              <a:t>, the Senate amendment does not add back deductions allowable for depreciation, amortization, or depletion</a:t>
            </a:r>
            <a:r>
              <a:rPr lang="en-US" sz="1800" dirty="0"/>
              <a:t>, but does add back any deduction under section 199, and any deduction under section 199A with respect to qualified business income of a </a:t>
            </a:r>
            <a:r>
              <a:rPr lang="en-US" sz="1800" dirty="0" err="1"/>
              <a:t>passthrough</a:t>
            </a:r>
            <a:r>
              <a:rPr lang="en-US" sz="1800" dirty="0"/>
              <a:t> entity</a:t>
            </a:r>
            <a:r>
              <a:rPr lang="mr-IN" sz="1800" dirty="0"/>
              <a:t>…</a:t>
            </a:r>
            <a:r>
              <a:rPr lang="en-US" sz="1800" dirty="0"/>
              <a:t>.</a:t>
            </a:r>
          </a:p>
          <a:p>
            <a:pPr>
              <a:lnSpc>
                <a:spcPct val="90000"/>
              </a:lnSpc>
              <a:buFontTx/>
              <a:buNone/>
            </a:pPr>
            <a:r>
              <a:rPr lang="en-US" sz="1800" dirty="0"/>
              <a:t>The Senate amendment permits interest deductions to be carried forward indefinitely, subject to certain restrictions applicable to partnership</a:t>
            </a:r>
            <a:r>
              <a:rPr lang="mr-IN" sz="1800" dirty="0"/>
              <a:t>…</a:t>
            </a:r>
            <a:r>
              <a:rPr lang="en-US" sz="1800" dirty="0"/>
              <a:t>.</a:t>
            </a:r>
          </a:p>
          <a:p>
            <a:pPr algn="ctr">
              <a:lnSpc>
                <a:spcPct val="90000"/>
              </a:lnSpc>
              <a:buNone/>
            </a:pPr>
            <a:r>
              <a:rPr lang="en-US" altLang="en-US" sz="1800" b="1" i="1" dirty="0"/>
              <a:t>Conference Agreement</a:t>
            </a:r>
          </a:p>
          <a:p>
            <a:pPr>
              <a:lnSpc>
                <a:spcPct val="90000"/>
              </a:lnSpc>
              <a:buFontTx/>
              <a:buNone/>
            </a:pPr>
            <a:r>
              <a:rPr lang="en-US" sz="1800" dirty="0"/>
              <a:t>The conference agreement generally follows the Senate amendment, with the following modifications. Under the conference agreement, for taxable years beginning </a:t>
            </a:r>
            <a:r>
              <a:rPr lang="en-US" sz="1800" dirty="0">
                <a:highlight>
                  <a:srgbClr val="FFFF00"/>
                </a:highlight>
              </a:rPr>
              <a:t>after December 31, 2017 </a:t>
            </a:r>
            <a:r>
              <a:rPr lang="en-US" sz="1800" dirty="0"/>
              <a:t>and </a:t>
            </a:r>
            <a:r>
              <a:rPr lang="en-US" sz="1800" dirty="0">
                <a:highlight>
                  <a:srgbClr val="FFFF00"/>
                </a:highlight>
              </a:rPr>
              <a:t>before January 1, 2022</a:t>
            </a:r>
            <a:r>
              <a:rPr lang="en-US" sz="1800" dirty="0"/>
              <a:t>, </a:t>
            </a:r>
            <a:r>
              <a:rPr lang="en-US" sz="1800" b="1" u="sng" dirty="0"/>
              <a:t>adjusted taxable income is computed without regard to deductions allowable for depreciation, amortization, or depletion</a:t>
            </a:r>
            <a:r>
              <a:rPr lang="mr-IN" sz="1800" dirty="0"/>
              <a:t>…</a:t>
            </a:r>
            <a:r>
              <a:rPr lang="en-US" sz="1800" dirty="0"/>
              <a:t>.</a:t>
            </a:r>
          </a:p>
          <a:p>
            <a:pPr>
              <a:lnSpc>
                <a:spcPct val="90000"/>
              </a:lnSpc>
              <a:buFontTx/>
              <a:buNone/>
            </a:pPr>
            <a:endParaRPr lang="en-US" sz="1800" dirty="0"/>
          </a:p>
          <a:p>
            <a:pPr>
              <a:lnSpc>
                <a:spcPct val="90000"/>
              </a:lnSpc>
              <a:buFontTx/>
              <a:buNone/>
            </a:pPr>
            <a:r>
              <a:rPr lang="en-US" sz="1800" dirty="0"/>
              <a:t>FYI: OBBBA amended 163(j) to provide that ATI is computed </a:t>
            </a:r>
            <a:r>
              <a:rPr lang="en-US" sz="1800" b="1" dirty="0"/>
              <a:t>without</a:t>
            </a:r>
            <a:r>
              <a:rPr lang="en-US" sz="1800" dirty="0"/>
              <a:t> depreciation deduction for TYs after 2024.</a:t>
            </a:r>
          </a:p>
          <a:p>
            <a:pPr>
              <a:lnSpc>
                <a:spcPct val="90000"/>
              </a:lnSpc>
              <a:buFontTx/>
              <a:buNone/>
            </a:pPr>
            <a:endParaRPr lang="en-US" altLang="en-US" sz="1800" dirty="0"/>
          </a:p>
          <a:p>
            <a:pPr>
              <a:lnSpc>
                <a:spcPct val="90000"/>
              </a:lnSpc>
              <a:buFontTx/>
              <a:buNone/>
            </a:pPr>
            <a:endParaRPr lang="en-US" altLang="en-US" sz="1800" dirty="0"/>
          </a:p>
          <a:p>
            <a:pPr>
              <a:lnSpc>
                <a:spcPct val="90000"/>
              </a:lnSpc>
              <a:buFontTx/>
              <a:buNone/>
            </a:pPr>
            <a:endParaRPr lang="en-US" altLang="en-US" sz="1800" dirty="0"/>
          </a:p>
        </p:txBody>
      </p:sp>
      <p:sp>
        <p:nvSpPr>
          <p:cNvPr id="22529" name="Title 1"/>
          <p:cNvSpPr>
            <a:spLocks noGrp="1"/>
          </p:cNvSpPr>
          <p:nvPr>
            <p:ph type="title"/>
          </p:nvPr>
        </p:nvSpPr>
        <p:spPr/>
        <p:txBody>
          <a:bodyPr/>
          <a:lstStyle/>
          <a:p>
            <a:r>
              <a:rPr lang="en-US" altLang="en-US" dirty="0"/>
              <a:t>Legislative History Example: New Section 163(j)</a:t>
            </a:r>
          </a:p>
        </p:txBody>
      </p:sp>
      <p:sp>
        <p:nvSpPr>
          <p:cNvPr id="2" name="Footer Placeholder 1"/>
          <p:cNvSpPr>
            <a:spLocks noGrp="1"/>
          </p:cNvSpPr>
          <p:nvPr>
            <p:ph type="ftr" sz="quarter" idx="11"/>
          </p:nvPr>
        </p:nvSpPr>
        <p:spPr/>
        <p:txBody>
          <a:bodyPr/>
          <a:lstStyle/>
          <a:p>
            <a:pPr defTabSz="685800">
              <a:defRPr/>
            </a:pPr>
            <a:r>
              <a:rPr lang="en-US">
                <a:latin typeface="Calibri" panose="020F0502020204030204"/>
                <a:cs typeface="+mn-cs"/>
              </a:rPr>
              <a:t>Introduction</a:t>
            </a:r>
            <a:endParaRPr lang="en-US" dirty="0">
              <a:latin typeface="Calibri" panose="020F0502020204030204"/>
              <a:cs typeface="+mn-cs"/>
            </a:endParaRPr>
          </a:p>
        </p:txBody>
      </p:sp>
      <p:sp>
        <p:nvSpPr>
          <p:cNvPr id="3" name="Slide Number Placeholder 2"/>
          <p:cNvSpPr>
            <a:spLocks noGrp="1"/>
          </p:cNvSpPr>
          <p:nvPr>
            <p:ph type="sldNum" sz="quarter" idx="10"/>
          </p:nvPr>
        </p:nvSpPr>
        <p:spPr/>
        <p:txBody>
          <a:bodyPr/>
          <a:lstStyle/>
          <a:p>
            <a:pPr defTabSz="685800"/>
            <a:fld id="{7B3E355C-57B9-BC4B-95D8-406A1F834537}" type="slidenum">
              <a:rPr lang="en-US" altLang="en-US">
                <a:solidFill>
                  <a:prstClr val="black">
                    <a:lumMod val="50000"/>
                    <a:lumOff val="50000"/>
                  </a:prstClr>
                </a:solidFill>
                <a:latin typeface="Calibri" panose="020F0502020204030204"/>
                <a:ea typeface="+mn-ea"/>
                <a:cs typeface="+mn-cs"/>
              </a:rPr>
              <a:pPr defTabSz="685800"/>
              <a:t>5</a:t>
            </a:fld>
            <a:endParaRPr lang="en-US" altLang="en-US" dirty="0">
              <a:solidFill>
                <a:prstClr val="black">
                  <a:lumMod val="50000"/>
                  <a:lumOff val="50000"/>
                </a:prstClr>
              </a:solidFill>
              <a:latin typeface="Calibri" panose="020F0502020204030204"/>
              <a:ea typeface="+mn-ea"/>
              <a:cs typeface="+mn-cs"/>
            </a:endParaRPr>
          </a:p>
        </p:txBody>
      </p:sp>
      <p:cxnSp>
        <p:nvCxnSpPr>
          <p:cNvPr id="5" name="Straight Arrow Connector 4">
            <a:extLst>
              <a:ext uri="{FF2B5EF4-FFF2-40B4-BE49-F238E27FC236}">
                <a16:creationId xmlns:a16="http://schemas.microsoft.com/office/drawing/2014/main" id="{F8651682-8080-034A-9BA3-38D1A1F8F20F}"/>
              </a:ext>
            </a:extLst>
          </p:cNvPr>
          <p:cNvCxnSpPr>
            <a:cxnSpLocks/>
          </p:cNvCxnSpPr>
          <p:nvPr/>
        </p:nvCxnSpPr>
        <p:spPr>
          <a:xfrm>
            <a:off x="9390743" y="2728686"/>
            <a:ext cx="1230365" cy="54898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B18BF90-2E42-CB40-83E5-78D1141A0A25}"/>
              </a:ext>
            </a:extLst>
          </p:cNvPr>
          <p:cNvCxnSpPr>
            <a:cxnSpLocks/>
          </p:cNvCxnSpPr>
          <p:nvPr/>
        </p:nvCxnSpPr>
        <p:spPr>
          <a:xfrm>
            <a:off x="10095427" y="3580327"/>
            <a:ext cx="838736" cy="18127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987F278-EE4C-D345-A5A9-88D2BC213E4B}"/>
              </a:ext>
            </a:extLst>
          </p:cNvPr>
          <p:cNvCxnSpPr>
            <a:cxnSpLocks/>
          </p:cNvCxnSpPr>
          <p:nvPr/>
        </p:nvCxnSpPr>
        <p:spPr>
          <a:xfrm>
            <a:off x="3065915" y="2141680"/>
            <a:ext cx="5808454" cy="4842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D69D997-460F-044F-8A97-9E6F9B2F805F}"/>
              </a:ext>
            </a:extLst>
          </p:cNvPr>
          <p:cNvCxnSpPr>
            <a:cxnSpLocks/>
          </p:cNvCxnSpPr>
          <p:nvPr/>
        </p:nvCxnSpPr>
        <p:spPr>
          <a:xfrm>
            <a:off x="2301602" y="1523999"/>
            <a:ext cx="195413" cy="60960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6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530">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530">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530">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530">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53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53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z="2400" dirty="0">
                <a:solidFill>
                  <a:srgbClr val="000000"/>
                </a:solidFill>
              </a:rPr>
              <a:t>Executive Branch</a:t>
            </a:r>
            <a:endParaRPr lang="en-US" altLang="en-US" sz="2800" dirty="0">
              <a:solidFill>
                <a:srgbClr val="000000"/>
              </a:solidFill>
            </a:endParaRPr>
          </a:p>
        </p:txBody>
      </p:sp>
      <p:sp>
        <p:nvSpPr>
          <p:cNvPr id="6148" name="Rectangle 4"/>
          <p:cNvSpPr>
            <a:spLocks noChangeArrowheads="1"/>
          </p:cNvSpPr>
          <p:nvPr/>
        </p:nvSpPr>
        <p:spPr bwMode="auto">
          <a:xfrm>
            <a:off x="5524500" y="3819524"/>
            <a:ext cx="1657350" cy="1590744"/>
          </a:xfrm>
          <a:prstGeom prst="rect">
            <a:avLst/>
          </a:prstGeom>
          <a:noFill/>
          <a:ln w="9525">
            <a:solidFill>
              <a:schemeClr val="tx1"/>
            </a:solidFill>
            <a:miter lim="800000"/>
            <a:headEnd/>
            <a:tailEnd/>
          </a:ln>
        </p:spPr>
        <p:txBody>
          <a:bodyPr anchor="ctr"/>
          <a:lstStyle/>
          <a:p>
            <a:pPr defTabSz="685800">
              <a:buFont typeface="Arial" pitchFamily="34" charset="0"/>
              <a:buChar char="•"/>
              <a:defRPr/>
            </a:pPr>
            <a:r>
              <a:rPr lang="en-US" sz="1400" dirty="0">
                <a:solidFill>
                  <a:prstClr val="black"/>
                </a:solidFill>
              </a:rPr>
              <a:t>Revenue Rulings</a:t>
            </a:r>
          </a:p>
          <a:p>
            <a:pPr defTabSz="685800">
              <a:buFont typeface="Arial" pitchFamily="34" charset="0"/>
              <a:buChar char="•"/>
              <a:defRPr/>
            </a:pPr>
            <a:r>
              <a:rPr lang="en-US" sz="1400" dirty="0">
                <a:solidFill>
                  <a:prstClr val="black"/>
                </a:solidFill>
              </a:rPr>
              <a:t>Priv. Letter Rul.</a:t>
            </a:r>
          </a:p>
          <a:p>
            <a:pPr defTabSz="685800">
              <a:buFont typeface="Arial" pitchFamily="34" charset="0"/>
              <a:buChar char="•"/>
              <a:defRPr/>
            </a:pPr>
            <a:r>
              <a:rPr lang="en-US" sz="1400" dirty="0">
                <a:solidFill>
                  <a:prstClr val="black"/>
                </a:solidFill>
              </a:rPr>
              <a:t>Tech. Adv. Mem.</a:t>
            </a:r>
          </a:p>
          <a:p>
            <a:pPr marL="85725" indent="-85725" defTabSz="685800">
              <a:buFont typeface="Arial" pitchFamily="34" charset="0"/>
              <a:buChar char="•"/>
              <a:defRPr/>
            </a:pPr>
            <a:r>
              <a:rPr lang="en-US" sz="1400" dirty="0">
                <a:solidFill>
                  <a:prstClr val="black"/>
                </a:solidFill>
              </a:rPr>
              <a:t>Gen. Legal Advice           Mem. (GLAMs)</a:t>
            </a:r>
          </a:p>
          <a:p>
            <a:pPr marL="85725" indent="-85725" defTabSz="685800">
              <a:buFont typeface="Arial" pitchFamily="34" charset="0"/>
              <a:buChar char="•"/>
              <a:defRPr/>
            </a:pPr>
            <a:r>
              <a:rPr lang="en-US" sz="1400" dirty="0">
                <a:solidFill>
                  <a:prstClr val="black"/>
                </a:solidFill>
              </a:rPr>
              <a:t>Rev. Procs.</a:t>
            </a:r>
          </a:p>
          <a:p>
            <a:pPr marL="85725" indent="-85725" defTabSz="685800">
              <a:buFont typeface="Arial" pitchFamily="34" charset="0"/>
              <a:buChar char="•"/>
              <a:defRPr/>
            </a:pPr>
            <a:r>
              <a:rPr lang="en-US" sz="1400" dirty="0">
                <a:solidFill>
                  <a:prstClr val="black"/>
                </a:solidFill>
              </a:rPr>
              <a:t>Notices</a:t>
            </a:r>
          </a:p>
        </p:txBody>
      </p:sp>
      <p:sp>
        <p:nvSpPr>
          <p:cNvPr id="6149" name="Rectangle 5"/>
          <p:cNvSpPr>
            <a:spLocks noChangeArrowheads="1"/>
          </p:cNvSpPr>
          <p:nvPr/>
        </p:nvSpPr>
        <p:spPr bwMode="auto">
          <a:xfrm>
            <a:off x="3467100" y="2817020"/>
            <a:ext cx="2000250" cy="4881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dirty="0">
                <a:solidFill>
                  <a:prstClr val="black"/>
                </a:solidFill>
                <a:latin typeface="+mn-lt"/>
              </a:rPr>
              <a:t>Assistant  Secretary for Tax Policy</a:t>
            </a:r>
          </a:p>
        </p:txBody>
      </p:sp>
      <p:sp>
        <p:nvSpPr>
          <p:cNvPr id="6150" name="Rectangle 6"/>
          <p:cNvSpPr>
            <a:spLocks noChangeArrowheads="1"/>
          </p:cNvSpPr>
          <p:nvPr/>
        </p:nvSpPr>
        <p:spPr bwMode="auto">
          <a:xfrm>
            <a:off x="3638551" y="3705226"/>
            <a:ext cx="1645444"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Regulations</a:t>
            </a:r>
          </a:p>
        </p:txBody>
      </p:sp>
      <p:sp>
        <p:nvSpPr>
          <p:cNvPr id="6151" name="Rectangle 7"/>
          <p:cNvSpPr>
            <a:spLocks noChangeArrowheads="1"/>
          </p:cNvSpPr>
          <p:nvPr/>
        </p:nvSpPr>
        <p:spPr bwMode="auto">
          <a:xfrm>
            <a:off x="6267451" y="2836367"/>
            <a:ext cx="1645444" cy="30777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IRS</a:t>
            </a:r>
          </a:p>
        </p:txBody>
      </p:sp>
      <p:sp>
        <p:nvSpPr>
          <p:cNvPr id="23561" name="Rectangle 8"/>
          <p:cNvSpPr>
            <a:spLocks noChangeArrowheads="1"/>
          </p:cNvSpPr>
          <p:nvPr/>
        </p:nvSpPr>
        <p:spPr bwMode="auto">
          <a:xfrm>
            <a:off x="6553202" y="1926431"/>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endParaRPr lang="en-US" altLang="en-US" sz="2000">
              <a:solidFill>
                <a:prstClr val="black"/>
              </a:solidFill>
              <a:latin typeface="+mn-lt"/>
            </a:endParaRPr>
          </a:p>
        </p:txBody>
      </p:sp>
      <p:sp>
        <p:nvSpPr>
          <p:cNvPr id="23562" name="Rectangle 9"/>
          <p:cNvSpPr>
            <a:spLocks noChangeArrowheads="1"/>
          </p:cNvSpPr>
          <p:nvPr/>
        </p:nvSpPr>
        <p:spPr bwMode="auto">
          <a:xfrm>
            <a:off x="6496052" y="3012281"/>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endParaRPr lang="en-US" altLang="en-US" sz="2000">
              <a:solidFill>
                <a:prstClr val="black"/>
              </a:solidFill>
              <a:latin typeface="+mn-lt"/>
            </a:endParaRPr>
          </a:p>
        </p:txBody>
      </p:sp>
      <p:sp>
        <p:nvSpPr>
          <p:cNvPr id="6154" name="Rectangle 10"/>
          <p:cNvSpPr>
            <a:spLocks noChangeArrowheads="1"/>
          </p:cNvSpPr>
          <p:nvPr/>
        </p:nvSpPr>
        <p:spPr bwMode="auto">
          <a:xfrm>
            <a:off x="4873230" y="1590676"/>
            <a:ext cx="1645444"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President</a:t>
            </a:r>
          </a:p>
        </p:txBody>
      </p:sp>
      <p:sp>
        <p:nvSpPr>
          <p:cNvPr id="6155" name="Rectangle 11"/>
          <p:cNvSpPr>
            <a:spLocks noChangeArrowheads="1"/>
          </p:cNvSpPr>
          <p:nvPr/>
        </p:nvSpPr>
        <p:spPr bwMode="auto">
          <a:xfrm>
            <a:off x="4873230" y="2219326"/>
            <a:ext cx="1645444"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Treasury</a:t>
            </a:r>
          </a:p>
        </p:txBody>
      </p:sp>
      <p:cxnSp>
        <p:nvCxnSpPr>
          <p:cNvPr id="6156" name="AutoShape 12"/>
          <p:cNvCxnSpPr>
            <a:cxnSpLocks noChangeShapeType="1"/>
            <a:stCxn id="6154" idx="2"/>
            <a:endCxn id="6155" idx="0"/>
          </p:cNvCxnSpPr>
          <p:nvPr/>
        </p:nvCxnSpPr>
        <p:spPr bwMode="auto">
          <a:xfrm>
            <a:off x="5695950" y="1872853"/>
            <a:ext cx="0" cy="34647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65" name="Rectangle 21"/>
          <p:cNvSpPr>
            <a:spLocks noChangeArrowheads="1"/>
          </p:cNvSpPr>
          <p:nvPr/>
        </p:nvSpPr>
        <p:spPr bwMode="auto">
          <a:xfrm>
            <a:off x="7353300" y="4162426"/>
            <a:ext cx="1485900"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30-Day Letter</a:t>
            </a:r>
          </a:p>
        </p:txBody>
      </p:sp>
      <p:sp>
        <p:nvSpPr>
          <p:cNvPr id="6166" name="Rectangle 22"/>
          <p:cNvSpPr>
            <a:spLocks noChangeArrowheads="1"/>
          </p:cNvSpPr>
          <p:nvPr/>
        </p:nvSpPr>
        <p:spPr bwMode="auto">
          <a:xfrm>
            <a:off x="7353300" y="4562476"/>
            <a:ext cx="1485900"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90-Day Letter</a:t>
            </a:r>
          </a:p>
        </p:txBody>
      </p:sp>
      <p:cxnSp>
        <p:nvCxnSpPr>
          <p:cNvPr id="6167" name="AutoShape 23"/>
          <p:cNvCxnSpPr>
            <a:cxnSpLocks noChangeShapeType="1"/>
            <a:stCxn id="6155" idx="2"/>
            <a:endCxn id="6149" idx="0"/>
          </p:cNvCxnSpPr>
          <p:nvPr/>
        </p:nvCxnSpPr>
        <p:spPr bwMode="auto">
          <a:xfrm rot="5400000">
            <a:off x="4923832" y="2044900"/>
            <a:ext cx="315515" cy="1228725"/>
          </a:xfrm>
          <a:prstGeom prst="bentConnector3">
            <a:avLst>
              <a:gd name="adj1" fmla="val 4981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68" name="AutoShape 24"/>
          <p:cNvCxnSpPr>
            <a:cxnSpLocks noChangeShapeType="1"/>
          </p:cNvCxnSpPr>
          <p:nvPr/>
        </p:nvCxnSpPr>
        <p:spPr bwMode="auto">
          <a:xfrm rot="16200000" flipH="1">
            <a:off x="6232922" y="1956197"/>
            <a:ext cx="308372" cy="1394222"/>
          </a:xfrm>
          <a:prstGeom prst="bentConnector3">
            <a:avLst>
              <a:gd name="adj1" fmla="val 4982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70" name="AutoShape 26"/>
          <p:cNvCxnSpPr>
            <a:cxnSpLocks noChangeShapeType="1"/>
            <a:stCxn id="6165" idx="2"/>
            <a:endCxn id="6166" idx="0"/>
          </p:cNvCxnSpPr>
          <p:nvPr/>
        </p:nvCxnSpPr>
        <p:spPr bwMode="auto">
          <a:xfrm>
            <a:off x="8096250" y="4444603"/>
            <a:ext cx="0" cy="11787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75" name="Line 31"/>
          <p:cNvSpPr>
            <a:spLocks noChangeShapeType="1"/>
          </p:cNvSpPr>
          <p:nvPr/>
        </p:nvSpPr>
        <p:spPr bwMode="auto">
          <a:xfrm>
            <a:off x="8039100" y="5248275"/>
            <a:ext cx="12607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endParaRPr lang="en-US" sz="1400">
              <a:solidFill>
                <a:prstClr val="black"/>
              </a:solidFill>
            </a:endParaRPr>
          </a:p>
        </p:txBody>
      </p:sp>
      <p:cxnSp>
        <p:nvCxnSpPr>
          <p:cNvPr id="6177" name="AutoShape 33"/>
          <p:cNvCxnSpPr>
            <a:cxnSpLocks noChangeShapeType="1"/>
            <a:stCxn id="6149" idx="2"/>
            <a:endCxn id="6150" idx="0"/>
          </p:cNvCxnSpPr>
          <p:nvPr/>
        </p:nvCxnSpPr>
        <p:spPr bwMode="auto">
          <a:xfrm flipH="1">
            <a:off x="4461274" y="3305175"/>
            <a:ext cx="5953" cy="4000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79" name="Rectangle 35"/>
          <p:cNvSpPr>
            <a:spLocks noChangeArrowheads="1"/>
          </p:cNvSpPr>
          <p:nvPr/>
        </p:nvSpPr>
        <p:spPr bwMode="auto">
          <a:xfrm>
            <a:off x="7353300" y="3762376"/>
            <a:ext cx="1485900"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Audit</a:t>
            </a:r>
          </a:p>
        </p:txBody>
      </p:sp>
      <p:sp>
        <p:nvSpPr>
          <p:cNvPr id="6180" name="Line 36"/>
          <p:cNvSpPr>
            <a:spLocks noChangeShapeType="1"/>
          </p:cNvSpPr>
          <p:nvPr/>
        </p:nvSpPr>
        <p:spPr bwMode="auto">
          <a:xfrm>
            <a:off x="8039100" y="4848225"/>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400">
              <a:solidFill>
                <a:prstClr val="black"/>
              </a:solidFill>
            </a:endParaRPr>
          </a:p>
        </p:txBody>
      </p:sp>
      <p:cxnSp>
        <p:nvCxnSpPr>
          <p:cNvPr id="6182" name="AutoShape 38"/>
          <p:cNvCxnSpPr>
            <a:cxnSpLocks noChangeShapeType="1"/>
            <a:stCxn id="6179" idx="2"/>
            <a:endCxn id="6165" idx="0"/>
          </p:cNvCxnSpPr>
          <p:nvPr/>
        </p:nvCxnSpPr>
        <p:spPr bwMode="auto">
          <a:xfrm>
            <a:off x="8096250" y="4044553"/>
            <a:ext cx="0" cy="11787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183" name="AutoShape 39"/>
          <p:cNvCxnSpPr>
            <a:cxnSpLocks noChangeShapeType="1"/>
            <a:stCxn id="6149" idx="1"/>
          </p:cNvCxnSpPr>
          <p:nvPr/>
        </p:nvCxnSpPr>
        <p:spPr bwMode="auto">
          <a:xfrm flipH="1">
            <a:off x="1123949" y="3061098"/>
            <a:ext cx="2343151"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84" name="Rectangle 40"/>
          <p:cNvSpPr>
            <a:spLocks noChangeArrowheads="1"/>
          </p:cNvSpPr>
          <p:nvPr/>
        </p:nvSpPr>
        <p:spPr bwMode="auto">
          <a:xfrm>
            <a:off x="1123949" y="2499121"/>
            <a:ext cx="1228725" cy="45720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dirty="0">
                <a:solidFill>
                  <a:prstClr val="black"/>
                </a:solidFill>
                <a:latin typeface="+mn-lt"/>
              </a:rPr>
              <a:t>Legislative</a:t>
            </a:r>
          </a:p>
          <a:p>
            <a:pPr defTabSz="685800"/>
            <a:r>
              <a:rPr lang="en-US" altLang="en-US" sz="1400" dirty="0">
                <a:solidFill>
                  <a:prstClr val="black"/>
                </a:solidFill>
                <a:latin typeface="+mn-lt"/>
              </a:rPr>
              <a:t>Proposals</a:t>
            </a:r>
          </a:p>
        </p:txBody>
      </p:sp>
      <p:sp>
        <p:nvSpPr>
          <p:cNvPr id="6185" name="Rectangle 41"/>
          <p:cNvSpPr>
            <a:spLocks noChangeArrowheads="1"/>
          </p:cNvSpPr>
          <p:nvPr/>
        </p:nvSpPr>
        <p:spPr bwMode="auto">
          <a:xfrm>
            <a:off x="8212282" y="5368638"/>
            <a:ext cx="914400" cy="28575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Tax Court</a:t>
            </a:r>
          </a:p>
        </p:txBody>
      </p:sp>
      <p:cxnSp>
        <p:nvCxnSpPr>
          <p:cNvPr id="6186" name="AutoShape 42"/>
          <p:cNvCxnSpPr>
            <a:cxnSpLocks noChangeShapeType="1"/>
            <a:stCxn id="6151" idx="2"/>
            <a:endCxn id="6148" idx="0"/>
          </p:cNvCxnSpPr>
          <p:nvPr/>
        </p:nvCxnSpPr>
        <p:spPr bwMode="auto">
          <a:xfrm rot="5400000">
            <a:off x="6383984" y="3113335"/>
            <a:ext cx="675380" cy="736998"/>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88" name="AutoShape 44"/>
          <p:cNvCxnSpPr>
            <a:cxnSpLocks noChangeShapeType="1"/>
            <a:stCxn id="6151" idx="2"/>
            <a:endCxn id="6179" idx="0"/>
          </p:cNvCxnSpPr>
          <p:nvPr/>
        </p:nvCxnSpPr>
        <p:spPr bwMode="auto">
          <a:xfrm rot="16200000" flipH="1">
            <a:off x="7284095" y="2950221"/>
            <a:ext cx="618232" cy="1006077"/>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90" name="AutoShape 46"/>
          <p:cNvCxnSpPr>
            <a:cxnSpLocks noChangeShapeType="1"/>
          </p:cNvCxnSpPr>
          <p:nvPr/>
        </p:nvCxnSpPr>
        <p:spPr bwMode="auto">
          <a:xfrm rot="5400000">
            <a:off x="5503516" y="2110235"/>
            <a:ext cx="561082" cy="26289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 name="Footer Placeholder 2"/>
          <p:cNvSpPr>
            <a:spLocks noGrp="1"/>
          </p:cNvSpPr>
          <p:nvPr>
            <p:ph type="ftr" sz="quarter" idx="11"/>
          </p:nvPr>
        </p:nvSpPr>
        <p:spPr/>
        <p:txBody>
          <a:bodyPr/>
          <a:lstStyle/>
          <a:p>
            <a:pPr defTabSz="685800">
              <a:defRPr/>
            </a:pPr>
            <a:r>
              <a:rPr lang="en-US">
                <a:latin typeface="Calibri" panose="020F0502020204030204"/>
                <a:cs typeface="+mn-cs"/>
              </a:rPr>
              <a:t>Introduction</a:t>
            </a:r>
            <a:endParaRPr lang="en-US" dirty="0">
              <a:latin typeface="Calibri" panose="020F0502020204030204"/>
              <a:cs typeface="+mn-cs"/>
            </a:endParaRPr>
          </a:p>
        </p:txBody>
      </p:sp>
      <p:sp>
        <p:nvSpPr>
          <p:cNvPr id="4" name="Slide Number Placeholder 3"/>
          <p:cNvSpPr>
            <a:spLocks noGrp="1"/>
          </p:cNvSpPr>
          <p:nvPr>
            <p:ph type="sldNum" sz="quarter" idx="10"/>
          </p:nvPr>
        </p:nvSpPr>
        <p:spPr/>
        <p:txBody>
          <a:bodyPr/>
          <a:lstStyle/>
          <a:p>
            <a:pPr defTabSz="685800"/>
            <a:fld id="{7B3E355C-57B9-BC4B-95D8-406A1F834537}" type="slidenum">
              <a:rPr lang="en-US" altLang="en-US">
                <a:solidFill>
                  <a:prstClr val="black">
                    <a:lumMod val="50000"/>
                    <a:lumOff val="50000"/>
                  </a:prstClr>
                </a:solidFill>
                <a:latin typeface="Calibri" panose="020F0502020204030204"/>
                <a:ea typeface="+mn-ea"/>
                <a:cs typeface="+mn-cs"/>
              </a:rPr>
              <a:pPr defTabSz="685800"/>
              <a:t>6</a:t>
            </a:fld>
            <a:endParaRPr lang="en-US" altLang="en-US" dirty="0">
              <a:solidFill>
                <a:prstClr val="black">
                  <a:lumMod val="50000"/>
                  <a:lumOff val="50000"/>
                </a:prstClr>
              </a:solidFill>
              <a:latin typeface="Calibri" panose="020F0502020204030204"/>
              <a:ea typeface="+mn-ea"/>
              <a:cs typeface="+mn-cs"/>
            </a:endParaRPr>
          </a:p>
        </p:txBody>
      </p:sp>
    </p:spTree>
    <p:extLst>
      <p:ext uri="{BB962C8B-B14F-4D97-AF65-F5344CB8AC3E}">
        <p14:creationId xmlns:p14="http://schemas.microsoft.com/office/powerpoint/2010/main" val="1405117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1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5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16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4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18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18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616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615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617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619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615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6186"/>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6148"/>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618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6179"/>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6182"/>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616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6170"/>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6166"/>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6180"/>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6175"/>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6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P spid="6148" grpId="0" animBg="1" autoUpdateAnimBg="0"/>
      <p:bldP spid="6149" grpId="0" animBg="1" autoUpdateAnimBg="0"/>
      <p:bldP spid="6150" grpId="0" animBg="1" autoUpdateAnimBg="0"/>
      <p:bldP spid="6151" grpId="0" animBg="1" autoUpdateAnimBg="0"/>
      <p:bldP spid="6154" grpId="0" animBg="1" autoUpdateAnimBg="0"/>
      <p:bldP spid="6155" grpId="0" animBg="1" autoUpdateAnimBg="0"/>
      <p:bldP spid="6165" grpId="0" animBg="1" autoUpdateAnimBg="0"/>
      <p:bldP spid="6166" grpId="0" animBg="1" autoUpdateAnimBg="0"/>
      <p:bldP spid="6175" grpId="0" animBg="1"/>
      <p:bldP spid="6179" grpId="0" animBg="1" autoUpdateAnimBg="0"/>
      <p:bldP spid="6180" grpId="0" animBg="1"/>
      <p:bldP spid="6184" grpId="0" animBg="1" autoUpdateAnimBg="0"/>
      <p:bldP spid="6185"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p:txBody>
          <a:bodyPr/>
          <a:lstStyle/>
          <a:p>
            <a:pPr eaLnBrk="1" hangingPunct="1">
              <a:buFontTx/>
              <a:buNone/>
            </a:pPr>
            <a:r>
              <a:rPr lang="en-US" altLang="en-US" dirty="0"/>
              <a:t> </a:t>
            </a:r>
          </a:p>
        </p:txBody>
      </p:sp>
      <p:sp>
        <p:nvSpPr>
          <p:cNvPr id="7170" name="Rectangle 2"/>
          <p:cNvSpPr>
            <a:spLocks noGrp="1" noChangeArrowheads="1"/>
          </p:cNvSpPr>
          <p:nvPr>
            <p:ph type="title"/>
          </p:nvPr>
        </p:nvSpPr>
        <p:spPr/>
        <p:txBody>
          <a:bodyPr/>
          <a:lstStyle/>
          <a:p>
            <a:pPr eaLnBrk="1" hangingPunct="1"/>
            <a:r>
              <a:rPr lang="en-US" altLang="en-US" dirty="0">
                <a:solidFill>
                  <a:srgbClr val="000000"/>
                </a:solidFill>
              </a:rPr>
              <a:t>Judicial</a:t>
            </a:r>
            <a:r>
              <a:rPr lang="en-US" altLang="en-US" sz="2000" dirty="0">
                <a:solidFill>
                  <a:srgbClr val="000000"/>
                </a:solidFill>
              </a:rPr>
              <a:t> Branch</a:t>
            </a:r>
            <a:endParaRPr lang="en-US" altLang="en-US" sz="2400" dirty="0">
              <a:solidFill>
                <a:srgbClr val="000000"/>
              </a:solidFill>
            </a:endParaRPr>
          </a:p>
        </p:txBody>
      </p:sp>
      <p:sp>
        <p:nvSpPr>
          <p:cNvPr id="26625"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875">
                <a:solidFill>
                  <a:schemeClr val="tx1"/>
                </a:solidFill>
                <a:latin typeface="Verdana" charset="0"/>
                <a:ea typeface="ＭＳ Ｐゴシック" charset="-128"/>
              </a:defRPr>
            </a:lvl1pPr>
            <a:lvl2pPr marL="557213" indent="-214313">
              <a:defRPr sz="1875">
                <a:solidFill>
                  <a:schemeClr val="tx1"/>
                </a:solidFill>
                <a:latin typeface="Verdana" charset="0"/>
                <a:ea typeface="ＭＳ Ｐゴシック" charset="-128"/>
              </a:defRPr>
            </a:lvl2pPr>
            <a:lvl3pPr marL="857250" indent="-171450">
              <a:defRPr sz="1875">
                <a:solidFill>
                  <a:schemeClr val="tx1"/>
                </a:solidFill>
                <a:latin typeface="Verdana" charset="0"/>
                <a:ea typeface="ＭＳ Ｐゴシック" charset="-128"/>
              </a:defRPr>
            </a:lvl3pPr>
            <a:lvl4pPr marL="1200150" indent="-171450">
              <a:defRPr sz="1875">
                <a:solidFill>
                  <a:schemeClr val="tx1"/>
                </a:solidFill>
                <a:latin typeface="Verdana" charset="0"/>
                <a:ea typeface="ＭＳ Ｐゴシック" charset="-128"/>
              </a:defRPr>
            </a:lvl4pPr>
            <a:lvl5pPr marL="1543050" indent="-171450">
              <a:defRPr sz="1875">
                <a:solidFill>
                  <a:schemeClr val="tx1"/>
                </a:solidFill>
                <a:latin typeface="Verdana" charset="0"/>
                <a:ea typeface="ＭＳ Ｐゴシック" charset="-128"/>
              </a:defRPr>
            </a:lvl5pPr>
            <a:lvl6pPr marL="1885950" indent="-171450" algn="ctr" eaLnBrk="0" fontAlgn="base" hangingPunct="0">
              <a:spcBef>
                <a:spcPct val="0"/>
              </a:spcBef>
              <a:spcAft>
                <a:spcPct val="0"/>
              </a:spcAft>
              <a:defRPr sz="1875">
                <a:solidFill>
                  <a:schemeClr val="tx1"/>
                </a:solidFill>
                <a:latin typeface="Verdana" charset="0"/>
                <a:ea typeface="ＭＳ Ｐゴシック" charset="-128"/>
              </a:defRPr>
            </a:lvl6pPr>
            <a:lvl7pPr marL="2228850" indent="-171450" algn="ctr" eaLnBrk="0" fontAlgn="base" hangingPunct="0">
              <a:spcBef>
                <a:spcPct val="0"/>
              </a:spcBef>
              <a:spcAft>
                <a:spcPct val="0"/>
              </a:spcAft>
              <a:defRPr sz="1875">
                <a:solidFill>
                  <a:schemeClr val="tx1"/>
                </a:solidFill>
                <a:latin typeface="Verdana" charset="0"/>
                <a:ea typeface="ＭＳ Ｐゴシック" charset="-128"/>
              </a:defRPr>
            </a:lvl7pPr>
            <a:lvl8pPr marL="2571750" indent="-171450" algn="ctr" eaLnBrk="0" fontAlgn="base" hangingPunct="0">
              <a:spcBef>
                <a:spcPct val="0"/>
              </a:spcBef>
              <a:spcAft>
                <a:spcPct val="0"/>
              </a:spcAft>
              <a:defRPr sz="1875">
                <a:solidFill>
                  <a:schemeClr val="tx1"/>
                </a:solidFill>
                <a:latin typeface="Verdana" charset="0"/>
                <a:ea typeface="ＭＳ Ｐゴシック" charset="-128"/>
              </a:defRPr>
            </a:lvl8pPr>
            <a:lvl9pPr marL="2914650" indent="-171450" algn="ctr" eaLnBrk="0" fontAlgn="base" hangingPunct="0">
              <a:spcBef>
                <a:spcPct val="0"/>
              </a:spcBef>
              <a:spcAft>
                <a:spcPct val="0"/>
              </a:spcAft>
              <a:defRPr sz="1875">
                <a:solidFill>
                  <a:schemeClr val="tx1"/>
                </a:solidFill>
                <a:latin typeface="Verdana" charset="0"/>
                <a:ea typeface="ＭＳ Ｐゴシック" charset="-128"/>
              </a:defRPr>
            </a:lvl9pPr>
          </a:lstStyle>
          <a:p>
            <a:pPr defTabSz="685800"/>
            <a:r>
              <a:rPr lang="en-US" altLang="en-US" sz="1000" dirty="0">
                <a:solidFill>
                  <a:prstClr val="black"/>
                </a:solidFill>
                <a:latin typeface="Calibri" panose="020F0502020204030204"/>
              </a:rPr>
              <a:t>Introduction</a:t>
            </a:r>
          </a:p>
        </p:txBody>
      </p:sp>
      <p:sp>
        <p:nvSpPr>
          <p:cNvPr id="7173" name="Rectangle 5"/>
          <p:cNvSpPr>
            <a:spLocks noChangeArrowheads="1"/>
          </p:cNvSpPr>
          <p:nvPr/>
        </p:nvSpPr>
        <p:spPr bwMode="auto">
          <a:xfrm>
            <a:off x="5273280" y="371475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Appellate Courts</a:t>
            </a:r>
          </a:p>
        </p:txBody>
      </p:sp>
      <p:sp>
        <p:nvSpPr>
          <p:cNvPr id="7174" name="Rectangle 6"/>
          <p:cNvSpPr>
            <a:spLocks noChangeArrowheads="1"/>
          </p:cNvSpPr>
          <p:nvPr/>
        </p:nvSpPr>
        <p:spPr bwMode="auto">
          <a:xfrm>
            <a:off x="5273280" y="491490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Supreme Court</a:t>
            </a:r>
          </a:p>
        </p:txBody>
      </p:sp>
      <p:sp>
        <p:nvSpPr>
          <p:cNvPr id="7175" name="Rectangle 7"/>
          <p:cNvSpPr>
            <a:spLocks noChangeArrowheads="1"/>
          </p:cNvSpPr>
          <p:nvPr/>
        </p:nvSpPr>
        <p:spPr bwMode="auto">
          <a:xfrm>
            <a:off x="7067551" y="251460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District Court</a:t>
            </a:r>
          </a:p>
        </p:txBody>
      </p:sp>
      <p:sp>
        <p:nvSpPr>
          <p:cNvPr id="7177" name="Rectangle 9"/>
          <p:cNvSpPr>
            <a:spLocks noChangeArrowheads="1"/>
          </p:cNvSpPr>
          <p:nvPr/>
        </p:nvSpPr>
        <p:spPr bwMode="auto">
          <a:xfrm>
            <a:off x="6896102" y="313610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endParaRPr lang="en-US" altLang="en-US" sz="1800">
              <a:solidFill>
                <a:prstClr val="black"/>
              </a:solidFill>
            </a:endParaRPr>
          </a:p>
        </p:txBody>
      </p:sp>
      <p:sp>
        <p:nvSpPr>
          <p:cNvPr id="7178" name="Rectangle 10"/>
          <p:cNvSpPr>
            <a:spLocks noChangeArrowheads="1"/>
          </p:cNvSpPr>
          <p:nvPr/>
        </p:nvSpPr>
        <p:spPr bwMode="auto">
          <a:xfrm>
            <a:off x="3467101" y="251460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Tax Court</a:t>
            </a:r>
          </a:p>
        </p:txBody>
      </p:sp>
      <p:sp>
        <p:nvSpPr>
          <p:cNvPr id="7179" name="Rectangle 11"/>
          <p:cNvSpPr>
            <a:spLocks noChangeArrowheads="1"/>
          </p:cNvSpPr>
          <p:nvPr/>
        </p:nvSpPr>
        <p:spPr bwMode="auto">
          <a:xfrm>
            <a:off x="5273280" y="251460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defTabSz="685800"/>
            <a:r>
              <a:rPr lang="en-US" altLang="en-US" sz="1350" dirty="0">
                <a:solidFill>
                  <a:prstClr val="black"/>
                </a:solidFill>
              </a:rPr>
              <a:t>Court of Federal Claims</a:t>
            </a:r>
          </a:p>
        </p:txBody>
      </p:sp>
      <p:cxnSp>
        <p:nvCxnSpPr>
          <p:cNvPr id="7188" name="AutoShape 20"/>
          <p:cNvCxnSpPr>
            <a:cxnSpLocks noChangeShapeType="1"/>
            <a:stCxn id="7173" idx="2"/>
            <a:endCxn id="7174" idx="0"/>
          </p:cNvCxnSpPr>
          <p:nvPr/>
        </p:nvCxnSpPr>
        <p:spPr bwMode="auto">
          <a:xfrm>
            <a:off x="6096000" y="4201716"/>
            <a:ext cx="0" cy="713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98" name="Rectangle 30"/>
          <p:cNvSpPr>
            <a:spLocks noChangeArrowheads="1"/>
          </p:cNvSpPr>
          <p:nvPr/>
        </p:nvSpPr>
        <p:spPr bwMode="auto">
          <a:xfrm>
            <a:off x="6438900" y="1885950"/>
            <a:ext cx="13716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Refund Suits</a:t>
            </a:r>
          </a:p>
        </p:txBody>
      </p:sp>
      <p:cxnSp>
        <p:nvCxnSpPr>
          <p:cNvPr id="7199" name="AutoShape 31"/>
          <p:cNvCxnSpPr>
            <a:cxnSpLocks noChangeShapeType="1"/>
            <a:stCxn id="7198" idx="2"/>
            <a:endCxn id="7179" idx="0"/>
          </p:cNvCxnSpPr>
          <p:nvPr/>
        </p:nvCxnSpPr>
        <p:spPr bwMode="auto">
          <a:xfrm rot="5400000">
            <a:off x="6410325" y="1800225"/>
            <a:ext cx="400050" cy="10287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0" name="AutoShape 32"/>
          <p:cNvCxnSpPr>
            <a:cxnSpLocks noChangeShapeType="1"/>
            <a:stCxn id="7198" idx="2"/>
            <a:endCxn id="7175" idx="0"/>
          </p:cNvCxnSpPr>
          <p:nvPr/>
        </p:nvCxnSpPr>
        <p:spPr bwMode="auto">
          <a:xfrm rot="16200000" flipH="1">
            <a:off x="7307462" y="1931790"/>
            <a:ext cx="400050" cy="765572"/>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1" name="AutoShape 33"/>
          <p:cNvCxnSpPr>
            <a:cxnSpLocks noChangeShapeType="1"/>
            <a:stCxn id="7179" idx="2"/>
            <a:endCxn id="7173" idx="0"/>
          </p:cNvCxnSpPr>
          <p:nvPr/>
        </p:nvCxnSpPr>
        <p:spPr bwMode="auto">
          <a:xfrm>
            <a:off x="6096000" y="3001566"/>
            <a:ext cx="0" cy="713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2" name="AutoShape 34"/>
          <p:cNvCxnSpPr>
            <a:cxnSpLocks noChangeShapeType="1"/>
            <a:stCxn id="7173" idx="2"/>
            <a:endCxn id="7174" idx="0"/>
          </p:cNvCxnSpPr>
          <p:nvPr/>
        </p:nvCxnSpPr>
        <p:spPr bwMode="auto">
          <a:xfrm>
            <a:off x="6096000" y="4201716"/>
            <a:ext cx="0" cy="713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3" name="AutoShape 35"/>
          <p:cNvCxnSpPr>
            <a:cxnSpLocks noChangeShapeType="1"/>
            <a:stCxn id="7178" idx="2"/>
            <a:endCxn id="7173" idx="0"/>
          </p:cNvCxnSpPr>
          <p:nvPr/>
        </p:nvCxnSpPr>
        <p:spPr bwMode="auto">
          <a:xfrm rot="16200000" flipH="1">
            <a:off x="4836320" y="2455070"/>
            <a:ext cx="713184" cy="1806178"/>
          </a:xfrm>
          <a:prstGeom prst="bentConnector3">
            <a:avLst>
              <a:gd name="adj1" fmla="val 4991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4" name="AutoShape 36"/>
          <p:cNvCxnSpPr>
            <a:cxnSpLocks noChangeShapeType="1"/>
            <a:stCxn id="7175" idx="2"/>
            <a:endCxn id="7173" idx="0"/>
          </p:cNvCxnSpPr>
          <p:nvPr/>
        </p:nvCxnSpPr>
        <p:spPr bwMode="auto">
          <a:xfrm rot="5400000">
            <a:off x="6636545" y="2461023"/>
            <a:ext cx="713184" cy="1794272"/>
          </a:xfrm>
          <a:prstGeom prst="bentConnector3">
            <a:avLst>
              <a:gd name="adj1" fmla="val 4991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7205" name="Line 37"/>
          <p:cNvSpPr>
            <a:spLocks noChangeShapeType="1"/>
          </p:cNvSpPr>
          <p:nvPr/>
        </p:nvSpPr>
        <p:spPr bwMode="auto">
          <a:xfrm flipV="1">
            <a:off x="2196609" y="2743198"/>
            <a:ext cx="1270491" cy="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endParaRPr lang="en-US" sz="1350">
              <a:solidFill>
                <a:prstClr val="black"/>
              </a:solidFill>
              <a:latin typeface="Calibri" panose="020F0502020204030204"/>
            </a:endParaRPr>
          </a:p>
        </p:txBody>
      </p:sp>
      <p:sp>
        <p:nvSpPr>
          <p:cNvPr id="7206" name="Rectangle 38"/>
          <p:cNvSpPr>
            <a:spLocks noChangeArrowheads="1"/>
          </p:cNvSpPr>
          <p:nvPr/>
        </p:nvSpPr>
        <p:spPr bwMode="auto">
          <a:xfrm>
            <a:off x="2196609" y="2129892"/>
            <a:ext cx="685800" cy="486966"/>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200">
                <a:solidFill>
                  <a:prstClr val="black"/>
                </a:solidFill>
              </a:rPr>
              <a:t>90 day </a:t>
            </a:r>
          </a:p>
          <a:p>
            <a:pPr defTabSz="685800"/>
            <a:r>
              <a:rPr lang="en-US" altLang="en-US" sz="1200">
                <a:solidFill>
                  <a:prstClr val="black"/>
                </a:solidFill>
              </a:rPr>
              <a:t>Letter</a:t>
            </a:r>
            <a:endParaRPr lang="en-US" altLang="en-US" sz="1350">
              <a:solidFill>
                <a:prstClr val="black"/>
              </a:solidFill>
            </a:endParaRPr>
          </a:p>
        </p:txBody>
      </p:sp>
      <p:sp>
        <p:nvSpPr>
          <p:cNvPr id="2" name="Slide Number Placeholder 1"/>
          <p:cNvSpPr>
            <a:spLocks noGrp="1"/>
          </p:cNvSpPr>
          <p:nvPr>
            <p:ph type="sldNum" sz="quarter" idx="10"/>
          </p:nvPr>
        </p:nvSpPr>
        <p:spPr/>
        <p:txBody>
          <a:bodyPr/>
          <a:lstStyle/>
          <a:p>
            <a:pPr defTabSz="685800"/>
            <a:fld id="{7B3E355C-57B9-BC4B-95D8-406A1F834537}" type="slidenum">
              <a:rPr lang="en-US" altLang="en-US">
                <a:solidFill>
                  <a:prstClr val="black">
                    <a:lumMod val="50000"/>
                    <a:lumOff val="50000"/>
                  </a:prstClr>
                </a:solidFill>
                <a:latin typeface="Calibri" panose="020F0502020204030204"/>
                <a:ea typeface="+mn-ea"/>
                <a:cs typeface="+mn-cs"/>
              </a:rPr>
              <a:pPr defTabSz="685800"/>
              <a:t>7</a:t>
            </a:fld>
            <a:endParaRPr lang="en-US" altLang="en-US" dirty="0">
              <a:solidFill>
                <a:prstClr val="black">
                  <a:lumMod val="50000"/>
                  <a:lumOff val="50000"/>
                </a:prstClr>
              </a:solidFill>
              <a:latin typeface="Calibri" panose="020F0502020204030204"/>
              <a:ea typeface="+mn-ea"/>
              <a:cs typeface="+mn-cs"/>
            </a:endParaRPr>
          </a:p>
        </p:txBody>
      </p:sp>
    </p:spTree>
    <p:extLst>
      <p:ext uri="{BB962C8B-B14F-4D97-AF65-F5344CB8AC3E}">
        <p14:creationId xmlns:p14="http://schemas.microsoft.com/office/powerpoint/2010/main" val="2127161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2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2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7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9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719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17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720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17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720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720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720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173"/>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718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717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nodePh="1">
                                  <p:stCondLst>
                                    <p:cond delay="0"/>
                                  </p:stCondLst>
                                  <p:endCondLst>
                                    <p:cond evt="begin" delay="0">
                                      <p:tn val="69"/>
                                    </p:cond>
                                  </p:endCondLst>
                                  <p:childTnLst>
                                    <p:set>
                                      <p:cBhvr>
                                        <p:cTn id="70" dur="1" fill="hold">
                                          <p:stCondLst>
                                            <p:cond delay="499"/>
                                          </p:stCondLst>
                                        </p:cTn>
                                        <p:tgtEl>
                                          <p:spTgt spid="717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7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P spid="7170" grpId="0" autoUpdateAnimBg="0"/>
      <p:bldP spid="7173" grpId="0" animBg="1" autoUpdateAnimBg="0"/>
      <p:bldP spid="7174" grpId="0" animBg="1" autoUpdateAnimBg="0"/>
      <p:bldP spid="7175" grpId="0" animBg="1" autoUpdateAnimBg="0"/>
      <p:bldP spid="7177" grpId="0" autoUpdateAnimBg="0"/>
      <p:bldP spid="7178" grpId="0" animBg="1" autoUpdateAnimBg="0"/>
      <p:bldP spid="7179" grpId="0" animBg="1" autoUpdateAnimBg="0"/>
      <p:bldP spid="7198" grpId="0" animBg="1" autoUpdateAnimBg="0"/>
      <p:bldP spid="7205" grpId="0" animBg="1"/>
      <p:bldP spid="7206"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2A6629-FF0F-02FC-66E9-AA1E2EE16D22}"/>
              </a:ext>
            </a:extLst>
          </p:cNvPr>
          <p:cNvSpPr>
            <a:spLocks noGrp="1"/>
          </p:cNvSpPr>
          <p:nvPr>
            <p:ph idx="1"/>
          </p:nvPr>
        </p:nvSpPr>
        <p:spPr/>
        <p:txBody>
          <a:bodyPr/>
          <a:lstStyle/>
          <a:p>
            <a:r>
              <a:rPr lang="en-US" b="1" i="1" dirty="0"/>
              <a:t>Chevron</a:t>
            </a:r>
          </a:p>
          <a:p>
            <a:pPr lvl="1"/>
            <a:r>
              <a:rPr lang="en-US" i="1" dirty="0"/>
              <a:t>Did Congress directly speak to the precise question at issue…[</a:t>
            </a:r>
            <a:r>
              <a:rPr lang="en-US" i="1" dirty="0" err="1"/>
              <a:t>i</a:t>
            </a:r>
            <a:r>
              <a:rPr lang="en-US" i="1" dirty="0"/>
              <a:t>]f the intent of Congress is clear, that is the end of the matter.”</a:t>
            </a:r>
          </a:p>
          <a:p>
            <a:pPr lvl="2"/>
            <a:r>
              <a:rPr lang="en-US" dirty="0"/>
              <a:t>How to determine intent?  “[E]</a:t>
            </a:r>
            <a:r>
              <a:rPr lang="en-US" dirty="0" err="1"/>
              <a:t>mploy</a:t>
            </a:r>
            <a:r>
              <a:rPr lang="en-US" dirty="0"/>
              <a:t> traditional tools of statutory construction.”</a:t>
            </a:r>
          </a:p>
          <a:p>
            <a:pPr lvl="1"/>
            <a:r>
              <a:rPr lang="en-US" dirty="0"/>
              <a:t>If statute silent or ambiguous, a Court had to </a:t>
            </a:r>
            <a:r>
              <a:rPr lang="en-US" i="1" dirty="0"/>
              <a:t>defer</a:t>
            </a:r>
            <a:r>
              <a:rPr lang="en-US" dirty="0"/>
              <a:t> to agency if agency offered “a permissible construction of the statute,” even if it wasn’t a construction that the court would have reached if the question had arisen in a judicial proceeding.”</a:t>
            </a:r>
          </a:p>
          <a:p>
            <a:r>
              <a:rPr lang="en-US" b="1" i="1" dirty="0"/>
              <a:t>Loper Bright</a:t>
            </a:r>
          </a:p>
          <a:p>
            <a:pPr lvl="1"/>
            <a:r>
              <a:rPr lang="en-US" dirty="0"/>
              <a:t>Under APA, reviewing court must “decide all relevant questions of law” and ”interpret statutory provisions.”  Chevron is inconsistent with mandate of APA and is overruled.</a:t>
            </a:r>
          </a:p>
          <a:p>
            <a:pPr lvl="1"/>
            <a:r>
              <a:rPr lang="en-US" dirty="0"/>
              <a:t>Prior cases relying on </a:t>
            </a:r>
            <a:r>
              <a:rPr lang="en-US" i="1" dirty="0"/>
              <a:t>Chevron</a:t>
            </a:r>
            <a:r>
              <a:rPr lang="en-US" dirty="0"/>
              <a:t> subject to statutory </a:t>
            </a:r>
            <a:r>
              <a:rPr lang="en-US" i="1" dirty="0"/>
              <a:t>stare decisis</a:t>
            </a:r>
            <a:endParaRPr lang="en-US" dirty="0"/>
          </a:p>
          <a:p>
            <a:pPr lvl="1"/>
            <a:r>
              <a:rPr lang="en-US" dirty="0"/>
              <a:t>Under </a:t>
            </a:r>
            <a:r>
              <a:rPr lang="en-US" i="1" dirty="0"/>
              <a:t>Skidmore</a:t>
            </a:r>
            <a:r>
              <a:rPr lang="en-US" dirty="0"/>
              <a:t>, a court may rely an agency’s “body of experience and informed judgment”.  The weight will depend on the agency’s “thoroughness evident in its consideration, the validity of its reasoning, its consistency with earlier and later pronouncements, and all those factors which give it power to persuade, if lacking power to control.” </a:t>
            </a:r>
          </a:p>
        </p:txBody>
      </p:sp>
      <p:sp>
        <p:nvSpPr>
          <p:cNvPr id="3" name="Title 2">
            <a:extLst>
              <a:ext uri="{FF2B5EF4-FFF2-40B4-BE49-F238E27FC236}">
                <a16:creationId xmlns:a16="http://schemas.microsoft.com/office/drawing/2014/main" id="{03548059-27FC-D2A6-BF3F-33EC7DF50C9E}"/>
              </a:ext>
            </a:extLst>
          </p:cNvPr>
          <p:cNvSpPr>
            <a:spLocks noGrp="1"/>
          </p:cNvSpPr>
          <p:nvPr>
            <p:ph type="title"/>
          </p:nvPr>
        </p:nvSpPr>
        <p:spPr/>
        <p:txBody>
          <a:bodyPr/>
          <a:lstStyle/>
          <a:p>
            <a:r>
              <a:rPr lang="en-US" i="1" dirty="0"/>
              <a:t>Loper Bright v. Raimondo</a:t>
            </a:r>
            <a:r>
              <a:rPr lang="en-US" dirty="0"/>
              <a:t>, 144 S. Ct. 2244 (2024): The New Kid in Town</a:t>
            </a:r>
            <a:endParaRPr lang="en-US" i="1" dirty="0"/>
          </a:p>
        </p:txBody>
      </p:sp>
      <p:sp>
        <p:nvSpPr>
          <p:cNvPr id="4" name="Slide Number Placeholder 3">
            <a:extLst>
              <a:ext uri="{FF2B5EF4-FFF2-40B4-BE49-F238E27FC236}">
                <a16:creationId xmlns:a16="http://schemas.microsoft.com/office/drawing/2014/main" id="{25412A9F-E12E-AD09-3798-ED18167D97A4}"/>
              </a:ext>
            </a:extLst>
          </p:cNvPr>
          <p:cNvSpPr>
            <a:spLocks noGrp="1"/>
          </p:cNvSpPr>
          <p:nvPr>
            <p:ph type="sldNum" sz="quarter" idx="10"/>
          </p:nvPr>
        </p:nvSpPr>
        <p:spPr/>
        <p:txBody>
          <a:bodyPr/>
          <a:lstStyle/>
          <a:p>
            <a:fld id="{7B3E355C-57B9-BC4B-95D8-406A1F834537}" type="slidenum">
              <a:rPr lang="en-US" altLang="en-US" smtClean="0"/>
              <a:pPr/>
              <a:t>8</a:t>
            </a:fld>
            <a:endParaRPr lang="en-US" altLang="en-US"/>
          </a:p>
        </p:txBody>
      </p:sp>
      <p:sp>
        <p:nvSpPr>
          <p:cNvPr id="5" name="Footer Placeholder 4">
            <a:extLst>
              <a:ext uri="{FF2B5EF4-FFF2-40B4-BE49-F238E27FC236}">
                <a16:creationId xmlns:a16="http://schemas.microsoft.com/office/drawing/2014/main" id="{BBBA24D4-5D3E-89FA-2DC7-A090D877D318}"/>
              </a:ext>
            </a:extLst>
          </p:cNvPr>
          <p:cNvSpPr>
            <a:spLocks noGrp="1"/>
          </p:cNvSpPr>
          <p:nvPr>
            <p:ph type="ftr" sz="quarter" idx="11"/>
          </p:nvPr>
        </p:nvSpPr>
        <p:spPr/>
        <p:txBody>
          <a:bodyPr/>
          <a:lstStyle/>
          <a:p>
            <a:pPr>
              <a:defRPr/>
            </a:pPr>
            <a:r>
              <a:rPr lang="en-US"/>
              <a:t>Introduction</a:t>
            </a:r>
            <a:endParaRPr lang="en-US" dirty="0"/>
          </a:p>
        </p:txBody>
      </p:sp>
    </p:spTree>
    <p:extLst>
      <p:ext uri="{BB962C8B-B14F-4D97-AF65-F5344CB8AC3E}">
        <p14:creationId xmlns:p14="http://schemas.microsoft.com/office/powerpoint/2010/main" val="328107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933D8D-2A1A-3B9B-3564-66223A212C12}"/>
              </a:ext>
            </a:extLst>
          </p:cNvPr>
          <p:cNvSpPr>
            <a:spLocks noGrp="1"/>
          </p:cNvSpPr>
          <p:nvPr>
            <p:ph idx="1"/>
          </p:nvPr>
        </p:nvSpPr>
        <p:spPr/>
        <p:txBody>
          <a:bodyPr/>
          <a:lstStyle/>
          <a:p>
            <a:r>
              <a:rPr lang="en-US" b="1" i="0" u="none" strike="noStrike" dirty="0">
                <a:solidFill>
                  <a:srgbClr val="222222"/>
                </a:solidFill>
                <a:effectLst/>
                <a:latin typeface="__Open_Sans_22d393"/>
              </a:rPr>
              <a:t>Section 7805(a)</a:t>
            </a:r>
            <a:r>
              <a:rPr lang="en-US" b="1" i="0" dirty="0">
                <a:solidFill>
                  <a:srgbClr val="222222"/>
                </a:solidFill>
                <a:effectLst/>
                <a:latin typeface="__Open_Sans_22d393"/>
              </a:rPr>
              <a:t> </a:t>
            </a:r>
          </a:p>
          <a:p>
            <a:pPr lvl="1"/>
            <a:r>
              <a:rPr lang="en-US" b="0" i="1" dirty="0">
                <a:solidFill>
                  <a:srgbClr val="222222"/>
                </a:solidFill>
                <a:effectLst/>
                <a:latin typeface="__Open_Sans_22d393"/>
              </a:rPr>
              <a:t>Authorization. …the Secretary shall prescribe all needful rules and regulations for the enforcement of this title, including all rules and regulations as may be necessary by reason of any alteration of law in relation to internal revenue.</a:t>
            </a:r>
          </a:p>
          <a:p>
            <a:pPr lvl="1"/>
            <a:endParaRPr lang="en-US" i="1" dirty="0">
              <a:solidFill>
                <a:srgbClr val="222222"/>
              </a:solidFill>
              <a:latin typeface="__Open_Sans_22d393"/>
            </a:endParaRPr>
          </a:p>
          <a:p>
            <a:pPr lvl="1"/>
            <a:endParaRPr lang="en-US" b="0" i="0" dirty="0">
              <a:solidFill>
                <a:srgbClr val="222222"/>
              </a:solidFill>
              <a:effectLst/>
              <a:latin typeface="__Open_Sans_22d393"/>
            </a:endParaRPr>
          </a:p>
          <a:p>
            <a:r>
              <a:rPr lang="en-US" b="1" i="0" u="none" strike="noStrike" dirty="0">
                <a:solidFill>
                  <a:srgbClr val="222222"/>
                </a:solidFill>
                <a:effectLst/>
                <a:latin typeface="__Open_Sans_22d393"/>
              </a:rPr>
              <a:t>Section 1502</a:t>
            </a:r>
          </a:p>
          <a:p>
            <a:pPr lvl="1"/>
            <a:r>
              <a:rPr lang="en-US" b="0" i="1" dirty="0">
                <a:solidFill>
                  <a:srgbClr val="222222"/>
                </a:solidFill>
                <a:effectLst/>
                <a:latin typeface="__Open_Sans_22d393"/>
              </a:rPr>
              <a:t>The Secretary shall prescribe such regulations as he may deem necessary in order that the tax liability of any affiliated group of corporations making a consolidated return and of each corporation in the group, both during and after the period of affiliation, may be returned, determined, computed, assessed, collected, and adjusted, in such manner as clearly to reflect the income-tax liability and the various factors necessary for the determination of such liability, and in order to prevent avoidance of such tax liability. </a:t>
            </a:r>
            <a:endParaRPr lang="en-US" b="1" i="1" dirty="0">
              <a:solidFill>
                <a:srgbClr val="222222"/>
              </a:solidFill>
              <a:effectLst/>
              <a:latin typeface="__Open_Sans_22d393"/>
            </a:endParaRPr>
          </a:p>
          <a:p>
            <a:endParaRPr lang="en-US" dirty="0"/>
          </a:p>
        </p:txBody>
      </p:sp>
      <p:sp>
        <p:nvSpPr>
          <p:cNvPr id="3" name="Title 2">
            <a:extLst>
              <a:ext uri="{FF2B5EF4-FFF2-40B4-BE49-F238E27FC236}">
                <a16:creationId xmlns:a16="http://schemas.microsoft.com/office/drawing/2014/main" id="{C005E377-D349-8186-BCA3-886C0B3F043B}"/>
              </a:ext>
            </a:extLst>
          </p:cNvPr>
          <p:cNvSpPr>
            <a:spLocks noGrp="1"/>
          </p:cNvSpPr>
          <p:nvPr>
            <p:ph type="title"/>
          </p:nvPr>
        </p:nvSpPr>
        <p:spPr/>
        <p:txBody>
          <a:bodyPr/>
          <a:lstStyle/>
          <a:p>
            <a:r>
              <a:rPr lang="en-US" dirty="0"/>
              <a:t>Delegations</a:t>
            </a:r>
          </a:p>
        </p:txBody>
      </p:sp>
      <p:sp>
        <p:nvSpPr>
          <p:cNvPr id="4" name="Slide Number Placeholder 3">
            <a:extLst>
              <a:ext uri="{FF2B5EF4-FFF2-40B4-BE49-F238E27FC236}">
                <a16:creationId xmlns:a16="http://schemas.microsoft.com/office/drawing/2014/main" id="{43EA22FC-D7E5-4EDC-B91F-30705665A583}"/>
              </a:ext>
            </a:extLst>
          </p:cNvPr>
          <p:cNvSpPr>
            <a:spLocks noGrp="1"/>
          </p:cNvSpPr>
          <p:nvPr>
            <p:ph type="sldNum" sz="quarter" idx="10"/>
          </p:nvPr>
        </p:nvSpPr>
        <p:spPr/>
        <p:txBody>
          <a:bodyPr/>
          <a:lstStyle/>
          <a:p>
            <a:fld id="{7B3E355C-57B9-BC4B-95D8-406A1F834537}" type="slidenum">
              <a:rPr lang="en-US" altLang="en-US" smtClean="0"/>
              <a:pPr/>
              <a:t>9</a:t>
            </a:fld>
            <a:endParaRPr lang="en-US" altLang="en-US"/>
          </a:p>
        </p:txBody>
      </p:sp>
      <p:sp>
        <p:nvSpPr>
          <p:cNvPr id="5" name="Footer Placeholder 4">
            <a:extLst>
              <a:ext uri="{FF2B5EF4-FFF2-40B4-BE49-F238E27FC236}">
                <a16:creationId xmlns:a16="http://schemas.microsoft.com/office/drawing/2014/main" id="{34C4D8D4-8BDC-2C85-4EBE-D44817579BE4}"/>
              </a:ext>
            </a:extLst>
          </p:cNvPr>
          <p:cNvSpPr>
            <a:spLocks noGrp="1"/>
          </p:cNvSpPr>
          <p:nvPr>
            <p:ph type="ftr" sz="quarter" idx="11"/>
          </p:nvPr>
        </p:nvSpPr>
        <p:spPr/>
        <p:txBody>
          <a:bodyPr/>
          <a:lstStyle/>
          <a:p>
            <a:pPr>
              <a:defRPr/>
            </a:pPr>
            <a:r>
              <a:rPr lang="en-US"/>
              <a:t>Introduction</a:t>
            </a:r>
            <a:endParaRPr lang="en-US" dirty="0"/>
          </a:p>
        </p:txBody>
      </p:sp>
    </p:spTree>
    <p:extLst>
      <p:ext uri="{BB962C8B-B14F-4D97-AF65-F5344CB8AC3E}">
        <p14:creationId xmlns:p14="http://schemas.microsoft.com/office/powerpoint/2010/main" val="148405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p:txBody>
          <a:bodyPr>
            <a:normAutofit lnSpcReduction="10000"/>
          </a:bodyPr>
          <a:lstStyle/>
          <a:p>
            <a:pPr marL="0" indent="0" algn="ctr">
              <a:lnSpc>
                <a:spcPct val="80000"/>
              </a:lnSpc>
              <a:buNone/>
              <a:tabLst>
                <a:tab pos="914400" algn="l"/>
              </a:tabLst>
            </a:pPr>
            <a:r>
              <a:rPr lang="en-US" sz="2800" b="1" u="sng" dirty="0">
                <a:ea typeface="ＭＳ Ｐゴシック" charset="0"/>
                <a:cs typeface="ＭＳ Ｐゴシック" charset="0"/>
              </a:rPr>
              <a:t>Internal Revenue Code</a:t>
            </a:r>
          </a:p>
          <a:p>
            <a:pPr>
              <a:lnSpc>
                <a:spcPct val="80000"/>
              </a:lnSpc>
              <a:tabLst>
                <a:tab pos="914400" algn="l"/>
              </a:tabLst>
            </a:pPr>
            <a:r>
              <a:rPr lang="en-US" sz="2800" dirty="0">
                <a:ea typeface="ＭＳ Ｐゴシック" charset="0"/>
                <a:cs typeface="ＭＳ Ｐゴシック" charset="0"/>
              </a:rPr>
              <a:t>Subtitles (A-K)</a:t>
            </a:r>
          </a:p>
          <a:p>
            <a:pPr marL="685800" lvl="1" indent="-279400">
              <a:lnSpc>
                <a:spcPct val="80000"/>
              </a:lnSpc>
              <a:tabLst>
                <a:tab pos="914400" algn="l"/>
              </a:tabLst>
            </a:pPr>
            <a:r>
              <a:rPr lang="en-US" sz="2400" dirty="0">
                <a:ea typeface="ＭＳ Ｐゴシック" charset="0"/>
              </a:rPr>
              <a:t>A (Income Taxes) and (B) Estate and Gift Taxes</a:t>
            </a:r>
          </a:p>
          <a:p>
            <a:pPr>
              <a:lnSpc>
                <a:spcPct val="80000"/>
              </a:lnSpc>
              <a:tabLst>
                <a:tab pos="914400" algn="l"/>
              </a:tabLst>
            </a:pPr>
            <a:r>
              <a:rPr lang="en-US" sz="2800" dirty="0">
                <a:ea typeface="ＭＳ Ｐゴシック" charset="0"/>
                <a:cs typeface="ＭＳ Ｐゴシック" charset="0"/>
              </a:rPr>
              <a:t>Chapters, Subchapters, and Parts</a:t>
            </a:r>
          </a:p>
          <a:p>
            <a:pPr marL="685800" lvl="1" indent="-279400">
              <a:lnSpc>
                <a:spcPct val="80000"/>
              </a:lnSpc>
              <a:tabLst>
                <a:tab pos="914400" algn="l"/>
              </a:tabLst>
            </a:pPr>
            <a:r>
              <a:rPr lang="en-US" sz="2400" dirty="0">
                <a:ea typeface="ＭＳ Ｐゴシック" charset="0"/>
              </a:rPr>
              <a:t>Chapter 1 (Normal Taxes) [</a:t>
            </a:r>
            <a:r>
              <a:rPr lang="en-US" sz="2400" dirty="0"/>
              <a:t>§§</a:t>
            </a:r>
            <a:r>
              <a:rPr lang="en-US" sz="2400" dirty="0">
                <a:ea typeface="ＭＳ Ｐゴシック" charset="0"/>
              </a:rPr>
              <a:t>1-1400L]</a:t>
            </a:r>
          </a:p>
          <a:p>
            <a:pPr marL="685800" lvl="1" indent="-279400">
              <a:lnSpc>
                <a:spcPct val="80000"/>
              </a:lnSpc>
              <a:tabLst>
                <a:tab pos="914400" algn="l"/>
              </a:tabLst>
            </a:pPr>
            <a:r>
              <a:rPr lang="en-US" sz="2400" dirty="0">
                <a:ea typeface="ＭＳ Ｐゴシック" charset="0"/>
              </a:rPr>
              <a:t>Subchapter A (Determination of Tax Liability)</a:t>
            </a:r>
          </a:p>
          <a:p>
            <a:pPr marL="1092200" lvl="2" indent="-292100">
              <a:lnSpc>
                <a:spcPct val="80000"/>
              </a:lnSpc>
              <a:tabLst>
                <a:tab pos="914400" algn="l"/>
              </a:tabLst>
            </a:pPr>
            <a:r>
              <a:rPr lang="en-US" sz="2000" dirty="0">
                <a:ea typeface="ＭＳ Ｐゴシック" charset="0"/>
              </a:rPr>
              <a:t>Subchapter B: Computation of Taxable Income [</a:t>
            </a:r>
            <a:r>
              <a:rPr lang="en-US" sz="2000" dirty="0"/>
              <a:t>§§</a:t>
            </a:r>
            <a:r>
              <a:rPr lang="en-US" sz="2000" dirty="0">
                <a:ea typeface="ＭＳ Ｐゴシック" charset="0"/>
              </a:rPr>
              <a:t>61-291]</a:t>
            </a:r>
          </a:p>
          <a:p>
            <a:pPr marL="1092200" lvl="2" indent="-292100">
              <a:lnSpc>
                <a:spcPct val="80000"/>
              </a:lnSpc>
              <a:tabLst>
                <a:tab pos="914400" algn="l"/>
              </a:tabLst>
            </a:pPr>
            <a:r>
              <a:rPr lang="en-US" sz="2000" dirty="0">
                <a:ea typeface="ＭＳ Ｐゴシック" charset="0"/>
              </a:rPr>
              <a:t>Subchapter C:  Corporate Distributions and Adjustments [</a:t>
            </a:r>
            <a:r>
              <a:rPr lang="en-US" sz="2000" dirty="0"/>
              <a:t>§§</a:t>
            </a:r>
            <a:r>
              <a:rPr lang="en-US" sz="2000" dirty="0">
                <a:ea typeface="ＭＳ Ｐゴシック" charset="0"/>
              </a:rPr>
              <a:t>301-385]</a:t>
            </a:r>
          </a:p>
          <a:p>
            <a:pPr marL="1092200" lvl="2" indent="-292100">
              <a:lnSpc>
                <a:spcPct val="80000"/>
              </a:lnSpc>
              <a:tabLst>
                <a:tab pos="914400" algn="l"/>
              </a:tabLst>
            </a:pPr>
            <a:r>
              <a:rPr lang="en-US" sz="2000" dirty="0">
                <a:ea typeface="ＭＳ Ｐゴシック" charset="0"/>
              </a:rPr>
              <a:t>Subchapter K:  Partners and Partnerships [</a:t>
            </a:r>
            <a:r>
              <a:rPr lang="en-US" sz="2000" dirty="0"/>
              <a:t>§§</a:t>
            </a:r>
            <a:r>
              <a:rPr lang="en-US" sz="2000" dirty="0">
                <a:ea typeface="ＭＳ Ｐゴシック" charset="0"/>
              </a:rPr>
              <a:t>701-777]</a:t>
            </a:r>
          </a:p>
          <a:p>
            <a:pPr marL="1092200" lvl="2" indent="-292100">
              <a:lnSpc>
                <a:spcPct val="80000"/>
              </a:lnSpc>
              <a:tabLst>
                <a:tab pos="914400" algn="l"/>
              </a:tabLst>
            </a:pPr>
            <a:r>
              <a:rPr lang="en-US" sz="2000" dirty="0">
                <a:ea typeface="ＭＳ Ｐゴシック" charset="0"/>
              </a:rPr>
              <a:t>Subchapter S:  S Corporations and Their Shareholders [</a:t>
            </a:r>
            <a:r>
              <a:rPr lang="en-US" sz="2000" dirty="0"/>
              <a:t>§§</a:t>
            </a:r>
            <a:r>
              <a:rPr lang="en-US" sz="2000" dirty="0">
                <a:ea typeface="ＭＳ Ｐゴシック" charset="0"/>
              </a:rPr>
              <a:t>1361-1379]</a:t>
            </a:r>
            <a:endParaRPr lang="en-US" sz="2400" dirty="0">
              <a:ea typeface="ＭＳ Ｐゴシック" charset="0"/>
            </a:endParaRPr>
          </a:p>
          <a:p>
            <a:pPr marL="685800" lvl="1" indent="-279400">
              <a:lnSpc>
                <a:spcPct val="80000"/>
              </a:lnSpc>
              <a:tabLst>
                <a:tab pos="914400" algn="l"/>
              </a:tabLst>
            </a:pPr>
            <a:r>
              <a:rPr lang="en-US" sz="2400" dirty="0">
                <a:ea typeface="ＭＳ Ｐゴシック" charset="0"/>
              </a:rPr>
              <a:t>Part I (Tax on individuals)</a:t>
            </a:r>
          </a:p>
          <a:p>
            <a:pPr>
              <a:lnSpc>
                <a:spcPct val="80000"/>
              </a:lnSpc>
              <a:tabLst>
                <a:tab pos="914400" algn="l"/>
              </a:tabLst>
            </a:pPr>
            <a:r>
              <a:rPr lang="en-US" sz="2800" dirty="0">
                <a:ea typeface="ＭＳ Ｐゴシック" charset="0"/>
                <a:cs typeface="ＭＳ Ｐゴシック" charset="0"/>
              </a:rPr>
              <a:t>Parts [I], Sections [61], Subsections [c], Paragraphs [1], Subparagraphs [A], Clauses [i], and Subclauses [II]</a:t>
            </a:r>
          </a:p>
          <a:p>
            <a:pPr algn="ctr">
              <a:lnSpc>
                <a:spcPct val="80000"/>
              </a:lnSpc>
              <a:buNone/>
              <a:tabLst>
                <a:tab pos="914400" algn="l"/>
              </a:tabLst>
            </a:pPr>
            <a:endParaRPr lang="en-US" sz="2800" b="1" u="sng" dirty="0">
              <a:ea typeface="ＭＳ Ｐゴシック" charset="0"/>
              <a:cs typeface="ＭＳ Ｐゴシック" charset="0"/>
            </a:endParaRPr>
          </a:p>
          <a:p>
            <a:pPr algn="ctr">
              <a:lnSpc>
                <a:spcPct val="80000"/>
              </a:lnSpc>
              <a:buNone/>
              <a:tabLst>
                <a:tab pos="914400" algn="l"/>
              </a:tabLst>
            </a:pPr>
            <a:r>
              <a:rPr lang="en-US" sz="2800" b="1" u="sng" dirty="0">
                <a:ea typeface="ＭＳ Ｐゴシック" charset="0"/>
                <a:cs typeface="ＭＳ Ｐゴシック" charset="0"/>
              </a:rPr>
              <a:t>Treasury Regulations</a:t>
            </a:r>
          </a:p>
          <a:p>
            <a:pPr>
              <a:lnSpc>
                <a:spcPct val="80000"/>
              </a:lnSpc>
              <a:tabLst>
                <a:tab pos="914400" algn="l"/>
              </a:tabLst>
            </a:pPr>
            <a:r>
              <a:rPr lang="en-US" sz="2800" dirty="0">
                <a:ea typeface="ＭＳ Ｐゴシック" charset="0"/>
                <a:cs typeface="ＭＳ Ｐゴシック" charset="0"/>
              </a:rPr>
              <a:t>Chapter, Parts, Sections [</a:t>
            </a:r>
            <a:r>
              <a:rPr lang="en-US" sz="2800" dirty="0"/>
              <a:t>§§</a:t>
            </a:r>
            <a:r>
              <a:rPr lang="en-US" sz="2800" b="1" dirty="0">
                <a:ea typeface="ＭＳ Ｐゴシック" charset="0"/>
                <a:cs typeface="ＭＳ Ｐゴシック" charset="0"/>
              </a:rPr>
              <a:t>1.</a:t>
            </a:r>
            <a:r>
              <a:rPr lang="en-US" sz="2800" dirty="0">
                <a:ea typeface="ＭＳ Ｐゴシック" charset="0"/>
                <a:cs typeface="ＭＳ Ｐゴシック" charset="0"/>
              </a:rPr>
              <a:t>1 and </a:t>
            </a:r>
            <a:r>
              <a:rPr lang="en-US" sz="2800" b="1" dirty="0">
                <a:ea typeface="ＭＳ Ｐゴシック" charset="0"/>
                <a:cs typeface="ＭＳ Ｐゴシック" charset="0"/>
              </a:rPr>
              <a:t>301</a:t>
            </a:r>
            <a:r>
              <a:rPr lang="en-US" sz="2800" dirty="0">
                <a:ea typeface="ＭＳ Ｐゴシック" charset="0"/>
                <a:cs typeface="ＭＳ Ｐゴシック" charset="0"/>
              </a:rPr>
              <a:t>.7701], Subsections [</a:t>
            </a:r>
            <a:r>
              <a:rPr lang="en-US" sz="2800" b="1" dirty="0">
                <a:ea typeface="ＭＳ Ｐゴシック" charset="0"/>
                <a:cs typeface="ＭＳ Ｐゴシック" charset="0"/>
              </a:rPr>
              <a:t>-1</a:t>
            </a:r>
            <a:r>
              <a:rPr lang="en-US" sz="2800" dirty="0">
                <a:ea typeface="ＭＳ Ｐゴシック" charset="0"/>
                <a:cs typeface="ＭＳ Ｐゴシック" charset="0"/>
              </a:rPr>
              <a:t>], Paragraphs[-1</a:t>
            </a:r>
            <a:r>
              <a:rPr lang="en-US" sz="2800" b="1" dirty="0">
                <a:ea typeface="ＭＳ Ｐゴシック" charset="0"/>
                <a:cs typeface="ＭＳ Ｐゴシック" charset="0"/>
              </a:rPr>
              <a:t>(d)</a:t>
            </a:r>
            <a:r>
              <a:rPr lang="en-US" sz="2800" dirty="0">
                <a:ea typeface="ＭＳ Ｐゴシック" charset="0"/>
                <a:cs typeface="ＭＳ Ｐゴシック" charset="0"/>
              </a:rPr>
              <a:t>]; Subparagraphs [-1(d)</a:t>
            </a:r>
            <a:r>
              <a:rPr lang="en-US" sz="2800" b="1" dirty="0">
                <a:ea typeface="ＭＳ Ｐゴシック" charset="0"/>
                <a:cs typeface="ＭＳ Ｐゴシック" charset="0"/>
              </a:rPr>
              <a:t>(1)</a:t>
            </a:r>
            <a:r>
              <a:rPr lang="en-US" sz="2800" dirty="0">
                <a:ea typeface="ＭＳ Ｐゴシック" charset="0"/>
                <a:cs typeface="ＭＳ Ｐゴシック" charset="0"/>
              </a:rPr>
              <a:t>]; and Subdivisions [-1(d)(1)</a:t>
            </a:r>
            <a:r>
              <a:rPr lang="en-US" sz="2800" b="1" dirty="0">
                <a:ea typeface="ＭＳ Ｐゴシック" charset="0"/>
                <a:cs typeface="ＭＳ Ｐゴシック" charset="0"/>
              </a:rPr>
              <a:t>(ii)</a:t>
            </a:r>
            <a:r>
              <a:rPr lang="en-US" sz="2800" dirty="0">
                <a:ea typeface="ＭＳ Ｐゴシック" charset="0"/>
                <a:cs typeface="ＭＳ Ｐゴシック" charset="0"/>
              </a:rPr>
              <a:t>] </a:t>
            </a:r>
          </a:p>
        </p:txBody>
      </p:sp>
      <p:sp>
        <p:nvSpPr>
          <p:cNvPr id="12292" name="Rectangle 2"/>
          <p:cNvSpPr>
            <a:spLocks noGrp="1" noChangeArrowheads="1"/>
          </p:cNvSpPr>
          <p:nvPr>
            <p:ph type="title"/>
          </p:nvPr>
        </p:nvSpPr>
        <p:spPr/>
        <p:txBody>
          <a:bodyPr/>
          <a:lstStyle/>
          <a:p>
            <a:pPr eaLnBrk="1" hangingPunct="1"/>
            <a:r>
              <a:rPr lang="en-US" sz="2000" dirty="0">
                <a:ea typeface="ＭＳ Ｐゴシック" charset="0"/>
                <a:cs typeface="ＭＳ Ｐゴシック" charset="0"/>
              </a:rPr>
              <a:t>Internal Revenue Code (Title 26 of the U.S.C.) &amp; Regulations (Title 26 of the C.F.R.)</a:t>
            </a:r>
          </a:p>
        </p:txBody>
      </p:sp>
      <p:sp>
        <p:nvSpPr>
          <p:cNvPr id="2" name="Footer Placeholder 1">
            <a:extLst>
              <a:ext uri="{FF2B5EF4-FFF2-40B4-BE49-F238E27FC236}">
                <a16:creationId xmlns:a16="http://schemas.microsoft.com/office/drawing/2014/main" id="{B098A06A-30C8-AA4C-9063-C2B482041099}"/>
              </a:ext>
            </a:extLst>
          </p:cNvPr>
          <p:cNvSpPr>
            <a:spLocks noGrp="1"/>
          </p:cNvSpPr>
          <p:nvPr>
            <p:ph type="ftr" sz="quarter" idx="11"/>
          </p:nvPr>
        </p:nvSpPr>
        <p:spPr/>
        <p:txBody>
          <a:bodyPr/>
          <a:lstStyle/>
          <a:p>
            <a:pPr>
              <a:defRPr/>
            </a:pPr>
            <a:r>
              <a:rPr lang="en-US"/>
              <a:t>Introduction</a:t>
            </a:r>
            <a:endParaRPr lang="en-US" dirty="0"/>
          </a:p>
        </p:txBody>
      </p:sp>
      <p:sp>
        <p:nvSpPr>
          <p:cNvPr id="3" name="Slide Number Placeholder 2">
            <a:extLst>
              <a:ext uri="{FF2B5EF4-FFF2-40B4-BE49-F238E27FC236}">
                <a16:creationId xmlns:a16="http://schemas.microsoft.com/office/drawing/2014/main" id="{574DF4EA-B786-8644-A209-16DAC713A9DB}"/>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19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9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19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95">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195">
                                            <p:txEl>
                                              <p:pRg st="13" end="13"/>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19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29FE8C-232B-8D27-FB93-7F3807637335}"/>
              </a:ext>
            </a:extLst>
          </p:cNvPr>
          <p:cNvSpPr>
            <a:spLocks noGrp="1"/>
          </p:cNvSpPr>
          <p:nvPr>
            <p:ph idx="1"/>
          </p:nvPr>
        </p:nvSpPr>
        <p:spPr/>
        <p:txBody>
          <a:bodyPr/>
          <a:lstStyle/>
          <a:p>
            <a:r>
              <a:rPr lang="en-US" sz="2000" b="1" dirty="0"/>
              <a:t>Question:  </a:t>
            </a:r>
            <a:r>
              <a:rPr lang="en-US" sz="2000" kern="100" dirty="0">
                <a:latin typeface="Calibri" panose="020F0502020204030204" pitchFamily="34" charset="0"/>
                <a:ea typeface="Calibri" panose="020F0502020204030204" pitchFamily="34" charset="0"/>
                <a:cs typeface="Times New Roman" panose="02020603050405020304" pitchFamily="18" charset="0"/>
              </a:rPr>
              <a:t>A partner contributes property worth 100,000 and an adjusted basis of 30,000 to a partnership that is subject to a 20,000 liability.  What are the amounts in the partner's capital account and </a:t>
            </a:r>
            <a:r>
              <a:rPr lang="en-US" sz="2000" b="1" kern="100" dirty="0">
                <a:latin typeface="Calibri" panose="020F0502020204030204" pitchFamily="34" charset="0"/>
                <a:ea typeface="Calibri" panose="020F0502020204030204" pitchFamily="34" charset="0"/>
                <a:cs typeface="Times New Roman" panose="02020603050405020304" pitchFamily="18" charset="0"/>
              </a:rPr>
              <a:t>tax capital account</a:t>
            </a:r>
            <a:r>
              <a:rPr lang="en-US" sz="2000" kern="100" dirty="0">
                <a:latin typeface="Calibri" panose="020F0502020204030204" pitchFamily="34" charset="0"/>
                <a:ea typeface="Calibri" panose="020F0502020204030204" pitchFamily="34" charset="0"/>
                <a:cs typeface="Times New Roman" panose="02020603050405020304" pitchFamily="18" charset="0"/>
              </a:rPr>
              <a: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r>
              <a:rPr lang="en-US" b="1" kern="100" dirty="0">
                <a:latin typeface="Calibri" panose="020F0502020204030204" pitchFamily="34" charset="0"/>
                <a:ea typeface="Calibri" panose="020F0502020204030204" pitchFamily="34" charset="0"/>
                <a:cs typeface="Times New Roman" panose="02020603050405020304" pitchFamily="18" charset="0"/>
              </a:rPr>
              <a:t>AI #1 Answer: </a:t>
            </a:r>
          </a:p>
          <a:p>
            <a:pPr lvl="1"/>
            <a:r>
              <a:rPr lang="en-US" sz="2000" kern="100" dirty="0">
                <a:latin typeface="Calibri" panose="020F0502020204030204" pitchFamily="34" charset="0"/>
                <a:ea typeface="Calibri" panose="020F0502020204030204" pitchFamily="34" charset="0"/>
                <a:cs typeface="Times New Roman" panose="02020603050405020304" pitchFamily="18" charset="0"/>
              </a:rPr>
              <a:t>The tax capital account, also known as the tax basis capital account, is used for tax purposes. It is based on the adjusted basis of the property contributed, adjusted for the liability assumed.  Adjusted Tax Basis = Tax Basis + Liability Assumed. The amount in the partner's tax capital account would be </a:t>
            </a:r>
            <a:r>
              <a:rPr lang="en-US" sz="2000" b="1" kern="100" dirty="0">
                <a:latin typeface="Calibri" panose="020F0502020204030204" pitchFamily="34" charset="0"/>
                <a:ea typeface="Calibri" panose="020F0502020204030204" pitchFamily="34" charset="0"/>
                <a:cs typeface="Times New Roman" panose="02020603050405020304" pitchFamily="18" charset="0"/>
              </a:rPr>
              <a:t>$50,000.</a:t>
            </a:r>
          </a:p>
          <a:p>
            <a:pPr lvl="1"/>
            <a:endParaRPr lang="en-US" sz="1800" b="1" kern="100" dirty="0">
              <a:latin typeface="Calibri" panose="020F0502020204030204" pitchFamily="34" charset="0"/>
              <a:ea typeface="Calibri" panose="020F0502020204030204" pitchFamily="34" charset="0"/>
              <a:cs typeface="Times New Roman" panose="02020603050405020304" pitchFamily="18" charset="0"/>
            </a:endParaRPr>
          </a:p>
          <a:p>
            <a:r>
              <a:rPr lang="en-US" b="1" kern="100" dirty="0">
                <a:latin typeface="Calibri" panose="020F0502020204030204" pitchFamily="34" charset="0"/>
                <a:ea typeface="Calibri" panose="020F0502020204030204" pitchFamily="34" charset="0"/>
                <a:cs typeface="Times New Roman" panose="02020603050405020304" pitchFamily="18" charset="0"/>
              </a:rPr>
              <a:t>AI #2 Answer: </a:t>
            </a:r>
          </a:p>
          <a:p>
            <a:pPr lvl="1"/>
            <a:r>
              <a:rPr lang="en-US" sz="2000" kern="100" dirty="0">
                <a:latin typeface="Calibri" panose="020F0502020204030204" pitchFamily="34" charset="0"/>
                <a:ea typeface="Calibri" panose="020F0502020204030204" pitchFamily="34" charset="0"/>
                <a:cs typeface="Times New Roman" panose="02020603050405020304" pitchFamily="18" charset="0"/>
              </a:rPr>
              <a:t>The tax capital account is credited for the adjusted basis of the contributed property, $30,000. The tax capital account is debited for the liability assumed by the partnership, $20,000 so the tax capital account amount is $30,000 - $20,000 = </a:t>
            </a:r>
            <a:r>
              <a:rPr lang="en-US" sz="2000" b="1" kern="100" dirty="0">
                <a:latin typeface="Calibri" panose="020F0502020204030204" pitchFamily="34" charset="0"/>
                <a:ea typeface="Calibri" panose="020F0502020204030204" pitchFamily="34" charset="0"/>
                <a:cs typeface="Times New Roman" panose="02020603050405020304" pitchFamily="18" charset="0"/>
              </a:rPr>
              <a:t>$10,000</a:t>
            </a:r>
          </a:p>
          <a:p>
            <a:pPr lvl="1"/>
            <a:endParaRPr lang="en-US" sz="2000" b="1" kern="100" dirty="0">
              <a:latin typeface="Calibri" panose="020F0502020204030204" pitchFamily="34" charset="0"/>
              <a:ea typeface="Calibri" panose="020F0502020204030204" pitchFamily="34" charset="0"/>
              <a:cs typeface="Times New Roman" panose="02020603050405020304" pitchFamily="18" charset="0"/>
            </a:endParaRPr>
          </a:p>
          <a:p>
            <a:r>
              <a:rPr lang="en-US" sz="2000" dirty="0"/>
              <a:t>Regardless of any current weaknesses, which are rapidly diminishing, you should explore and become familiar with one or multiple LLMs—Chat, Gemini, Claude</a:t>
            </a:r>
            <a:r>
              <a:rPr lang="en-US" sz="2000"/>
              <a:t>, Harvey etc</a:t>
            </a:r>
            <a:r>
              <a:rPr lang="en-US" sz="2000" dirty="0"/>
              <a:t>.—and use them during the semester.</a:t>
            </a:r>
          </a:p>
          <a:p>
            <a:endParaRPr lang="en-US" sz="2200" b="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3" name="Title 2">
            <a:extLst>
              <a:ext uri="{FF2B5EF4-FFF2-40B4-BE49-F238E27FC236}">
                <a16:creationId xmlns:a16="http://schemas.microsoft.com/office/drawing/2014/main" id="{2AF3827A-ACAC-4473-E999-0C79A69151A5}"/>
              </a:ext>
            </a:extLst>
          </p:cNvPr>
          <p:cNvSpPr>
            <a:spLocks noGrp="1"/>
          </p:cNvSpPr>
          <p:nvPr>
            <p:ph type="title"/>
          </p:nvPr>
        </p:nvSpPr>
        <p:spPr/>
        <p:txBody>
          <a:bodyPr/>
          <a:lstStyle/>
          <a:p>
            <a:r>
              <a:rPr lang="en-US" dirty="0"/>
              <a:t>Tax and AI:  Not quite ready for prime-time tax, yet…</a:t>
            </a:r>
          </a:p>
        </p:txBody>
      </p:sp>
      <p:sp>
        <p:nvSpPr>
          <p:cNvPr id="4" name="Slide Number Placeholder 3">
            <a:extLst>
              <a:ext uri="{FF2B5EF4-FFF2-40B4-BE49-F238E27FC236}">
                <a16:creationId xmlns:a16="http://schemas.microsoft.com/office/drawing/2014/main" id="{D52CB478-666B-EAC6-9A3B-73A4261BBFAF}"/>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a:p>
        </p:txBody>
      </p:sp>
      <p:sp>
        <p:nvSpPr>
          <p:cNvPr id="5" name="Footer Placeholder 4">
            <a:extLst>
              <a:ext uri="{FF2B5EF4-FFF2-40B4-BE49-F238E27FC236}">
                <a16:creationId xmlns:a16="http://schemas.microsoft.com/office/drawing/2014/main" id="{398F0753-430A-DBFE-7D59-C8825DC27D1D}"/>
              </a:ext>
            </a:extLst>
          </p:cNvPr>
          <p:cNvSpPr>
            <a:spLocks noGrp="1"/>
          </p:cNvSpPr>
          <p:nvPr>
            <p:ph type="ftr" sz="quarter" idx="11"/>
          </p:nvPr>
        </p:nvSpPr>
        <p:spPr/>
        <p:txBody>
          <a:bodyPr/>
          <a:lstStyle/>
          <a:p>
            <a:pPr>
              <a:defRPr/>
            </a:pPr>
            <a:r>
              <a:rPr lang="en-US"/>
              <a:t>Introduction</a:t>
            </a:r>
            <a:endParaRPr lang="en-US" dirty="0"/>
          </a:p>
        </p:txBody>
      </p:sp>
      <p:cxnSp>
        <p:nvCxnSpPr>
          <p:cNvPr id="6" name="Straight Arrow Connector 5">
            <a:extLst>
              <a:ext uri="{FF2B5EF4-FFF2-40B4-BE49-F238E27FC236}">
                <a16:creationId xmlns:a16="http://schemas.microsoft.com/office/drawing/2014/main" id="{D3553BA4-66B1-82B5-A086-5A03B4E9EFEE}"/>
              </a:ext>
            </a:extLst>
          </p:cNvPr>
          <p:cNvCxnSpPr>
            <a:cxnSpLocks/>
            <a:stCxn id="8" idx="2"/>
          </p:cNvCxnSpPr>
          <p:nvPr/>
        </p:nvCxnSpPr>
        <p:spPr>
          <a:xfrm flipH="1" flipV="1">
            <a:off x="1956954" y="3044619"/>
            <a:ext cx="2864982" cy="526432"/>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28ED1C8-9E4A-59A8-59F4-82947906305B}"/>
              </a:ext>
            </a:extLst>
          </p:cNvPr>
          <p:cNvCxnSpPr>
            <a:cxnSpLocks/>
          </p:cNvCxnSpPr>
          <p:nvPr/>
        </p:nvCxnSpPr>
        <p:spPr>
          <a:xfrm>
            <a:off x="4821936" y="3600368"/>
            <a:ext cx="768373" cy="1106714"/>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9B5EB8A-7DCD-551F-ADA2-53C06268AA35}"/>
              </a:ext>
            </a:extLst>
          </p:cNvPr>
          <p:cNvSpPr/>
          <p:nvPr/>
        </p:nvSpPr>
        <p:spPr>
          <a:xfrm>
            <a:off x="4821936" y="3301649"/>
            <a:ext cx="3349752" cy="53880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n w="0"/>
                <a:solidFill>
                  <a:schemeClr val="tx2"/>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Which is correct?</a:t>
            </a:r>
            <a:endParaRPr lang="en-US" sz="18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556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17713</TotalTime>
  <Words>1541</Words>
  <Application>Microsoft Macintosh PowerPoint</Application>
  <PresentationFormat>Widescreen</PresentationFormat>
  <Paragraphs>139</Paragraphs>
  <Slides>11</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ＭＳ Ｐゴシック</vt:lpstr>
      <vt:lpstr>NSimSun</vt:lpstr>
      <vt:lpstr>__Open_Sans_22d393</vt:lpstr>
      <vt:lpstr>Arial</vt:lpstr>
      <vt:lpstr>Calibri</vt:lpstr>
      <vt:lpstr>Courier New</vt:lpstr>
      <vt:lpstr>Times</vt:lpstr>
      <vt:lpstr>Times New Roman</vt:lpstr>
      <vt:lpstr>Wingdings</vt:lpstr>
      <vt:lpstr>Wingdings 2</vt:lpstr>
      <vt:lpstr>CG Body - Standard</vt:lpstr>
      <vt:lpstr>Federal Income Taxation Introduction</vt:lpstr>
      <vt:lpstr>Administrative Details</vt:lpstr>
      <vt:lpstr>Course Goals </vt:lpstr>
      <vt:lpstr>Legislative Branch</vt:lpstr>
      <vt:lpstr>Legislative History Example: New Section 163(j)</vt:lpstr>
      <vt:lpstr>Executive Branch</vt:lpstr>
      <vt:lpstr>Judicial Branch</vt:lpstr>
      <vt:lpstr>Loper Bright v. Raimondo, 144 S. Ct. 2244 (2024): The New Kid in Town</vt:lpstr>
      <vt:lpstr>Delegations</vt:lpstr>
      <vt:lpstr>Internal Revenue Code (Title 26 of the U.S.C.) &amp; Regulations (Title 26 of the C.F.R.)</vt:lpstr>
      <vt:lpstr>Tax and AI:  Not quite ready for prime-time tax, yet…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J Colon</dc:creator>
  <cp:keywords/>
  <dc:description/>
  <cp:lastModifiedBy>Colon, Jeffrey M.</cp:lastModifiedBy>
  <cp:revision>200</cp:revision>
  <cp:lastPrinted>2020-11-30T15:41:57Z</cp:lastPrinted>
  <dcterms:created xsi:type="dcterms:W3CDTF">2016-08-01T04:04:31Z</dcterms:created>
  <dcterms:modified xsi:type="dcterms:W3CDTF">2026-08-19T16:16:37Z</dcterms:modified>
  <cp:category/>
</cp:coreProperties>
</file>