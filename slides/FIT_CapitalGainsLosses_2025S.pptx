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1"/>
  </p:notesMasterIdLst>
  <p:sldIdLst>
    <p:sldId id="256" r:id="rId5"/>
    <p:sldId id="257" r:id="rId6"/>
    <p:sldId id="298" r:id="rId7"/>
    <p:sldId id="299" r:id="rId8"/>
    <p:sldId id="302" r:id="rId9"/>
    <p:sldId id="300" r:id="rId10"/>
    <p:sldId id="303" r:id="rId11"/>
    <p:sldId id="304" r:id="rId12"/>
    <p:sldId id="305" r:id="rId13"/>
    <p:sldId id="306" r:id="rId14"/>
    <p:sldId id="307" r:id="rId15"/>
    <p:sldId id="308" r:id="rId16"/>
    <p:sldId id="309" r:id="rId17"/>
    <p:sldId id="310" r:id="rId18"/>
    <p:sldId id="311" r:id="rId19"/>
    <p:sldId id="312" r:id="rId2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21"/>
    <p:restoredTop sz="94209"/>
  </p:normalViewPr>
  <p:slideViewPr>
    <p:cSldViewPr snapToGrid="0">
      <p:cViewPr varScale="1">
        <p:scale>
          <a:sx n="114" d="100"/>
          <a:sy n="114" d="100"/>
        </p:scale>
        <p:origin x="192" y="1088"/>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03-25T13:23:57.963" v="1" actId="20577"/>
      <pc:docMkLst>
        <pc:docMk/>
      </pc:docMkLst>
      <pc:sldChg chg="modSp mod">
        <pc:chgData name="Colon, Jeffrey M." userId="615143b1-cdee-493d-9a9d-1565ce8666d9" providerId="ADAL" clId="{DC1DB158-BAB1-5930-B714-AEF472873853}" dt="2026-03-25T13:23:57.963" v="1" actId="20577"/>
        <pc:sldMkLst>
          <pc:docMk/>
          <pc:sldMk cId="1593294396" sldId="256"/>
        </pc:sldMkLst>
        <pc:spChg chg="mod">
          <ac:chgData name="Colon, Jeffrey M." userId="615143b1-cdee-493d-9a9d-1565ce8666d9" providerId="ADAL" clId="{DC1DB158-BAB1-5930-B714-AEF472873853}" dt="2026-03-25T13:23:57.963" v="1" actId="20577"/>
          <ac:spMkLst>
            <pc:docMk/>
            <pc:sldMk cId="1593294396" sldId="256"/>
            <ac:spMk id="3" creationId="{27728FE2-39D0-E4B6-16F7-700B3BBA1EE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07B2409-5404-5949-A05B-E9015A2F4F6F}" type="datetimeFigureOut">
              <a:rPr lang="en-US" smtClean="0"/>
              <a:t>3/25/26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pPr>
              <a:defRPr/>
            </a:pPr>
            <a:r>
              <a:rPr lang="en-US"/>
              <a:t>Capital Gains and Losses</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pPr>
              <a:defRPr/>
            </a:pPr>
            <a:r>
              <a:rPr lang="en-US"/>
              <a:t>Capital Gains and Losses</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pPr>
              <a:defRPr/>
            </a:pPr>
            <a:r>
              <a:rPr lang="en-US"/>
              <a:t>Capital Gains and Losses</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Capital Gains and Losses</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Capital Gains and Losses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pPr>
              <a:defRPr/>
            </a:pPr>
            <a:r>
              <a:rPr lang="en-US" dirty="0"/>
              <a:t>Capital Gains and Losses</a:t>
            </a:r>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FIT_CapitalGainsLosses_2025S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Capital Gains and Losses</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a:t>Spring 2026</a:t>
            </a:r>
            <a:endParaRPr lang="en-US" sz="2800" b="1" dirty="0"/>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Capital Gains and Losses</a:t>
            </a:r>
            <a:endParaRPr lang="en-US" dirty="0"/>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F7FB7-5E98-2F5B-D96F-F2C0D28C9C7F}"/>
              </a:ext>
            </a:extLst>
          </p:cNvPr>
          <p:cNvSpPr>
            <a:spLocks noGrp="1"/>
          </p:cNvSpPr>
          <p:nvPr>
            <p:ph idx="1"/>
          </p:nvPr>
        </p:nvSpPr>
        <p:spPr/>
        <p:txBody>
          <a:bodyPr/>
          <a:lstStyle/>
          <a:p>
            <a:pPr marL="0" indent="0" algn="ctr">
              <a:buNone/>
            </a:pPr>
            <a:r>
              <a:rPr lang="en-US" sz="3200" b="1" dirty="0"/>
              <a:t>Analyzing S/X of Property</a:t>
            </a:r>
          </a:p>
          <a:p>
            <a:r>
              <a:rPr lang="en-US" sz="3200" dirty="0"/>
              <a:t>Realized G/L = amount realized (AR) minus adjusted basis (AB)</a:t>
            </a:r>
          </a:p>
          <a:p>
            <a:r>
              <a:rPr lang="en-US" sz="3200" dirty="0"/>
              <a:t>Is realized gain recognized and included in GI under §61(a)(3) or does a nonrecognition provision (e.g., §§1031, 1033) apply?</a:t>
            </a:r>
          </a:p>
          <a:p>
            <a:r>
              <a:rPr lang="en-US" sz="3200" dirty="0"/>
              <a:t>Is realized loss recognized and does it reduce GI under §§62(a)(3) and 165(c)?</a:t>
            </a:r>
          </a:p>
          <a:p>
            <a:r>
              <a:rPr lang="en-US" sz="3200" dirty="0"/>
              <a:t>What is the </a:t>
            </a:r>
            <a:r>
              <a:rPr lang="en-US" sz="3200" b="1" dirty="0"/>
              <a:t>character, capital, ordinary or §1231 G/</a:t>
            </a:r>
            <a:r>
              <a:rPr lang="en-US" sz="3200" dirty="0"/>
              <a:t>L, of the recognized gains or losses?</a:t>
            </a:r>
          </a:p>
          <a:p>
            <a:pPr marL="0" indent="0">
              <a:buNone/>
            </a:pPr>
            <a:endParaRPr lang="en-US" sz="2800" dirty="0"/>
          </a:p>
        </p:txBody>
      </p:sp>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sz="2400" dirty="0"/>
              <a:t>Gains and Losses</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pPr>
              <a:defRPr/>
            </a:pPr>
            <a:r>
              <a:rPr lang="en-US"/>
              <a:t>Capital Gains and Losses</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spTree>
    <p:extLst>
      <p:ext uri="{BB962C8B-B14F-4D97-AF65-F5344CB8AC3E}">
        <p14:creationId xmlns:p14="http://schemas.microsoft.com/office/powerpoint/2010/main" val="1313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792B4-85F6-1438-A522-2B342FFE5531}"/>
              </a:ext>
            </a:extLst>
          </p:cNvPr>
          <p:cNvSpPr>
            <a:spLocks noGrp="1"/>
          </p:cNvSpPr>
          <p:nvPr>
            <p:ph idx="1"/>
          </p:nvPr>
        </p:nvSpPr>
        <p:spPr/>
        <p:txBody>
          <a:bodyPr/>
          <a:lstStyle/>
          <a:p>
            <a:r>
              <a:rPr lang="en-US" sz="2800" dirty="0"/>
              <a:t>If a TP has a </a:t>
            </a:r>
            <a:r>
              <a:rPr lang="en-US" sz="2800" b="1" i="1" dirty="0"/>
              <a:t>net capital gain</a:t>
            </a:r>
            <a:r>
              <a:rPr lang="en-US" sz="2800" dirty="0"/>
              <a:t> (NCG), it is taxed at preferential rates under §1(h).🌟</a:t>
            </a:r>
          </a:p>
          <a:p>
            <a:endParaRPr lang="en-US" sz="2800" dirty="0"/>
          </a:p>
          <a:p>
            <a:r>
              <a:rPr lang="en-US" sz="2800" dirty="0"/>
              <a:t>If a TP has a </a:t>
            </a:r>
            <a:r>
              <a:rPr lang="en-US" sz="2800" b="1" i="1" dirty="0"/>
              <a:t>capital loss</a:t>
            </a:r>
            <a:r>
              <a:rPr lang="en-US" sz="2800" dirty="0"/>
              <a:t>, it may be limited under §1211(b)</a:t>
            </a:r>
          </a:p>
          <a:p>
            <a:endParaRPr lang="en-US" sz="2800" i="1" dirty="0"/>
          </a:p>
          <a:p>
            <a:r>
              <a:rPr lang="en-US" sz="2800" dirty="0"/>
              <a:t>Capital gains and losses generally arise from the S/X of a capital asset. §1222(1)-(4).</a:t>
            </a:r>
          </a:p>
          <a:p>
            <a:pPr lvl="1"/>
            <a:r>
              <a:rPr lang="en-US" sz="2400" b="1" dirty="0"/>
              <a:t>Short-term CG/L</a:t>
            </a:r>
            <a:r>
              <a:rPr lang="en-US" sz="2400" dirty="0"/>
              <a:t>: asset held from one year or less</a:t>
            </a:r>
          </a:p>
          <a:p>
            <a:pPr lvl="1"/>
            <a:r>
              <a:rPr lang="en-US" sz="2400" b="1" dirty="0"/>
              <a:t>Long-term CG/L</a:t>
            </a:r>
            <a:r>
              <a:rPr lang="en-US" sz="2400" dirty="0"/>
              <a:t>: asset held for more than one year</a:t>
            </a:r>
          </a:p>
        </p:txBody>
      </p:sp>
      <p:sp>
        <p:nvSpPr>
          <p:cNvPr id="3" name="Title 2">
            <a:extLst>
              <a:ext uri="{FF2B5EF4-FFF2-40B4-BE49-F238E27FC236}">
                <a16:creationId xmlns:a16="http://schemas.microsoft.com/office/drawing/2014/main" id="{D8D3062F-ED3B-6955-3220-BDEC107D2C64}"/>
              </a:ext>
            </a:extLst>
          </p:cNvPr>
          <p:cNvSpPr>
            <a:spLocks noGrp="1"/>
          </p:cNvSpPr>
          <p:nvPr>
            <p:ph type="title"/>
          </p:nvPr>
        </p:nvSpPr>
        <p:spPr/>
        <p:txBody>
          <a:bodyPr/>
          <a:lstStyle/>
          <a:p>
            <a:r>
              <a:rPr lang="en-US" sz="2000" dirty="0"/>
              <a:t>Gains and Losses: Overview</a:t>
            </a:r>
            <a:endParaRPr lang="en-US" dirty="0"/>
          </a:p>
        </p:txBody>
      </p:sp>
      <p:sp>
        <p:nvSpPr>
          <p:cNvPr id="4" name="Slide Number Placeholder 3">
            <a:extLst>
              <a:ext uri="{FF2B5EF4-FFF2-40B4-BE49-F238E27FC236}">
                <a16:creationId xmlns:a16="http://schemas.microsoft.com/office/drawing/2014/main" id="{CC670A0B-EF10-DD85-5CEB-2F62C466814D}"/>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
        <p:nvSpPr>
          <p:cNvPr id="5" name="Footer Placeholder 4">
            <a:extLst>
              <a:ext uri="{FF2B5EF4-FFF2-40B4-BE49-F238E27FC236}">
                <a16:creationId xmlns:a16="http://schemas.microsoft.com/office/drawing/2014/main" id="{151420F7-1392-66D8-4189-6915372B6E31}"/>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46953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94CAC-FF21-3B49-38BD-E07115984CDD}"/>
              </a:ext>
            </a:extLst>
          </p:cNvPr>
          <p:cNvSpPr>
            <a:spLocks noGrp="1"/>
          </p:cNvSpPr>
          <p:nvPr>
            <p:ph idx="1"/>
          </p:nvPr>
        </p:nvSpPr>
        <p:spPr/>
        <p:txBody>
          <a:bodyPr/>
          <a:lstStyle/>
          <a:p>
            <a:r>
              <a:rPr lang="en-US" sz="2800" dirty="0"/>
              <a:t>If CLs exceed CGs (Net Capital Loss), under §1211(b), the CLs (ST or LT) are deductible only to the extent of the CGs (ST or LT) plus $3,000.</a:t>
            </a:r>
          </a:p>
          <a:p>
            <a:pPr lvl="1"/>
            <a:r>
              <a:rPr lang="en-US" sz="2400" dirty="0"/>
              <a:t>This deduction is above the line.</a:t>
            </a:r>
          </a:p>
          <a:p>
            <a:r>
              <a:rPr lang="en-US" sz="2800" dirty="0"/>
              <a:t>Any excess CLs can be carried and used in a subsequent year under §1212(b) or until the TP dies.</a:t>
            </a:r>
          </a:p>
          <a:p>
            <a:r>
              <a:rPr lang="en-US" sz="2800" dirty="0"/>
              <a:t>Why is there a limitation on the use of CLs?</a:t>
            </a:r>
          </a:p>
          <a:p>
            <a:pPr lvl="1"/>
            <a:r>
              <a:rPr lang="en-US" sz="2400" dirty="0"/>
              <a:t>Consider (1) the realization requirement; and (2) the favorable taxation of NCGs</a:t>
            </a:r>
          </a:p>
          <a:p>
            <a:r>
              <a:rPr lang="en-US" sz="2800" dirty="0"/>
              <a:t>Section 1212(b) provides rules for the nature of the losses (ST or LT) that can be carried over to subsequent years.  Not on the exam. </a:t>
            </a:r>
            <a:endParaRPr lang="en-US" dirty="0"/>
          </a:p>
        </p:txBody>
      </p:sp>
      <p:sp>
        <p:nvSpPr>
          <p:cNvPr id="3" name="Title 2">
            <a:extLst>
              <a:ext uri="{FF2B5EF4-FFF2-40B4-BE49-F238E27FC236}">
                <a16:creationId xmlns:a16="http://schemas.microsoft.com/office/drawing/2014/main" id="{0F10B699-AB4A-9E7B-F210-EE240608A340}"/>
              </a:ext>
            </a:extLst>
          </p:cNvPr>
          <p:cNvSpPr>
            <a:spLocks noGrp="1"/>
          </p:cNvSpPr>
          <p:nvPr>
            <p:ph type="title"/>
          </p:nvPr>
        </p:nvSpPr>
        <p:spPr/>
        <p:txBody>
          <a:bodyPr/>
          <a:lstStyle/>
          <a:p>
            <a:r>
              <a:rPr lang="en-US" dirty="0"/>
              <a:t>Capital Losses</a:t>
            </a:r>
          </a:p>
        </p:txBody>
      </p:sp>
      <p:sp>
        <p:nvSpPr>
          <p:cNvPr id="4" name="Slide Number Placeholder 3">
            <a:extLst>
              <a:ext uri="{FF2B5EF4-FFF2-40B4-BE49-F238E27FC236}">
                <a16:creationId xmlns:a16="http://schemas.microsoft.com/office/drawing/2014/main" id="{EB07AC78-5774-FA68-C588-C50B05D157D7}"/>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A109E0DD-3A96-F92D-3FD3-12D9B9F3674D}"/>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183215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3F3961-53A6-F54F-875F-02EB59B16E4B}"/>
              </a:ext>
            </a:extLst>
          </p:cNvPr>
          <p:cNvSpPr>
            <a:spLocks noGrp="1"/>
          </p:cNvSpPr>
          <p:nvPr>
            <p:ph type="title"/>
          </p:nvPr>
        </p:nvSpPr>
        <p:spPr/>
        <p:txBody>
          <a:bodyPr/>
          <a:lstStyle/>
          <a:p>
            <a:r>
              <a:rPr lang="en-US" dirty="0"/>
              <a:t>Rates for 2025</a:t>
            </a:r>
          </a:p>
        </p:txBody>
      </p:sp>
      <p:sp>
        <p:nvSpPr>
          <p:cNvPr id="4" name="Slide Number Placeholder 3">
            <a:extLst>
              <a:ext uri="{FF2B5EF4-FFF2-40B4-BE49-F238E27FC236}">
                <a16:creationId xmlns:a16="http://schemas.microsoft.com/office/drawing/2014/main" id="{4F005E41-10BC-09C6-A532-E83DEE5A2E64}"/>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69E35843-868C-8A37-4F76-930232A2F538}"/>
              </a:ext>
            </a:extLst>
          </p:cNvPr>
          <p:cNvSpPr>
            <a:spLocks noGrp="1"/>
          </p:cNvSpPr>
          <p:nvPr>
            <p:ph type="ftr" sz="quarter" idx="11"/>
          </p:nvPr>
        </p:nvSpPr>
        <p:spPr/>
        <p:txBody>
          <a:bodyPr/>
          <a:lstStyle/>
          <a:p>
            <a:pPr>
              <a:defRPr/>
            </a:pPr>
            <a:r>
              <a:rPr lang="en-US"/>
              <a:t>Capital Gains and Losses</a:t>
            </a:r>
            <a:endParaRPr lang="en-US" dirty="0"/>
          </a:p>
        </p:txBody>
      </p:sp>
      <p:pic>
        <p:nvPicPr>
          <p:cNvPr id="6" name="Content Placeholder 5" descr="A screenshot of a white table with numbers and a few black text&#10;&#10;Description automatically generated">
            <a:extLst>
              <a:ext uri="{FF2B5EF4-FFF2-40B4-BE49-F238E27FC236}">
                <a16:creationId xmlns:a16="http://schemas.microsoft.com/office/drawing/2014/main" id="{76070334-F8FD-912D-8892-85AF0FE2D919}"/>
              </a:ext>
            </a:extLst>
          </p:cNvPr>
          <p:cNvPicPr>
            <a:picLocks noGrp="1" noChangeAspect="1"/>
          </p:cNvPicPr>
          <p:nvPr>
            <p:ph idx="1"/>
          </p:nvPr>
        </p:nvPicPr>
        <p:blipFill>
          <a:blip r:embed="rId2"/>
          <a:stretch>
            <a:fillRect/>
          </a:stretch>
        </p:blipFill>
        <p:spPr>
          <a:xfrm>
            <a:off x="512064" y="587961"/>
            <a:ext cx="11425586" cy="3209744"/>
          </a:xfrm>
          <a:prstGeom prst="rect">
            <a:avLst/>
          </a:prstGeom>
        </p:spPr>
      </p:pic>
      <p:pic>
        <p:nvPicPr>
          <p:cNvPr id="7" name="Picture 6" descr="A screenshot of a phone&#10;&#10;Description automatically generated">
            <a:extLst>
              <a:ext uri="{FF2B5EF4-FFF2-40B4-BE49-F238E27FC236}">
                <a16:creationId xmlns:a16="http://schemas.microsoft.com/office/drawing/2014/main" id="{FA9F45D3-F84F-B988-4678-A127E04E051C}"/>
              </a:ext>
            </a:extLst>
          </p:cNvPr>
          <p:cNvPicPr>
            <a:picLocks noChangeAspect="1"/>
          </p:cNvPicPr>
          <p:nvPr/>
        </p:nvPicPr>
        <p:blipFill>
          <a:blip r:embed="rId3"/>
          <a:stretch>
            <a:fillRect/>
          </a:stretch>
        </p:blipFill>
        <p:spPr>
          <a:xfrm>
            <a:off x="581433" y="3978604"/>
            <a:ext cx="4811740" cy="2099136"/>
          </a:xfrm>
          <a:prstGeom prst="rect">
            <a:avLst/>
          </a:prstGeom>
          <a:ln w="19050">
            <a:solidFill>
              <a:schemeClr val="accent1">
                <a:shade val="95000"/>
                <a:satMod val="105000"/>
              </a:schemeClr>
            </a:solidFill>
          </a:ln>
        </p:spPr>
      </p:pic>
      <p:pic>
        <p:nvPicPr>
          <p:cNvPr id="8" name="Picture 7" descr="A screenshot of a computer&#10;&#10;Description automatically generated">
            <a:extLst>
              <a:ext uri="{FF2B5EF4-FFF2-40B4-BE49-F238E27FC236}">
                <a16:creationId xmlns:a16="http://schemas.microsoft.com/office/drawing/2014/main" id="{1B8FBF4F-3AD4-F27E-4DE0-A79C7371CFED}"/>
              </a:ext>
            </a:extLst>
          </p:cNvPr>
          <p:cNvPicPr>
            <a:picLocks noChangeAspect="1"/>
          </p:cNvPicPr>
          <p:nvPr/>
        </p:nvPicPr>
        <p:blipFill>
          <a:blip r:embed="rId4"/>
          <a:stretch>
            <a:fillRect/>
          </a:stretch>
        </p:blipFill>
        <p:spPr>
          <a:xfrm>
            <a:off x="7433733" y="4353128"/>
            <a:ext cx="4472774" cy="1724612"/>
          </a:xfrm>
          <a:prstGeom prst="rect">
            <a:avLst/>
          </a:prstGeom>
        </p:spPr>
      </p:pic>
      <p:sp>
        <p:nvSpPr>
          <p:cNvPr id="9" name="TextBox 8">
            <a:extLst>
              <a:ext uri="{FF2B5EF4-FFF2-40B4-BE49-F238E27FC236}">
                <a16:creationId xmlns:a16="http://schemas.microsoft.com/office/drawing/2014/main" id="{F70ED1F0-1A4C-B8E3-4ECC-E2D6D1CDE988}"/>
              </a:ext>
            </a:extLst>
          </p:cNvPr>
          <p:cNvSpPr txBox="1"/>
          <p:nvPr/>
        </p:nvSpPr>
        <p:spPr>
          <a:xfrm>
            <a:off x="8153583" y="3978604"/>
            <a:ext cx="1349665" cy="307777"/>
          </a:xfrm>
          <a:prstGeom prst="rect">
            <a:avLst/>
          </a:prstGeom>
          <a:noFill/>
        </p:spPr>
        <p:txBody>
          <a:bodyPr wrap="none" rtlCol="0">
            <a:spAutoFit/>
          </a:bodyPr>
          <a:lstStyle/>
          <a:p>
            <a:pPr algn="just"/>
            <a:r>
              <a:rPr lang="en-US" sz="1400" b="1" dirty="0"/>
              <a:t>199A Threshold</a:t>
            </a:r>
          </a:p>
        </p:txBody>
      </p:sp>
    </p:spTree>
    <p:extLst>
      <p:ext uri="{BB962C8B-B14F-4D97-AF65-F5344CB8AC3E}">
        <p14:creationId xmlns:p14="http://schemas.microsoft.com/office/powerpoint/2010/main" val="1537412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income tax rates&#10;&#10;AI-generated content may be incorrect.">
            <a:extLst>
              <a:ext uri="{FF2B5EF4-FFF2-40B4-BE49-F238E27FC236}">
                <a16:creationId xmlns:a16="http://schemas.microsoft.com/office/drawing/2014/main" id="{C502A3B3-06B0-6A06-E621-5401ACD34A35}"/>
              </a:ext>
            </a:extLst>
          </p:cNvPr>
          <p:cNvPicPr>
            <a:picLocks noGrp="1" noChangeAspect="1"/>
          </p:cNvPicPr>
          <p:nvPr>
            <p:ph idx="1"/>
          </p:nvPr>
        </p:nvPicPr>
        <p:blipFill>
          <a:blip r:embed="rId2"/>
          <a:stretch>
            <a:fillRect/>
          </a:stretch>
        </p:blipFill>
        <p:spPr>
          <a:xfrm>
            <a:off x="512063" y="533400"/>
            <a:ext cx="11277599" cy="5811838"/>
          </a:xfrm>
        </p:spPr>
      </p:pic>
      <p:sp>
        <p:nvSpPr>
          <p:cNvPr id="3" name="Title 2">
            <a:extLst>
              <a:ext uri="{FF2B5EF4-FFF2-40B4-BE49-F238E27FC236}">
                <a16:creationId xmlns:a16="http://schemas.microsoft.com/office/drawing/2014/main" id="{55EB37FF-6ECE-6600-1CB6-BB9E8A992BF4}"/>
              </a:ext>
            </a:extLst>
          </p:cNvPr>
          <p:cNvSpPr>
            <a:spLocks noGrp="1"/>
          </p:cNvSpPr>
          <p:nvPr>
            <p:ph type="title"/>
          </p:nvPr>
        </p:nvSpPr>
        <p:spPr/>
        <p:txBody>
          <a:bodyPr/>
          <a:lstStyle/>
          <a:p>
            <a:r>
              <a:rPr lang="en-US" dirty="0"/>
              <a:t>Different Rates by Type of Income</a:t>
            </a:r>
          </a:p>
        </p:txBody>
      </p:sp>
      <p:sp>
        <p:nvSpPr>
          <p:cNvPr id="4" name="Slide Number Placeholder 3">
            <a:extLst>
              <a:ext uri="{FF2B5EF4-FFF2-40B4-BE49-F238E27FC236}">
                <a16:creationId xmlns:a16="http://schemas.microsoft.com/office/drawing/2014/main" id="{465FEFE2-DD7A-E1AA-AC99-69FE0C9158AB}"/>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7D36AF68-081F-15DF-478C-ADABA1B5078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664544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C16BD-A244-82DC-2B73-6F2CA213C896}"/>
              </a:ext>
            </a:extLst>
          </p:cNvPr>
          <p:cNvSpPr>
            <a:spLocks noGrp="1"/>
          </p:cNvSpPr>
          <p:nvPr>
            <p:ph idx="1"/>
          </p:nvPr>
        </p:nvSpPr>
        <p:spPr/>
        <p:txBody>
          <a:bodyPr/>
          <a:lstStyle/>
          <a:p>
            <a:r>
              <a:rPr lang="en-US" sz="3200" dirty="0"/>
              <a:t>Why are capital gains taxed more lightly than other capital income, e.g., rents, royalties, interest, or labor income?</a:t>
            </a:r>
          </a:p>
          <a:p>
            <a:r>
              <a:rPr lang="en-US" sz="3200" dirty="0"/>
              <a:t>Notions of trust accounting: income v. corpus</a:t>
            </a:r>
          </a:p>
          <a:p>
            <a:r>
              <a:rPr lang="en-US" sz="3200" dirty="0"/>
              <a:t>Effect on progressivity?</a:t>
            </a:r>
          </a:p>
          <a:p>
            <a:r>
              <a:rPr lang="en-US" sz="3200" dirty="0"/>
              <a:t>Double tax argument</a:t>
            </a:r>
          </a:p>
          <a:p>
            <a:r>
              <a:rPr lang="en-US" sz="3200" dirty="0"/>
              <a:t>Lock-in effect</a:t>
            </a:r>
          </a:p>
          <a:p>
            <a:r>
              <a:rPr lang="en-US" sz="3200" dirty="0"/>
              <a:t>Inflation gain</a:t>
            </a:r>
          </a:p>
          <a:p>
            <a:r>
              <a:rPr lang="en-US" sz="3200" dirty="0"/>
              <a:t>Encourage risk taking</a:t>
            </a:r>
          </a:p>
          <a:p>
            <a:r>
              <a:rPr lang="en-US" sz="3200" dirty="0"/>
              <a:t>Bunching effect</a:t>
            </a:r>
          </a:p>
          <a:p>
            <a:endParaRPr lang="en-US" dirty="0"/>
          </a:p>
        </p:txBody>
      </p:sp>
      <p:sp>
        <p:nvSpPr>
          <p:cNvPr id="3" name="Title 2">
            <a:extLst>
              <a:ext uri="{FF2B5EF4-FFF2-40B4-BE49-F238E27FC236}">
                <a16:creationId xmlns:a16="http://schemas.microsoft.com/office/drawing/2014/main" id="{53D50B99-58B8-157E-9814-9F796320848E}"/>
              </a:ext>
            </a:extLst>
          </p:cNvPr>
          <p:cNvSpPr>
            <a:spLocks noGrp="1"/>
          </p:cNvSpPr>
          <p:nvPr>
            <p:ph type="title"/>
          </p:nvPr>
        </p:nvSpPr>
        <p:spPr/>
        <p:txBody>
          <a:bodyPr/>
          <a:lstStyle/>
          <a:p>
            <a:r>
              <a:rPr lang="en-US" dirty="0"/>
              <a:t>Net Capital Gain</a:t>
            </a:r>
          </a:p>
        </p:txBody>
      </p:sp>
      <p:sp>
        <p:nvSpPr>
          <p:cNvPr id="4" name="Slide Number Placeholder 3">
            <a:extLst>
              <a:ext uri="{FF2B5EF4-FFF2-40B4-BE49-F238E27FC236}">
                <a16:creationId xmlns:a16="http://schemas.microsoft.com/office/drawing/2014/main" id="{757A6242-D9D9-3EDE-8CE2-E58F6768F837}"/>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C814BA55-27B9-AC44-CDE6-7DBC7F6F9151}"/>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68492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D48F65-DBF6-9CDF-0E41-9F010F8AFEA6}"/>
              </a:ext>
            </a:extLst>
          </p:cNvPr>
          <p:cNvSpPr>
            <a:spLocks noGrp="1"/>
          </p:cNvSpPr>
          <p:nvPr>
            <p:ph idx="1"/>
          </p:nvPr>
        </p:nvSpPr>
        <p:spPr/>
        <p:txBody>
          <a:bodyPr/>
          <a:lstStyle/>
          <a:p>
            <a:r>
              <a:rPr lang="en-US" sz="3200" dirty="0"/>
              <a:t>NCG: Excess of NLTCG over NSTCL. §1222(11).</a:t>
            </a:r>
          </a:p>
          <a:p>
            <a:pPr lvl="1"/>
            <a:r>
              <a:rPr lang="en-US" sz="2800" dirty="0"/>
              <a:t>NLTCG: LTCG minus LTCL</a:t>
            </a:r>
          </a:p>
          <a:p>
            <a:pPr lvl="1"/>
            <a:r>
              <a:rPr lang="en-US" sz="2800" dirty="0"/>
              <a:t>NSTCG: STCG minus STCL</a:t>
            </a:r>
          </a:p>
          <a:p>
            <a:r>
              <a:rPr lang="en-US" sz="3200" dirty="0"/>
              <a:t>First step: Net LT and ST gains and losses</a:t>
            </a:r>
          </a:p>
          <a:p>
            <a:pPr lvl="1"/>
            <a:r>
              <a:rPr lang="en-US" sz="2800" dirty="0"/>
              <a:t>Separately net: (1) LTCGs and LTCLs, and (2) STCGs and STCLs</a:t>
            </a:r>
          </a:p>
          <a:p>
            <a:pPr lvl="2"/>
            <a:r>
              <a:rPr lang="en-US" sz="2800" dirty="0"/>
              <a:t>Results: For (1) NLTCG or NLTCL.  If NLTCL, stop.</a:t>
            </a:r>
          </a:p>
          <a:p>
            <a:pPr lvl="2"/>
            <a:r>
              <a:rPr lang="en-US" sz="2800" dirty="0"/>
              <a:t>Results: For (2) NSTCG or NSTCL</a:t>
            </a:r>
          </a:p>
          <a:p>
            <a:r>
              <a:rPr lang="en-US" sz="3200" dirty="0"/>
              <a:t>2nd Step: Net the nets</a:t>
            </a:r>
          </a:p>
          <a:p>
            <a:pPr lvl="1"/>
            <a:r>
              <a:rPr lang="en-US" sz="2800" dirty="0"/>
              <a:t>If any NLTCG, then net NLTCG and NSTCL (if any)</a:t>
            </a:r>
          </a:p>
          <a:p>
            <a:endParaRPr lang="en-US" dirty="0"/>
          </a:p>
        </p:txBody>
      </p:sp>
      <p:sp>
        <p:nvSpPr>
          <p:cNvPr id="3" name="Title 2">
            <a:extLst>
              <a:ext uri="{FF2B5EF4-FFF2-40B4-BE49-F238E27FC236}">
                <a16:creationId xmlns:a16="http://schemas.microsoft.com/office/drawing/2014/main" id="{6A654B47-9499-3B94-0E63-221C716AC3CE}"/>
              </a:ext>
            </a:extLst>
          </p:cNvPr>
          <p:cNvSpPr>
            <a:spLocks noGrp="1"/>
          </p:cNvSpPr>
          <p:nvPr>
            <p:ph type="title"/>
          </p:nvPr>
        </p:nvSpPr>
        <p:spPr/>
        <p:txBody>
          <a:bodyPr/>
          <a:lstStyle/>
          <a:p>
            <a:r>
              <a:rPr lang="en-US" dirty="0"/>
              <a:t>Net Capital Gain: </a:t>
            </a:r>
            <a:r>
              <a:rPr lang="en-US" sz="2000" dirty="0"/>
              <a:t>§1(h)</a:t>
            </a:r>
            <a:endParaRPr lang="en-US" dirty="0"/>
          </a:p>
        </p:txBody>
      </p:sp>
      <p:sp>
        <p:nvSpPr>
          <p:cNvPr id="4" name="Slide Number Placeholder 3">
            <a:extLst>
              <a:ext uri="{FF2B5EF4-FFF2-40B4-BE49-F238E27FC236}">
                <a16:creationId xmlns:a16="http://schemas.microsoft.com/office/drawing/2014/main" id="{FC8BEA9B-42AD-9293-DAAA-4549583AC488}"/>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129F2B5F-0227-0CBD-0470-BE62D938792F}"/>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6807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857213-A308-DAB6-DB5F-82E6574CF118}"/>
              </a:ext>
            </a:extLst>
          </p:cNvPr>
          <p:cNvSpPr>
            <a:spLocks noGrp="1"/>
          </p:cNvSpPr>
          <p:nvPr>
            <p:ph type="title"/>
          </p:nvPr>
        </p:nvSpPr>
        <p:spPr/>
        <p:txBody>
          <a:bodyPr/>
          <a:lstStyle/>
          <a:p>
            <a:r>
              <a:rPr lang="en-US" dirty="0"/>
              <a:t>NCGs</a:t>
            </a:r>
          </a:p>
        </p:txBody>
      </p:sp>
      <p:sp>
        <p:nvSpPr>
          <p:cNvPr id="4" name="Slide Number Placeholder 3">
            <a:extLst>
              <a:ext uri="{FF2B5EF4-FFF2-40B4-BE49-F238E27FC236}">
                <a16:creationId xmlns:a16="http://schemas.microsoft.com/office/drawing/2014/main" id="{E3CFBC48-1B7C-926D-1D42-42950619492B}"/>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5EC8EDA3-6A61-B03E-261C-B62D45224AA1}"/>
              </a:ext>
            </a:extLst>
          </p:cNvPr>
          <p:cNvSpPr>
            <a:spLocks noGrp="1"/>
          </p:cNvSpPr>
          <p:nvPr>
            <p:ph type="ftr" sz="quarter" idx="11"/>
          </p:nvPr>
        </p:nvSpPr>
        <p:spPr/>
        <p:txBody>
          <a:bodyPr/>
          <a:lstStyle/>
          <a:p>
            <a:pPr>
              <a:defRPr/>
            </a:pPr>
            <a:r>
              <a:rPr lang="en-US"/>
              <a:t>Capital Gains and Losses</a:t>
            </a:r>
            <a:endParaRPr lang="en-US" dirty="0"/>
          </a:p>
        </p:txBody>
      </p:sp>
      <p:pic>
        <p:nvPicPr>
          <p:cNvPr id="6" name="Content Placeholder 5" descr="A close-up of words&#10;&#10;AI-generated content may be incorrect.">
            <a:extLst>
              <a:ext uri="{FF2B5EF4-FFF2-40B4-BE49-F238E27FC236}">
                <a16:creationId xmlns:a16="http://schemas.microsoft.com/office/drawing/2014/main" id="{C70EB4CE-8442-1822-FB0B-65ADC48D27C8}"/>
              </a:ext>
            </a:extLst>
          </p:cNvPr>
          <p:cNvPicPr>
            <a:picLocks noGrp="1" noChangeAspect="1"/>
          </p:cNvPicPr>
          <p:nvPr>
            <p:ph idx="1"/>
          </p:nvPr>
        </p:nvPicPr>
        <p:blipFill>
          <a:blip r:embed="rId2"/>
          <a:stretch>
            <a:fillRect/>
          </a:stretch>
        </p:blipFill>
        <p:spPr>
          <a:xfrm>
            <a:off x="948098" y="781271"/>
            <a:ext cx="10629898" cy="1143000"/>
          </a:xfrm>
          <a:prstGeom prst="rect">
            <a:avLst/>
          </a:prstGeom>
        </p:spPr>
      </p:pic>
      <p:pic>
        <p:nvPicPr>
          <p:cNvPr id="8" name="Picture 7" descr="A close-up of a text&#10;&#10;AI-generated content may be incorrect.">
            <a:extLst>
              <a:ext uri="{FF2B5EF4-FFF2-40B4-BE49-F238E27FC236}">
                <a16:creationId xmlns:a16="http://schemas.microsoft.com/office/drawing/2014/main" id="{8B73949A-3412-83FE-C76A-9621E39B50EB}"/>
              </a:ext>
            </a:extLst>
          </p:cNvPr>
          <p:cNvPicPr>
            <a:picLocks noChangeAspect="1"/>
          </p:cNvPicPr>
          <p:nvPr/>
        </p:nvPicPr>
        <p:blipFill>
          <a:blip r:embed="rId3"/>
          <a:stretch>
            <a:fillRect/>
          </a:stretch>
        </p:blipFill>
        <p:spPr>
          <a:xfrm>
            <a:off x="948098" y="1916856"/>
            <a:ext cx="10405532" cy="1192111"/>
          </a:xfrm>
          <a:prstGeom prst="rect">
            <a:avLst/>
          </a:prstGeom>
        </p:spPr>
      </p:pic>
      <p:pic>
        <p:nvPicPr>
          <p:cNvPr id="10" name="Picture 9" descr="A close up of words&#10;&#10;AI-generated content may be incorrect.">
            <a:extLst>
              <a:ext uri="{FF2B5EF4-FFF2-40B4-BE49-F238E27FC236}">
                <a16:creationId xmlns:a16="http://schemas.microsoft.com/office/drawing/2014/main" id="{965E5178-B63C-B942-5579-6EF6E09B7D68}"/>
              </a:ext>
            </a:extLst>
          </p:cNvPr>
          <p:cNvPicPr>
            <a:picLocks noChangeAspect="1"/>
          </p:cNvPicPr>
          <p:nvPr/>
        </p:nvPicPr>
        <p:blipFill>
          <a:blip r:embed="rId4"/>
          <a:stretch>
            <a:fillRect/>
          </a:stretch>
        </p:blipFill>
        <p:spPr>
          <a:xfrm>
            <a:off x="948098" y="3437815"/>
            <a:ext cx="9952734" cy="1126101"/>
          </a:xfrm>
          <a:prstGeom prst="rect">
            <a:avLst/>
          </a:prstGeom>
        </p:spPr>
      </p:pic>
      <p:pic>
        <p:nvPicPr>
          <p:cNvPr id="12" name="Picture 11" descr="A close up of words&#10;&#10;AI-generated content may be incorrect.">
            <a:extLst>
              <a:ext uri="{FF2B5EF4-FFF2-40B4-BE49-F238E27FC236}">
                <a16:creationId xmlns:a16="http://schemas.microsoft.com/office/drawing/2014/main" id="{E4B7B4F4-36F4-92B3-CB34-D3831AD44A6E}"/>
              </a:ext>
            </a:extLst>
          </p:cNvPr>
          <p:cNvPicPr>
            <a:picLocks noChangeAspect="1"/>
          </p:cNvPicPr>
          <p:nvPr/>
        </p:nvPicPr>
        <p:blipFill>
          <a:blip r:embed="rId5"/>
          <a:stretch>
            <a:fillRect/>
          </a:stretch>
        </p:blipFill>
        <p:spPr>
          <a:xfrm>
            <a:off x="948098" y="4987129"/>
            <a:ext cx="9609666" cy="1126100"/>
          </a:xfrm>
          <a:prstGeom prst="rect">
            <a:avLst/>
          </a:prstGeom>
        </p:spPr>
      </p:pic>
    </p:spTree>
    <p:extLst>
      <p:ext uri="{BB962C8B-B14F-4D97-AF65-F5344CB8AC3E}">
        <p14:creationId xmlns:p14="http://schemas.microsoft.com/office/powerpoint/2010/main" val="213507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1A7E8D-3989-7967-3A9F-59FDE20C1854}"/>
              </a:ext>
            </a:extLst>
          </p:cNvPr>
          <p:cNvSpPr>
            <a:spLocks noGrp="1"/>
          </p:cNvSpPr>
          <p:nvPr>
            <p:ph idx="1"/>
          </p:nvPr>
        </p:nvSpPr>
        <p:spPr/>
        <p:txBody>
          <a:bodyPr/>
          <a:lstStyle/>
          <a:p>
            <a:r>
              <a:rPr lang="en-US" sz="2800" dirty="0"/>
              <a:t>Strategy:  realize losses to deduct against high-taxed ordinary income (salary) and high-taxed STCGs but avoid realizing losses to offset low-taxed LTCGs</a:t>
            </a:r>
          </a:p>
          <a:p>
            <a:endParaRPr lang="en-US" sz="2800" dirty="0"/>
          </a:p>
          <a:p>
            <a:r>
              <a:rPr lang="en-US" sz="2800" dirty="0"/>
              <a:t>Example: Year end is approaching, and high MTR (32%) TP has 3K of LTCGs and is considering selling stock with a 3K STCL.  TP would pay 15% on LTCGs.  Should TP sell in Y1 or Y2?</a:t>
            </a:r>
          </a:p>
          <a:p>
            <a:pPr lvl="1"/>
            <a:r>
              <a:rPr lang="en-US" sz="2400" dirty="0"/>
              <a:t>Sale in Y1 consequences?</a:t>
            </a:r>
          </a:p>
          <a:p>
            <a:pPr lvl="1"/>
            <a:r>
              <a:rPr lang="en-US" sz="2400" dirty="0"/>
              <a:t>Sale in Y2 consequences?</a:t>
            </a:r>
          </a:p>
          <a:p>
            <a:pPr lvl="1"/>
            <a:r>
              <a:rPr lang="en-US" sz="2400" dirty="0"/>
              <a:t>Consideration:  TVM and sizing</a:t>
            </a:r>
          </a:p>
          <a:p>
            <a:pPr lvl="1"/>
            <a:endParaRPr lang="en-US" dirty="0"/>
          </a:p>
        </p:txBody>
      </p:sp>
      <p:sp>
        <p:nvSpPr>
          <p:cNvPr id="3" name="Title 2">
            <a:extLst>
              <a:ext uri="{FF2B5EF4-FFF2-40B4-BE49-F238E27FC236}">
                <a16:creationId xmlns:a16="http://schemas.microsoft.com/office/drawing/2014/main" id="{D361E8F5-F1F1-61DE-4AA5-BF8B46C130BA}"/>
              </a:ext>
            </a:extLst>
          </p:cNvPr>
          <p:cNvSpPr>
            <a:spLocks noGrp="1"/>
          </p:cNvSpPr>
          <p:nvPr>
            <p:ph type="title"/>
          </p:nvPr>
        </p:nvSpPr>
        <p:spPr/>
        <p:txBody>
          <a:bodyPr/>
          <a:lstStyle/>
          <a:p>
            <a:r>
              <a:rPr lang="en-US" dirty="0"/>
              <a:t>Planning to Realize CGs and CLs</a:t>
            </a:r>
          </a:p>
        </p:txBody>
      </p:sp>
      <p:sp>
        <p:nvSpPr>
          <p:cNvPr id="4" name="Slide Number Placeholder 3">
            <a:extLst>
              <a:ext uri="{FF2B5EF4-FFF2-40B4-BE49-F238E27FC236}">
                <a16:creationId xmlns:a16="http://schemas.microsoft.com/office/drawing/2014/main" id="{6B81CB89-C9A4-7E8B-1959-B801D54B0FC9}"/>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7CF51CAD-6FA2-1660-818F-3E4373C2FDF4}"/>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425665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5455F-CC85-F4D0-7B68-03CF06FF35B9}"/>
              </a:ext>
            </a:extLst>
          </p:cNvPr>
          <p:cNvSpPr>
            <a:spLocks noGrp="1"/>
          </p:cNvSpPr>
          <p:nvPr>
            <p:ph idx="1"/>
          </p:nvPr>
        </p:nvSpPr>
        <p:spPr/>
        <p:txBody>
          <a:bodyPr>
            <a:noAutofit/>
          </a:bodyPr>
          <a:lstStyle/>
          <a:p>
            <a:r>
              <a:rPr lang="en-US" sz="2300" dirty="0"/>
              <a:t>Any asset </a:t>
            </a:r>
            <a:r>
              <a:rPr lang="en-US" sz="2300" b="1" i="1" dirty="0"/>
              <a:t>EXCEPT:</a:t>
            </a:r>
          </a:p>
          <a:p>
            <a:r>
              <a:rPr lang="en-US" sz="2300" u="none" strike="noStrike" dirty="0">
                <a:effectLst/>
              </a:rPr>
              <a:t>(a)(1)</a:t>
            </a:r>
            <a:r>
              <a:rPr lang="en-US" sz="2300" dirty="0">
                <a:effectLst/>
              </a:rPr>
              <a:t> stock in trade of the taxpayer… which would be included in the </a:t>
            </a:r>
            <a:r>
              <a:rPr lang="en-US" sz="2300" b="1" dirty="0">
                <a:effectLst/>
              </a:rPr>
              <a:t>inventory </a:t>
            </a:r>
            <a:r>
              <a:rPr lang="en-US" sz="2300" dirty="0">
                <a:effectLst/>
              </a:rPr>
              <a:t>of the taxpayer…or property held by the taxpayer primarily for sale to customers in the ordinary course of his trade or business;</a:t>
            </a:r>
          </a:p>
          <a:p>
            <a:r>
              <a:rPr lang="en-US" sz="2300" u="none" strike="noStrike" dirty="0">
                <a:effectLst/>
              </a:rPr>
              <a:t>(2)</a:t>
            </a:r>
            <a:r>
              <a:rPr lang="en-US" sz="2300" dirty="0">
                <a:effectLst/>
              </a:rPr>
              <a:t> </a:t>
            </a:r>
            <a:r>
              <a:rPr lang="en-US" sz="2300" b="1" dirty="0">
                <a:effectLst/>
              </a:rPr>
              <a:t>[real or depreciable personal] property, used in his trade or business</a:t>
            </a:r>
            <a:r>
              <a:rPr lang="en-US" sz="2300" dirty="0">
                <a:effectLst/>
              </a:rPr>
              <a:t>…; [see </a:t>
            </a:r>
            <a:r>
              <a:rPr lang="en-US" sz="2300" dirty="0"/>
              <a:t>§1231]</a:t>
            </a:r>
            <a:endParaRPr lang="en-US" sz="2300" dirty="0">
              <a:effectLst/>
            </a:endParaRPr>
          </a:p>
          <a:p>
            <a:r>
              <a:rPr lang="en-US" sz="2300" dirty="0"/>
              <a:t>(3) </a:t>
            </a:r>
            <a:r>
              <a:rPr lang="en-US" sz="2300" b="1" dirty="0">
                <a:effectLst/>
              </a:rPr>
              <a:t>a patent, invention, model or design (whether or not patented), a secret formula or process, a copyright, a literary, musical, or artistic composition, a letter or memorandum, or similar property</a:t>
            </a:r>
            <a:r>
              <a:rPr lang="en-US" sz="2300" dirty="0">
                <a:effectLst/>
              </a:rPr>
              <a:t>, held by--</a:t>
            </a:r>
          </a:p>
          <a:p>
            <a:pPr lvl="1"/>
            <a:r>
              <a:rPr lang="en-US" sz="2300" u="none" strike="noStrike" dirty="0">
                <a:effectLst/>
              </a:rPr>
              <a:t>(A)</a:t>
            </a:r>
            <a:r>
              <a:rPr lang="en-US" sz="2300" dirty="0">
                <a:effectLst/>
              </a:rPr>
              <a:t> a taxpayer whose personal efforts created such property,</a:t>
            </a:r>
          </a:p>
          <a:p>
            <a:pPr lvl="1"/>
            <a:r>
              <a:rPr lang="en-US" sz="2300" u="none" strike="noStrike" dirty="0">
                <a:effectLst/>
              </a:rPr>
              <a:t>(B)</a:t>
            </a:r>
            <a:r>
              <a:rPr lang="en-US" sz="2300" dirty="0">
                <a:effectLst/>
              </a:rPr>
              <a:t> in the case of a letter, memorandum, or similar property, a taxpayer for whom such property was prepared or produced, </a:t>
            </a:r>
            <a:r>
              <a:rPr lang="en-US" sz="2300" u="sng" dirty="0">
                <a:effectLst/>
              </a:rPr>
              <a:t>or</a:t>
            </a:r>
          </a:p>
          <a:p>
            <a:pPr lvl="1"/>
            <a:r>
              <a:rPr lang="en-US" sz="2300" dirty="0"/>
              <a:t>(C) </a:t>
            </a:r>
            <a:r>
              <a:rPr lang="en-US" sz="2300" dirty="0">
                <a:effectLst/>
              </a:rPr>
              <a:t>a taxpayer in whose hands the basis of such property is determined, for purposes of determining gain from a sale or exchange, in whole or part by reference to the basis of such property in the hands of a taxpayer described in subparagraph (A) or (B);</a:t>
            </a:r>
          </a:p>
          <a:p>
            <a:pPr lvl="1"/>
            <a:r>
              <a:rPr lang="en-US" sz="2300" dirty="0">
                <a:effectLst/>
              </a:rPr>
              <a:t>But see </a:t>
            </a:r>
            <a:r>
              <a:rPr lang="en-US" sz="2300" dirty="0"/>
              <a:t> §1221(b)(3)</a:t>
            </a:r>
          </a:p>
        </p:txBody>
      </p:sp>
      <p:sp>
        <p:nvSpPr>
          <p:cNvPr id="3" name="Title 2">
            <a:extLst>
              <a:ext uri="{FF2B5EF4-FFF2-40B4-BE49-F238E27FC236}">
                <a16:creationId xmlns:a16="http://schemas.microsoft.com/office/drawing/2014/main" id="{48A95651-7729-6954-F2E0-0DAF670BB6CE}"/>
              </a:ext>
            </a:extLst>
          </p:cNvPr>
          <p:cNvSpPr>
            <a:spLocks noGrp="1"/>
          </p:cNvSpPr>
          <p:nvPr>
            <p:ph type="title"/>
          </p:nvPr>
        </p:nvSpPr>
        <p:spPr/>
        <p:txBody>
          <a:bodyPr/>
          <a:lstStyle/>
          <a:p>
            <a:r>
              <a:rPr lang="en-US" dirty="0"/>
              <a:t>Definition of Capital Asset: </a:t>
            </a:r>
            <a:r>
              <a:rPr lang="en-US" sz="2000" dirty="0"/>
              <a:t>§1221(a)(1)-(3)</a:t>
            </a:r>
            <a:endParaRPr lang="en-US" dirty="0"/>
          </a:p>
        </p:txBody>
      </p:sp>
      <p:sp>
        <p:nvSpPr>
          <p:cNvPr id="4" name="Slide Number Placeholder 3">
            <a:extLst>
              <a:ext uri="{FF2B5EF4-FFF2-40B4-BE49-F238E27FC236}">
                <a16:creationId xmlns:a16="http://schemas.microsoft.com/office/drawing/2014/main" id="{E2C7960F-576C-08F7-7370-B652E2AA91A5}"/>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E8182526-B708-DAE9-C32F-35BA910ACFA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242760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6B5194-24AD-2D55-99C6-5DE850973746}"/>
              </a:ext>
            </a:extLst>
          </p:cNvPr>
          <p:cNvSpPr>
            <a:spLocks noGrp="1"/>
          </p:cNvSpPr>
          <p:nvPr>
            <p:ph idx="1"/>
          </p:nvPr>
        </p:nvSpPr>
        <p:spPr/>
        <p:txBody>
          <a:bodyPr>
            <a:normAutofit/>
          </a:bodyPr>
          <a:lstStyle/>
          <a:p>
            <a:r>
              <a:rPr lang="en-US" u="none" strike="noStrike" dirty="0">
                <a:effectLst/>
              </a:rPr>
              <a:t>(4)</a:t>
            </a:r>
            <a:r>
              <a:rPr lang="en-US" dirty="0">
                <a:effectLst/>
              </a:rPr>
              <a:t> </a:t>
            </a:r>
            <a:r>
              <a:rPr lang="en-US" b="1" dirty="0">
                <a:effectLst/>
              </a:rPr>
              <a:t>accounts or notes receivable</a:t>
            </a:r>
            <a:r>
              <a:rPr lang="en-US" dirty="0">
                <a:effectLst/>
              </a:rPr>
              <a:t> acquired in the ordinary course of trade or business for services rendered or from the sale of property described in paragraph (1);</a:t>
            </a:r>
          </a:p>
          <a:p>
            <a:r>
              <a:rPr lang="en-US" u="none" strike="noStrike" dirty="0">
                <a:effectLst/>
              </a:rPr>
              <a:t>(5)</a:t>
            </a:r>
            <a:r>
              <a:rPr lang="en-US" dirty="0">
                <a:effectLst/>
              </a:rPr>
              <a:t> a </a:t>
            </a:r>
            <a:r>
              <a:rPr lang="en-US" b="1" dirty="0">
                <a:effectLst/>
              </a:rPr>
              <a:t>publication of the United States Governmen</a:t>
            </a:r>
            <a:r>
              <a:rPr lang="en-US" dirty="0">
                <a:effectLst/>
              </a:rPr>
              <a:t>t (including the Congressional Record) which is received from the United States Government or any agency thereof, other than by purchase at the price at which it is offered for sale to the public, and which is held by</a:t>
            </a:r>
          </a:p>
          <a:p>
            <a:pPr lvl="1"/>
            <a:r>
              <a:rPr lang="en-US" u="none" strike="noStrike" dirty="0">
                <a:effectLst/>
              </a:rPr>
              <a:t>(A)</a:t>
            </a:r>
            <a:r>
              <a:rPr lang="en-US" dirty="0">
                <a:effectLst/>
              </a:rPr>
              <a:t> a taxpayer who so received such publication, or</a:t>
            </a:r>
          </a:p>
          <a:p>
            <a:pPr lvl="1"/>
            <a:r>
              <a:rPr lang="en-US" u="none" strike="noStrike" dirty="0">
                <a:effectLst/>
              </a:rPr>
              <a:t>(B)</a:t>
            </a:r>
            <a:r>
              <a:rPr lang="en-US" dirty="0">
                <a:effectLst/>
              </a:rPr>
              <a:t> a taxpayer in whose hands the basis of such publication is determined, for purposes of determining gain from a sale or exchange, in whole or in part by reference to the basis of such publication in the hands of a taxpayer described in subparagraph (A);</a:t>
            </a:r>
          </a:p>
          <a:p>
            <a:r>
              <a:rPr lang="en-US" u="none" strike="noStrike" dirty="0">
                <a:effectLst/>
              </a:rPr>
              <a:t>(6)</a:t>
            </a:r>
            <a:r>
              <a:rPr lang="en-US" dirty="0">
                <a:effectLst/>
              </a:rPr>
              <a:t> any </a:t>
            </a:r>
            <a:r>
              <a:rPr lang="en-US" b="1" dirty="0">
                <a:effectLst/>
              </a:rPr>
              <a:t>commodities derivative financial instrument </a:t>
            </a:r>
            <a:r>
              <a:rPr lang="en-US" dirty="0">
                <a:effectLst/>
              </a:rPr>
              <a:t>held by a commodities derivatives dealer,…</a:t>
            </a:r>
          </a:p>
          <a:p>
            <a:r>
              <a:rPr lang="en-US" u="none" strike="noStrike" dirty="0">
                <a:effectLst/>
              </a:rPr>
              <a:t>(7)</a:t>
            </a:r>
            <a:r>
              <a:rPr lang="en-US" dirty="0">
                <a:effectLst/>
              </a:rPr>
              <a:t> any </a:t>
            </a:r>
            <a:r>
              <a:rPr lang="en-US" b="1" dirty="0">
                <a:effectLst/>
              </a:rPr>
              <a:t>hedging transaction</a:t>
            </a:r>
            <a:r>
              <a:rPr lang="en-US" dirty="0">
                <a:effectLst/>
              </a:rPr>
              <a:t> which is clearly identified as such before the close of the day on which it was acquired, originated, or entered </a:t>
            </a:r>
            <a:r>
              <a:rPr lang="en-US">
                <a:effectLst/>
              </a:rPr>
              <a:t>into</a:t>
            </a:r>
            <a:r>
              <a:rPr lang="en-US"/>
              <a:t>…;.or</a:t>
            </a:r>
            <a:endParaRPr lang="en-US" dirty="0"/>
          </a:p>
          <a:p>
            <a:r>
              <a:rPr lang="en-US" u="none" strike="noStrike" dirty="0">
                <a:effectLst/>
              </a:rPr>
              <a:t>(8)</a:t>
            </a:r>
            <a:r>
              <a:rPr lang="en-US" dirty="0">
                <a:effectLst/>
              </a:rPr>
              <a:t> </a:t>
            </a:r>
            <a:r>
              <a:rPr lang="en-US" b="1" dirty="0">
                <a:effectLst/>
              </a:rPr>
              <a:t>supplies</a:t>
            </a:r>
            <a:r>
              <a:rPr lang="en-US" dirty="0">
                <a:effectLst/>
              </a:rPr>
              <a:t> of a type regularly used or consumed by the taxpayer in the </a:t>
            </a:r>
            <a:r>
              <a:rPr lang="en-US" b="1" dirty="0">
                <a:effectLst/>
              </a:rPr>
              <a:t>ordinary course of a trade or business </a:t>
            </a:r>
            <a:r>
              <a:rPr lang="en-US" dirty="0">
                <a:effectLst/>
              </a:rPr>
              <a:t>of the taxpayer.</a:t>
            </a:r>
          </a:p>
          <a:p>
            <a:endParaRPr lang="en-US" dirty="0"/>
          </a:p>
        </p:txBody>
      </p:sp>
      <p:sp>
        <p:nvSpPr>
          <p:cNvPr id="3" name="Title 2">
            <a:extLst>
              <a:ext uri="{FF2B5EF4-FFF2-40B4-BE49-F238E27FC236}">
                <a16:creationId xmlns:a16="http://schemas.microsoft.com/office/drawing/2014/main" id="{558B95F4-7D3C-DA7F-11DF-3824F509D273}"/>
              </a:ext>
            </a:extLst>
          </p:cNvPr>
          <p:cNvSpPr>
            <a:spLocks noGrp="1"/>
          </p:cNvSpPr>
          <p:nvPr>
            <p:ph type="title"/>
          </p:nvPr>
        </p:nvSpPr>
        <p:spPr/>
        <p:txBody>
          <a:bodyPr/>
          <a:lstStyle/>
          <a:p>
            <a:r>
              <a:rPr lang="en-US" dirty="0"/>
              <a:t>Definition of Capital Asset: </a:t>
            </a:r>
            <a:r>
              <a:rPr lang="en-US" sz="2000" dirty="0"/>
              <a:t>§1221(a)(4)-(8)</a:t>
            </a:r>
            <a:endParaRPr lang="en-US" dirty="0"/>
          </a:p>
        </p:txBody>
      </p:sp>
      <p:sp>
        <p:nvSpPr>
          <p:cNvPr id="4" name="Slide Number Placeholder 3">
            <a:extLst>
              <a:ext uri="{FF2B5EF4-FFF2-40B4-BE49-F238E27FC236}">
                <a16:creationId xmlns:a16="http://schemas.microsoft.com/office/drawing/2014/main" id="{42B32C5B-F8DF-61DA-D184-2D912199723A}"/>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CC292DB0-560A-0134-8CAE-F8DEF3EFAD03}"/>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660718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F83B13-44DE-89A0-3916-158256ACD828}"/>
              </a:ext>
            </a:extLst>
          </p:cNvPr>
          <p:cNvSpPr>
            <a:spLocks noGrp="1"/>
          </p:cNvSpPr>
          <p:nvPr>
            <p:ph idx="1"/>
          </p:nvPr>
        </p:nvSpPr>
        <p:spPr/>
        <p:txBody>
          <a:bodyPr/>
          <a:lstStyle/>
          <a:p>
            <a:r>
              <a:rPr lang="en-US" dirty="0"/>
              <a:t>Section 1221(1)-(4) requires a S/X </a:t>
            </a:r>
          </a:p>
          <a:p>
            <a:r>
              <a:rPr lang="en-US" dirty="0"/>
              <a:t>Generally requires that the property survive the transfer and thus doesn’t include transactions in which the property is extinguished or matures</a:t>
            </a:r>
          </a:p>
          <a:p>
            <a:pPr lvl="1"/>
            <a:r>
              <a:rPr lang="en-US" dirty="0"/>
              <a:t>Payment to professor in exchange for giving up tenure rights is not the S/X of a capital asset.  </a:t>
            </a:r>
            <a:r>
              <a:rPr lang="en-US" i="1" dirty="0"/>
              <a:t>Foote v. CIR</a:t>
            </a:r>
            <a:r>
              <a:rPr lang="en-US" dirty="0"/>
              <a:t>, 81 T.C. 930 (1983); </a:t>
            </a:r>
            <a:r>
              <a:rPr lang="en-US" i="1" dirty="0"/>
              <a:t>aff’d </a:t>
            </a:r>
            <a:r>
              <a:rPr lang="en-US" dirty="0"/>
              <a:t>751 F.2d 1257 (5</a:t>
            </a:r>
            <a:r>
              <a:rPr lang="en-US" baseline="30000" dirty="0"/>
              <a:t>th</a:t>
            </a:r>
            <a:r>
              <a:rPr lang="en-US" dirty="0"/>
              <a:t> Cir. 1985). </a:t>
            </a:r>
          </a:p>
          <a:p>
            <a:r>
              <a:rPr lang="en-US" dirty="0"/>
              <a:t>Many code provisions created a </a:t>
            </a:r>
            <a:r>
              <a:rPr lang="en-US" i="1" dirty="0"/>
              <a:t>deemed </a:t>
            </a:r>
            <a:r>
              <a:rPr lang="en-US" dirty="0"/>
              <a:t>S/X</a:t>
            </a:r>
          </a:p>
          <a:p>
            <a:pPr lvl="1"/>
            <a:r>
              <a:rPr lang="en-US" dirty="0"/>
              <a:t>Liquidation of stock (</a:t>
            </a:r>
            <a:r>
              <a:rPr lang="en-US" sz="2000" dirty="0"/>
              <a:t>§331); repayment of debt (§1271); worthless security or debt (§§165(g) and 166(d): loss from failure to exercise option to buy a capital asset deemed to arise on date of expiration (§1234); amount received by lessee in cancellation of lease (§1241)</a:t>
            </a:r>
          </a:p>
          <a:p>
            <a:r>
              <a:rPr lang="en-US" i="1" dirty="0"/>
              <a:t>Arrowsmith</a:t>
            </a:r>
            <a:r>
              <a:rPr lang="en-US" dirty="0"/>
              <a:t> (1952): </a:t>
            </a:r>
          </a:p>
          <a:p>
            <a:pPr lvl="1"/>
            <a:r>
              <a:rPr lang="en-US" dirty="0"/>
              <a:t>repayment by SH of judgment against liquidated corporation in subsequent year treated as </a:t>
            </a:r>
            <a:r>
              <a:rPr lang="en-US" i="1" dirty="0"/>
              <a:t>capital loss </a:t>
            </a:r>
            <a:r>
              <a:rPr lang="en-US" dirty="0"/>
              <a:t>and not ordinary</a:t>
            </a:r>
          </a:p>
          <a:p>
            <a:pPr lvl="1"/>
            <a:r>
              <a:rPr lang="en-US" dirty="0"/>
              <a:t>CT: had the corporation paid the liability, the amount of CG realized by SH would have been less; Y2 deduction determined by reference to Y1 inclusion.</a:t>
            </a:r>
          </a:p>
        </p:txBody>
      </p:sp>
      <p:sp>
        <p:nvSpPr>
          <p:cNvPr id="3" name="Title 2">
            <a:extLst>
              <a:ext uri="{FF2B5EF4-FFF2-40B4-BE49-F238E27FC236}">
                <a16:creationId xmlns:a16="http://schemas.microsoft.com/office/drawing/2014/main" id="{81E96E80-3EDD-050F-0721-15CBD428EE56}"/>
              </a:ext>
            </a:extLst>
          </p:cNvPr>
          <p:cNvSpPr>
            <a:spLocks noGrp="1"/>
          </p:cNvSpPr>
          <p:nvPr>
            <p:ph type="title"/>
          </p:nvPr>
        </p:nvSpPr>
        <p:spPr/>
        <p:txBody>
          <a:bodyPr/>
          <a:lstStyle/>
          <a:p>
            <a:r>
              <a:rPr lang="en-US" dirty="0"/>
              <a:t>Capital Gains/Losses:  Sale or Exchange Requirement</a:t>
            </a:r>
          </a:p>
        </p:txBody>
      </p:sp>
      <p:sp>
        <p:nvSpPr>
          <p:cNvPr id="4" name="Slide Number Placeholder 3">
            <a:extLst>
              <a:ext uri="{FF2B5EF4-FFF2-40B4-BE49-F238E27FC236}">
                <a16:creationId xmlns:a16="http://schemas.microsoft.com/office/drawing/2014/main" id="{42002473-571F-6D76-AE12-D9AFED2654C8}"/>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7AECBE82-E82E-FF77-E5F1-77CDDAF4FA98}"/>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99796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89DCDE-0766-D973-A67C-2E12C2CE1953}"/>
              </a:ext>
            </a:extLst>
          </p:cNvPr>
          <p:cNvSpPr>
            <a:spLocks noGrp="1"/>
          </p:cNvSpPr>
          <p:nvPr>
            <p:ph idx="1"/>
          </p:nvPr>
        </p:nvSpPr>
        <p:spPr/>
        <p:txBody>
          <a:bodyPr/>
          <a:lstStyle/>
          <a:p>
            <a:r>
              <a:rPr lang="en-US" dirty="0"/>
              <a:t>Sale of business property would generally be ordinary. </a:t>
            </a:r>
            <a:r>
              <a:rPr lang="en-US" sz="2400" dirty="0"/>
              <a:t>§1221(a)(2)</a:t>
            </a:r>
          </a:p>
          <a:p>
            <a:r>
              <a:rPr lang="en-US" dirty="0"/>
              <a:t>Background</a:t>
            </a:r>
          </a:p>
          <a:p>
            <a:pPr lvl="1"/>
            <a:r>
              <a:rPr lang="en-US" dirty="0"/>
              <a:t>Before 1938, business property generally treated as capital asset.  </a:t>
            </a:r>
          </a:p>
          <a:p>
            <a:pPr lvl="1"/>
            <a:r>
              <a:rPr lang="en-US" dirty="0"/>
              <a:t>During great depression, statute amended to treated business property not as capital asset, i.e., ordinary gain/</a:t>
            </a:r>
            <a:r>
              <a:rPr lang="en-US" b="1" dirty="0"/>
              <a:t>loss</a:t>
            </a:r>
            <a:r>
              <a:rPr lang="en-US" dirty="0"/>
              <a:t>.  </a:t>
            </a:r>
          </a:p>
          <a:p>
            <a:pPr lvl="1"/>
            <a:r>
              <a:rPr lang="en-US" dirty="0"/>
              <a:t>During WWII, the US expropriated many $0 basis assets, such as ships and submarines, producing significant OI taxed at high rates.  </a:t>
            </a:r>
          </a:p>
          <a:p>
            <a:pPr lvl="1"/>
            <a:r>
              <a:rPr lang="en-US" dirty="0"/>
              <a:t>Congress’s response:  enactment of </a:t>
            </a:r>
            <a:r>
              <a:rPr lang="en-US" sz="2000" dirty="0"/>
              <a:t>§1231, which treats gains from the S/X of §1231 property as CG and losses from the S/X of §1231 property as OL</a:t>
            </a:r>
          </a:p>
          <a:p>
            <a:r>
              <a:rPr lang="en-US" dirty="0"/>
              <a:t>Section 1231 G/L: G/L from S/X (or condemnation, of depreciable business property held for </a:t>
            </a:r>
            <a:r>
              <a:rPr lang="en-US" i="1" dirty="0"/>
              <a:t>more than one year</a:t>
            </a:r>
            <a:r>
              <a:rPr lang="en-US" dirty="0"/>
              <a:t>, including real property. §1231(b)(1).</a:t>
            </a:r>
          </a:p>
          <a:p>
            <a:r>
              <a:rPr lang="en-US" dirty="0"/>
              <a:t>Look-back Rule: Net §1231 gain is treated as OI if it doesn’t exceed </a:t>
            </a:r>
            <a:r>
              <a:rPr lang="en-US" i="1" dirty="0"/>
              <a:t>non-recaptured net </a:t>
            </a:r>
            <a:r>
              <a:rPr lang="en-US" dirty="0"/>
              <a:t>§1231 losses</a:t>
            </a:r>
          </a:p>
          <a:p>
            <a:pPr lvl="1"/>
            <a:r>
              <a:rPr lang="en-US" dirty="0"/>
              <a:t>Aggregate net §1231 losses over the last 5 years</a:t>
            </a:r>
          </a:p>
          <a:p>
            <a:endParaRPr lang="en-US" dirty="0"/>
          </a:p>
        </p:txBody>
      </p:sp>
      <p:sp>
        <p:nvSpPr>
          <p:cNvPr id="3" name="Title 2">
            <a:extLst>
              <a:ext uri="{FF2B5EF4-FFF2-40B4-BE49-F238E27FC236}">
                <a16:creationId xmlns:a16="http://schemas.microsoft.com/office/drawing/2014/main" id="{72F73386-CF5F-E54D-8717-233CE78DC6D2}"/>
              </a:ext>
            </a:extLst>
          </p:cNvPr>
          <p:cNvSpPr>
            <a:spLocks noGrp="1"/>
          </p:cNvSpPr>
          <p:nvPr>
            <p:ph type="title"/>
          </p:nvPr>
        </p:nvSpPr>
        <p:spPr/>
        <p:txBody>
          <a:bodyPr/>
          <a:lstStyle/>
          <a:p>
            <a:r>
              <a:rPr lang="en-US" dirty="0"/>
              <a:t>Section 1231: Heads I win; Tails I win</a:t>
            </a:r>
          </a:p>
        </p:txBody>
      </p:sp>
      <p:sp>
        <p:nvSpPr>
          <p:cNvPr id="4" name="Slide Number Placeholder 3">
            <a:extLst>
              <a:ext uri="{FF2B5EF4-FFF2-40B4-BE49-F238E27FC236}">
                <a16:creationId xmlns:a16="http://schemas.microsoft.com/office/drawing/2014/main" id="{B4FF3816-0A2D-DF51-8D2F-553033466D86}"/>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94E64C46-A2A5-7128-D87C-F10E152E2199}"/>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36407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D5F298-7705-5C8B-45A0-4257F0DD0433}"/>
              </a:ext>
            </a:extLst>
          </p:cNvPr>
          <p:cNvSpPr>
            <a:spLocks noGrp="1"/>
          </p:cNvSpPr>
          <p:nvPr>
            <p:ph idx="1"/>
          </p:nvPr>
        </p:nvSpPr>
        <p:spPr/>
        <p:txBody>
          <a:bodyPr>
            <a:normAutofit lnSpcReduction="10000"/>
          </a:bodyPr>
          <a:lstStyle/>
          <a:p>
            <a:r>
              <a:rPr lang="en-US" sz="2800" dirty="0"/>
              <a:t>TP buys depreciable business property for $100 and depreciates $75, lowering the AB to $25.  TP sells property for $80 or $110.  What is the character of the gain?</a:t>
            </a:r>
          </a:p>
          <a:p>
            <a:r>
              <a:rPr lang="en-US" sz="2800" dirty="0"/>
              <a:t>If </a:t>
            </a:r>
            <a:r>
              <a:rPr lang="en-US" sz="2800" i="1" dirty="0"/>
              <a:t>§1245 property </a:t>
            </a:r>
            <a:r>
              <a:rPr lang="en-US" sz="2800" dirty="0"/>
              <a:t>is disposed of, the amount by which the </a:t>
            </a:r>
            <a:r>
              <a:rPr lang="en-US" sz="2800" i="1" dirty="0"/>
              <a:t>lower of </a:t>
            </a:r>
            <a:r>
              <a:rPr lang="en-US" sz="2800" dirty="0"/>
              <a:t>the excess of (1) the recomputed basis, or (2) the amount realized exceeds the AB, is ordinary gain. §1245(a)(1).</a:t>
            </a:r>
          </a:p>
          <a:p>
            <a:r>
              <a:rPr lang="en-US" sz="2800" i="1" dirty="0"/>
              <a:t>Recomputed basis</a:t>
            </a:r>
            <a:r>
              <a:rPr lang="en-US" sz="2800" dirty="0"/>
              <a:t>:  AB plus any depreciation, including §179, allowed or allowable. §1245(a)(2).</a:t>
            </a:r>
          </a:p>
          <a:p>
            <a:r>
              <a:rPr lang="en-US" sz="2800" i="1" dirty="0"/>
              <a:t>§1245 Property</a:t>
            </a:r>
            <a:r>
              <a:rPr lang="en-US" sz="2800" dirty="0"/>
              <a:t>: Depreciable property that is</a:t>
            </a:r>
          </a:p>
          <a:p>
            <a:pPr lvl="1"/>
            <a:r>
              <a:rPr lang="en-US" sz="2400" dirty="0"/>
              <a:t>Personal property</a:t>
            </a:r>
          </a:p>
          <a:p>
            <a:pPr lvl="1"/>
            <a:r>
              <a:rPr lang="en-US" sz="2400" dirty="0"/>
              <a:t>Tangible property (not including buildings) used as integral part of manufacturing, production, etc. §1245(a)(3).</a:t>
            </a:r>
          </a:p>
          <a:p>
            <a:r>
              <a:rPr lang="en-US" sz="2800" dirty="0"/>
              <a:t>§1250: requires recapture of depreciation taken in excess of SL depreciation; since ‘86, RE is generally subject to SL depreciation.</a:t>
            </a:r>
          </a:p>
        </p:txBody>
      </p:sp>
      <p:sp>
        <p:nvSpPr>
          <p:cNvPr id="3" name="Title 2">
            <a:extLst>
              <a:ext uri="{FF2B5EF4-FFF2-40B4-BE49-F238E27FC236}">
                <a16:creationId xmlns:a16="http://schemas.microsoft.com/office/drawing/2014/main" id="{10356068-15FF-8C32-70F6-6B7B50E7F3B5}"/>
              </a:ext>
            </a:extLst>
          </p:cNvPr>
          <p:cNvSpPr>
            <a:spLocks noGrp="1"/>
          </p:cNvSpPr>
          <p:nvPr>
            <p:ph type="title"/>
          </p:nvPr>
        </p:nvSpPr>
        <p:spPr/>
        <p:txBody>
          <a:bodyPr/>
          <a:lstStyle/>
          <a:p>
            <a:r>
              <a:rPr lang="en-US" dirty="0"/>
              <a:t>Sections 1245 and 1250: Recapture Rules</a:t>
            </a:r>
          </a:p>
        </p:txBody>
      </p:sp>
      <p:sp>
        <p:nvSpPr>
          <p:cNvPr id="4" name="Slide Number Placeholder 3">
            <a:extLst>
              <a:ext uri="{FF2B5EF4-FFF2-40B4-BE49-F238E27FC236}">
                <a16:creationId xmlns:a16="http://schemas.microsoft.com/office/drawing/2014/main" id="{4A1820B3-F229-5B72-D14A-1DADA737FACE}"/>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F7A70A11-01FE-CE04-EEE5-890D3591F9E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124187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3B8127-98AB-5939-6F16-D90C9BC3CA82}"/>
              </a:ext>
            </a:extLst>
          </p:cNvPr>
          <p:cNvSpPr>
            <a:spLocks noGrp="1"/>
          </p:cNvSpPr>
          <p:nvPr>
            <p:ph idx="1"/>
          </p:nvPr>
        </p:nvSpPr>
        <p:spPr/>
        <p:txBody>
          <a:bodyPr/>
          <a:lstStyle/>
          <a:p>
            <a:r>
              <a:rPr lang="en-US" dirty="0"/>
              <a:t>NCG under </a:t>
            </a:r>
            <a:r>
              <a:rPr lang="en-US" sz="2400" dirty="0"/>
              <a:t>§1222(11) is subject to lower rate than OI: top rate of 20% plus generally 3.8% tax on net investment income.</a:t>
            </a:r>
          </a:p>
          <a:p>
            <a:r>
              <a:rPr lang="en-US" sz="2400" dirty="0"/>
              <a:t> </a:t>
            </a:r>
            <a:r>
              <a:rPr lang="en-US" dirty="0"/>
              <a:t>RE gain is generally LTCG or treated as LTCG under </a:t>
            </a:r>
            <a:r>
              <a:rPr lang="en-US" sz="2400" dirty="0"/>
              <a:t>§</a:t>
            </a:r>
            <a:r>
              <a:rPr lang="en-US" dirty="0"/>
              <a:t>1231 but is subject to a maximum rate of 25% to the extent that it is </a:t>
            </a:r>
            <a:r>
              <a:rPr lang="en-US" i="1" dirty="0"/>
              <a:t>unrecaptured </a:t>
            </a:r>
            <a:r>
              <a:rPr lang="en-US" sz="2400" i="1" dirty="0"/>
              <a:t>§1250 gain</a:t>
            </a:r>
            <a:r>
              <a:rPr lang="en-US" i="1" dirty="0"/>
              <a:t>, </a:t>
            </a:r>
            <a:r>
              <a:rPr lang="en-US" dirty="0"/>
              <a:t>basically the amount of gain that would be ordinary if </a:t>
            </a:r>
            <a:r>
              <a:rPr lang="en-US" sz="2400" dirty="0"/>
              <a:t>§1245 had applied. §1(h)(1)(E).</a:t>
            </a:r>
          </a:p>
          <a:p>
            <a:r>
              <a:rPr lang="en-US" dirty="0"/>
              <a:t>28% rate on collectibles. </a:t>
            </a:r>
            <a:r>
              <a:rPr lang="en-US" sz="2400" dirty="0"/>
              <a:t>§1(h)(1)(F).</a:t>
            </a:r>
          </a:p>
          <a:p>
            <a:r>
              <a:rPr lang="en-US" dirty="0"/>
              <a:t> </a:t>
            </a:r>
            <a:endParaRPr lang="en-US" sz="2400" dirty="0"/>
          </a:p>
          <a:p>
            <a:endParaRPr lang="en-US" dirty="0"/>
          </a:p>
          <a:p>
            <a:endParaRPr lang="en-US" sz="2400" dirty="0"/>
          </a:p>
          <a:p>
            <a:endParaRPr lang="en-US" dirty="0"/>
          </a:p>
          <a:p>
            <a:endParaRPr lang="en-US" sz="2400" dirty="0"/>
          </a:p>
          <a:p>
            <a:endParaRPr lang="en-US" dirty="0"/>
          </a:p>
          <a:p>
            <a:endParaRPr lang="en-US" sz="2400" dirty="0"/>
          </a:p>
          <a:p>
            <a:endParaRPr lang="en-US" dirty="0"/>
          </a:p>
        </p:txBody>
      </p:sp>
      <p:sp>
        <p:nvSpPr>
          <p:cNvPr id="3" name="Title 2">
            <a:extLst>
              <a:ext uri="{FF2B5EF4-FFF2-40B4-BE49-F238E27FC236}">
                <a16:creationId xmlns:a16="http://schemas.microsoft.com/office/drawing/2014/main" id="{AA3F727D-C532-C006-E5A0-20A1A909954F}"/>
              </a:ext>
            </a:extLst>
          </p:cNvPr>
          <p:cNvSpPr>
            <a:spLocks noGrp="1"/>
          </p:cNvSpPr>
          <p:nvPr>
            <p:ph type="title"/>
          </p:nvPr>
        </p:nvSpPr>
        <p:spPr/>
        <p:txBody>
          <a:bodyPr/>
          <a:lstStyle/>
          <a:p>
            <a:r>
              <a:rPr lang="en-US" dirty="0"/>
              <a:t>Section 1(h)</a:t>
            </a:r>
          </a:p>
        </p:txBody>
      </p:sp>
      <p:sp>
        <p:nvSpPr>
          <p:cNvPr id="4" name="Slide Number Placeholder 3">
            <a:extLst>
              <a:ext uri="{FF2B5EF4-FFF2-40B4-BE49-F238E27FC236}">
                <a16:creationId xmlns:a16="http://schemas.microsoft.com/office/drawing/2014/main" id="{05BAE385-1DFB-50EC-101D-7B08DAFB2D56}"/>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08CAE059-8B8F-7853-6CC5-BE9AF5B7B6CB}"/>
              </a:ext>
            </a:extLst>
          </p:cNvPr>
          <p:cNvSpPr>
            <a:spLocks noGrp="1"/>
          </p:cNvSpPr>
          <p:nvPr>
            <p:ph type="ftr" sz="quarter" idx="11"/>
          </p:nvPr>
        </p:nvSpPr>
        <p:spPr/>
        <p:txBody>
          <a:bodyPr/>
          <a:lstStyle/>
          <a:p>
            <a:pPr>
              <a:defRPr/>
            </a:pPr>
            <a:r>
              <a:rPr lang="en-US"/>
              <a:t>Capital Gains and Losses</a:t>
            </a:r>
            <a:endParaRPr lang="en-US" dirty="0"/>
          </a:p>
        </p:txBody>
      </p:sp>
      <p:pic>
        <p:nvPicPr>
          <p:cNvPr id="6" name="Picture 5" descr="A screenshot of a phone&#10;&#10;Description automatically generated">
            <a:extLst>
              <a:ext uri="{FF2B5EF4-FFF2-40B4-BE49-F238E27FC236}">
                <a16:creationId xmlns:a16="http://schemas.microsoft.com/office/drawing/2014/main" id="{BBEC5BAD-48DA-6AC9-71B2-7DF78B0EC23F}"/>
              </a:ext>
            </a:extLst>
          </p:cNvPr>
          <p:cNvPicPr>
            <a:picLocks noChangeAspect="1"/>
          </p:cNvPicPr>
          <p:nvPr/>
        </p:nvPicPr>
        <p:blipFill>
          <a:blip r:embed="rId2"/>
          <a:stretch>
            <a:fillRect/>
          </a:stretch>
        </p:blipFill>
        <p:spPr>
          <a:xfrm>
            <a:off x="993479" y="3245066"/>
            <a:ext cx="4811740" cy="2099136"/>
          </a:xfrm>
          <a:prstGeom prst="rect">
            <a:avLst/>
          </a:prstGeom>
          <a:ln w="19050">
            <a:solidFill>
              <a:schemeClr val="accent1">
                <a:shade val="95000"/>
                <a:satMod val="105000"/>
              </a:schemeClr>
            </a:solidFill>
          </a:ln>
        </p:spPr>
      </p:pic>
    </p:spTree>
    <p:extLst>
      <p:ext uri="{BB962C8B-B14F-4D97-AF65-F5344CB8AC3E}">
        <p14:creationId xmlns:p14="http://schemas.microsoft.com/office/powerpoint/2010/main" val="330042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677d8798a9c4742af99b506781d8e982">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a1f50768998ef0024b52d5b1f5d59586"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01F114-F445-4212-B65D-0FA56926319E}">
  <ds:schemaRef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schemas.microsoft.com/office/infopath/2007/PartnerControls"/>
    <ds:schemaRef ds:uri="f450584a-cb59-46a6-8009-931c1e5e40a6"/>
    <ds:schemaRef ds:uri="http://purl.org/dc/elements/1.1/"/>
    <ds:schemaRef ds:uri="dee7606c-638d-4687-a004-8de278f93ba2"/>
    <ds:schemaRef ds:uri="http://schemas.microsoft.com/office/2006/metadata/properties"/>
  </ds:schemaRefs>
</ds:datastoreItem>
</file>

<file path=customXml/itemProps2.xml><?xml version="1.0" encoding="utf-8"?>
<ds:datastoreItem xmlns:ds="http://schemas.openxmlformats.org/officeDocument/2006/customXml" ds:itemID="{FA17C660-6BFF-4B4A-839F-2DD04F9D4CD3}">
  <ds:schemaRefs>
    <ds:schemaRef ds:uri="http://schemas.microsoft.com/sharepoint/v3/contenttype/forms"/>
  </ds:schemaRefs>
</ds:datastoreItem>
</file>

<file path=customXml/itemProps3.xml><?xml version="1.0" encoding="utf-8"?>
<ds:datastoreItem xmlns:ds="http://schemas.openxmlformats.org/officeDocument/2006/customXml" ds:itemID="{C82751DF-664A-43F5-ACAC-37216BF46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9197</TotalTime>
  <Words>1826</Words>
  <Application>Microsoft Macintosh PowerPoint</Application>
  <PresentationFormat>Widescreen</PresentationFormat>
  <Paragraphs>140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NSimSun</vt:lpstr>
      <vt:lpstr>Aptos</vt:lpstr>
      <vt:lpstr>Arial</vt:lpstr>
      <vt:lpstr>Calibri</vt:lpstr>
      <vt:lpstr>Courier New</vt:lpstr>
      <vt:lpstr>Times New Roman</vt:lpstr>
      <vt:lpstr>Wingdings</vt:lpstr>
      <vt:lpstr>Wingdings 2</vt:lpstr>
      <vt:lpstr>CG Body - Standard</vt:lpstr>
      <vt:lpstr>Federal Income Taxation Capital Gains and Losses</vt:lpstr>
      <vt:lpstr>Gains and Losses</vt:lpstr>
      <vt:lpstr>Gains and Losses: Overview</vt:lpstr>
      <vt:lpstr>Capital Losses</vt:lpstr>
      <vt:lpstr>Rates for 2025</vt:lpstr>
      <vt:lpstr>Different Rates by Type of Income</vt:lpstr>
      <vt:lpstr>Net Capital Gain</vt:lpstr>
      <vt:lpstr>Net Capital Gain: §1(h)</vt:lpstr>
      <vt:lpstr>NCGs</vt:lpstr>
      <vt:lpstr>Planning to Realize CGs and CLs</vt:lpstr>
      <vt:lpstr>Definition of Capital Asset: §1221(a)(1)-(3)</vt:lpstr>
      <vt:lpstr>Definition of Capital Asset: §1221(a)(4)-(8)</vt:lpstr>
      <vt:lpstr>Capital Gains/Losses:  Sale or Exchange Requirement</vt:lpstr>
      <vt:lpstr>Section 1231: Heads I win; Tails I win</vt:lpstr>
      <vt:lpstr>Sections 1245 and 1250: Recapture Rules</vt:lpstr>
      <vt:lpstr>Section 1(h)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Colon, Jeffrey M.</cp:lastModifiedBy>
  <cp:revision>9</cp:revision>
  <cp:lastPrinted>2025-03-04T21:47:58Z</cp:lastPrinted>
  <dcterms:created xsi:type="dcterms:W3CDTF">2025-02-20T00:58:49Z</dcterms:created>
  <dcterms:modified xsi:type="dcterms:W3CDTF">2026-03-25T13:24:02Z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